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deck covers what we built, why we made each design choice, what we found, and what did not survive verification.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did not assume the adaptation would help. The design had to be able to show that it does not.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single error invalidated every queueing result in the original Parts 2 to 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also raised the probe rate from 5 Hz to 20 Hz so the p99 is stable.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strongest methodological contribution in the 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bpftool JSON also renders byte arrays as hex strings, which is what silently zeroed the original telemetry.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15 = ceil(log(1/5)/log(0.9)). It appeared in 24 of 32 runs.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clean, defensible, reproducible result of the study.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Figures from the pilot; the full three-repetition suite refines them. The direction is not expected to change.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null result is only credible because of the control condition. That is what makes it a contribution rather than a failure.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73736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spc="200" kern="0" dirty="0">
                <a:solidFill>
                  <a:srgbClr val="9DB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 CHENNAI  ·  DEPT. OF ECE, SENSE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194560"/>
            <a:ext cx="108813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Runtime Parameter Adaptation</a:t>
            </a:r>
            <a:endParaRPr lang="en-US" sz="4200" dirty="0"/>
          </a:p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 fq_codel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97764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A9C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measured evaluation on stock Linux — and what the measurements had to survive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502920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FA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Amritha S   ·   Yugeshwaran P   ·   Deepti Annuncia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question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23444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A4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fq_codel is the default queue discipline on most Linux systems. Four of its parameters are fixed when you configure it and never change afterwards.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2606040" cy="1371600"/>
          </a:xfrm>
          <a:prstGeom prst="roundRect">
            <a:avLst>
              <a:gd name="adj" fmla="val 5333"/>
            </a:avLst>
          </a:prstGeom>
          <a:solidFill>
            <a:srgbClr val="EEF4F8"/>
          </a:solidFill>
          <a:ln w="9525">
            <a:solidFill>
              <a:srgbClr val="D8E4EC"/>
            </a:solidFill>
            <a:prstDash val="solid"/>
          </a:ln>
          <a:effectLst>
            <a:outerShdw sx="100000" sy="100000" kx="0" ky="0" algn="bl" rotWithShape="0" blurRad="50800" dist="12700" dir="5400000">
              <a:srgbClr val="BFCEDA">
                <a:alpha val="3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21945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51460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32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 ms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99008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B8A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acceptable sojourn time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429000" y="2057400"/>
            <a:ext cx="2606040" cy="1371600"/>
          </a:xfrm>
          <a:prstGeom prst="roundRect">
            <a:avLst>
              <a:gd name="adj" fmla="val 5333"/>
            </a:avLst>
          </a:prstGeom>
          <a:solidFill>
            <a:srgbClr val="EEF4F8"/>
          </a:solidFill>
          <a:ln w="9525">
            <a:solidFill>
              <a:srgbClr val="D8E4EC"/>
            </a:solidFill>
            <a:prstDash val="solid"/>
          </a:ln>
          <a:effectLst>
            <a:outerShdw sx="100000" sy="100000" kx="0" ky="0" algn="bl" rotWithShape="0" blurRad="50800" dist="12700" dir="5400000">
              <a:srgbClr val="BFCEDA">
                <a:alpha val="35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3611880" y="21945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interval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3611880" y="251460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32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 ms</a:t>
            </a:r>
            <a:endParaRPr lang="en-US" sz="2400" dirty="0"/>
          </a:p>
        </p:txBody>
      </p:sp>
      <p:sp>
        <p:nvSpPr>
          <p:cNvPr id="11" name="Text 9"/>
          <p:cNvSpPr txBox="1"/>
          <p:nvPr/>
        </p:nvSpPr>
        <p:spPr>
          <a:xfrm>
            <a:off x="3611880" y="299008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B8A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CoDel observation window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217920" y="2057400"/>
            <a:ext cx="2606040" cy="1371600"/>
          </a:xfrm>
          <a:prstGeom prst="roundRect">
            <a:avLst>
              <a:gd name="adj" fmla="val 5333"/>
            </a:avLst>
          </a:prstGeom>
          <a:solidFill>
            <a:srgbClr val="EEF4F8"/>
          </a:solidFill>
          <a:ln w="9525">
            <a:solidFill>
              <a:srgbClr val="D8E4EC"/>
            </a:solidFill>
            <a:prstDash val="solid"/>
          </a:ln>
          <a:effectLst>
            <a:outerShdw sx="100000" sy="100000" kx="0" ky="0" algn="bl" rotWithShape="0" blurRad="50800" dist="12700" dir="5400000">
              <a:srgbClr val="BFCEDA">
                <a:alpha val="35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6400800" y="21945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0" y="251460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32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10240 p</a:t>
            </a:r>
            <a:endParaRPr lang="en-US" sz="2400" dirty="0"/>
          </a:p>
        </p:txBody>
      </p:sp>
      <p:sp>
        <p:nvSpPr>
          <p:cNvPr id="15" name="Text 13"/>
          <p:cNvSpPr txBox="1"/>
          <p:nvPr/>
        </p:nvSpPr>
        <p:spPr>
          <a:xfrm>
            <a:off x="6400800" y="299008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B8A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maximum queue depth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9006840" y="2057400"/>
            <a:ext cx="2606040" cy="1371600"/>
          </a:xfrm>
          <a:prstGeom prst="roundRect">
            <a:avLst>
              <a:gd name="adj" fmla="val 5333"/>
            </a:avLst>
          </a:prstGeom>
          <a:solidFill>
            <a:srgbClr val="EEF4F8"/>
          </a:solidFill>
          <a:ln w="9525">
            <a:solidFill>
              <a:srgbClr val="D8E4EC"/>
            </a:solidFill>
            <a:prstDash val="solid"/>
          </a:ln>
          <a:effectLst>
            <a:outerShdw sx="100000" sy="100000" kx="0" ky="0" algn="bl" rotWithShape="0" blurRad="50800" dist="12700" dir="5400000">
              <a:srgbClr val="BFCEDA">
                <a:alpha val="35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9189720" y="21945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quantum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9189720" y="251460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32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1514 B</a:t>
            </a:r>
            <a:endParaRPr lang="en-US" sz="2400" dirty="0"/>
          </a:p>
        </p:txBody>
      </p:sp>
      <p:sp>
        <p:nvSpPr>
          <p:cNvPr id="19" name="Text 17"/>
          <p:cNvSpPr txBox="1"/>
          <p:nvPr/>
        </p:nvSpPr>
        <p:spPr>
          <a:xfrm>
            <a:off x="9189720" y="299008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B8A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per-flow service quantum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40080" y="3886200"/>
            <a:ext cx="10881360" cy="1371600"/>
          </a:xfrm>
          <a:prstGeom prst="roundRect">
            <a:avLst>
              <a:gd name="adj" fmla="val 5333"/>
            </a:avLst>
          </a:prstGeom>
          <a:solidFill>
            <a:srgbClr val="E8F1F6"/>
          </a:solidFill>
          <a:ln w="9525">
            <a:solidFill>
              <a:srgbClr val="D8E4EC"/>
            </a:solidFill>
            <a:prstDash val="solid"/>
          </a:ln>
          <a:effectLst>
            <a:outerShdw sx="100000" sy="100000" kx="0" ky="0" algn="bl" rotWithShape="0" blurRad="50800" dist="12700" dir="5400000">
              <a:srgbClr val="BFCEDA">
                <a:alpha val="35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960120" y="411480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Does adapting them at runtime beat leaving them alone?</a:t>
            </a:r>
            <a:endParaRPr lang="en-US" sz="2400" dirty="0"/>
          </a:p>
        </p:txBody>
      </p:sp>
      <p:sp>
        <p:nvSpPr>
          <p:cNvPr id="22" name="Text 20"/>
          <p:cNvSpPr txBox="1"/>
          <p:nvPr/>
        </p:nvSpPr>
        <p:spPr>
          <a:xfrm>
            <a:off x="960120" y="461772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A4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built the controller, built the apparatus to test it honestly, and measured. The answer matters either way.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73736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spc="200" kern="0" dirty="0">
                <a:solidFill>
                  <a:srgbClr val="9DB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RATIONALE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194560"/>
            <a:ext cx="108813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we chose what we chose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93192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A9C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choice below was forced by something that went wrong, or by something that could go wrong undetected.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a three-node topology, not two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9728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CHOICE  ·  client → router → server, with the AQM on the router's egress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5486400" cy="3291840"/>
          </a:xfrm>
          <a:prstGeom prst="roundRect">
            <a:avLst>
              <a:gd name="adj" fmla="val 2222"/>
            </a:avLst>
          </a:prstGeom>
          <a:solidFill>
            <a:srgbClr val="FBEEF0"/>
          </a:solidFill>
          <a:ln w="9525">
            <a:solidFill>
              <a:srgbClr val="D8E4EC"/>
            </a:solidFill>
            <a:prstDash val="solid"/>
          </a:ln>
          <a:effectLst>
            <a:outerShdw sx="100000" sy="100000" kx="0" ky="0" algn="bl" rotWithShape="0" blurRad="50800" dist="12700" dir="5400000">
              <a:srgbClr val="BFCEDA">
                <a:alpha val="3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914400" y="178308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23A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two-node setup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194560"/>
            <a:ext cx="4937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3A4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Bottleneck on veth1 inside ns1; iperf3 runs from ns2.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3A4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flows ns2 → ns1, but an egress qdisc on veth1 shapes ns1 → ns2.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3A4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it shapes the ACK path, not the data path.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3429000"/>
            <a:ext cx="4937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B2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Measured:  9,777 Mbps unshaped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B2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66 bytes/packet — pure TCP ACKs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B2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~130,000 drops/s on an 826 pkt/s link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309360" y="1600200"/>
            <a:ext cx="5212080" cy="3291840"/>
          </a:xfrm>
          <a:prstGeom prst="roundRect">
            <a:avLst>
              <a:gd name="adj" fmla="val 2222"/>
            </a:avLst>
          </a:prstGeom>
          <a:solidFill>
            <a:srgbClr val="EAF4EE"/>
          </a:solidFill>
          <a:ln w="9525">
            <a:solidFill>
              <a:srgbClr val="D8E4EC"/>
            </a:solidFill>
            <a:prstDash val="solid"/>
          </a:ln>
          <a:effectLst>
            <a:outerShdw sx="100000" sy="100000" kx="0" ky="0" algn="bl" rotWithShape="0" blurRad="50800" dist="12700" dir="5400000">
              <a:srgbClr val="BFCEDA">
                <a:alpha val="35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6583680" y="17830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C7A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three-node router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6583680" y="2194560"/>
            <a:ext cx="4663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3A4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TBF + AQM on the router's egress toward the server.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3A4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traverses it, so the bottleneck is on the data path.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583680" y="3429000"/>
            <a:ext cx="4663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2C7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Measured:  9.38 Mbps shaped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2C7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1509 bytes/packet — real data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2C7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~19 drops/s — physically plausible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516636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3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Diagnostic worth keeping: bytes ÷ packets on the monitored queue. 66 means you are queueing acknowledgements.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we measure latency two different ways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9728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CHOICE  ·  a 20 Hz sparse probe AND in-band bulk-flow RTT from TCP_INFO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55448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A4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fq_codel's new-flow heuristic deliberately privileges sparse flows. A ping is a sparse flow. So a ping measures the best case, not what the bulk traffic sees.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10881360" cy="960120"/>
          </a:xfrm>
          <a:prstGeom prst="roundRect">
            <a:avLst>
              <a:gd name="adj" fmla="val 7619"/>
            </a:avLst>
          </a:prstGeom>
          <a:solidFill>
            <a:srgbClr val="EEF4F8"/>
          </a:solidFill>
          <a:ln w="9525">
            <a:solidFill>
              <a:srgbClr val="D8E4EC"/>
            </a:solidFill>
            <a:prstDash val="solid"/>
          </a:ln>
          <a:effectLst>
            <a:outerShdw sx="100000" sy="100000" kx="0" ky="0" algn="bl" rotWithShape="0" blurRad="50800" dist="12700" dir="5400000">
              <a:srgbClr val="BFCEDA">
                <a:alpha val="35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960120" y="2441448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Sparse ICMP probe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4389120" y="242316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22.4 ms</a:t>
            </a:r>
            <a:endParaRPr lang="en-US" sz="2800" dirty="0"/>
          </a:p>
        </p:txBody>
      </p:sp>
      <p:sp>
        <p:nvSpPr>
          <p:cNvPr id="8" name="Text 6"/>
          <p:cNvSpPr txBox="1"/>
          <p:nvPr/>
        </p:nvSpPr>
        <p:spPr>
          <a:xfrm>
            <a:off x="6400800" y="25603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B8A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an interactive flow sees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3474720"/>
            <a:ext cx="10881360" cy="960120"/>
          </a:xfrm>
          <a:prstGeom prst="roundRect">
            <a:avLst>
              <a:gd name="adj" fmla="val 7619"/>
            </a:avLst>
          </a:prstGeom>
          <a:solidFill>
            <a:srgbClr val="EEF4F8"/>
          </a:solidFill>
          <a:ln w="9525">
            <a:solidFill>
              <a:srgbClr val="D8E4EC"/>
            </a:solidFill>
            <a:prstDash val="solid"/>
          </a:ln>
          <a:effectLst>
            <a:outerShdw sx="100000" sy="100000" kx="0" ky="0" algn="bl" rotWithShape="0" blurRad="50800" dist="12700" dir="5400000">
              <a:srgbClr val="BFCEDA">
                <a:alpha val="35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960120" y="3584448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Bulk TCP flows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4389120" y="356616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36.3 ms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0" y="37033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B8A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data flows actually see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0080" y="4709160"/>
            <a:ext cx="10881360" cy="914400"/>
          </a:xfrm>
          <a:prstGeom prst="roundRect">
            <a:avLst>
              <a:gd name="adj" fmla="val 8000"/>
            </a:avLst>
          </a:prstGeom>
          <a:solidFill>
            <a:srgbClr val="E8F1F6"/>
          </a:solidFill>
          <a:ln w="9525">
            <a:solidFill>
              <a:srgbClr val="D8E4EC"/>
            </a:solidFill>
            <a:prstDash val="solid"/>
          </a:ln>
          <a:effectLst>
            <a:outerShdw sx="100000" sy="100000" kx="0" ky="0" algn="bl" rotWithShape="0" blurRad="50800" dist="12700" dir="5400000">
              <a:srgbClr val="BFCEDA">
                <a:alpha val="35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960120" y="4892040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62% difference. Quoting only the probe — as the original work did — overstates the benefit to bulk traffic. Both belong in a latency claim.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we run a controller that does nothing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9728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CHOICE  ·  a sham condition — the controller polls at the same cadence but applies no change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55448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A4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controller is an extra process polling every 500 ms. In a 2-vCPU emulated VM that alone can add latency. Without a control condition, "the controller made it slower" and "the controller's decisions made it slower" are indistinguishable.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514600"/>
            <a:ext cx="3429000" cy="1920240"/>
          </a:xfrm>
          <a:prstGeom prst="roundRect">
            <a:avLst>
              <a:gd name="adj" fmla="val 3810"/>
            </a:avLst>
          </a:prstGeom>
          <a:solidFill>
            <a:srgbClr val="EEF4F8"/>
          </a:solidFill>
          <a:ln w="9525">
            <a:solidFill>
              <a:srgbClr val="D8E4EC"/>
            </a:solidFill>
            <a:prstDash val="solid"/>
          </a:ln>
          <a:effectLst>
            <a:outerShdw sx="100000" sy="100000" kx="0" ky="0" algn="bl" rotWithShape="0" blurRad="50800" dist="12700" dir="5400000">
              <a:srgbClr val="BFCEDA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724912"/>
            <a:ext cx="384048" cy="384048"/>
          </a:xfrm>
          <a:prstGeom prst="ellipse">
            <a:avLst/>
          </a:prstGeom>
          <a:solidFill>
            <a:srgbClr val="7B8A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14400" y="27249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417320" y="274320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 fq_codel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914400" y="3246120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A4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controller at all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914400" y="3703320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B8A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343400" y="2514600"/>
            <a:ext cx="3429000" cy="1920240"/>
          </a:xfrm>
          <a:prstGeom prst="roundRect">
            <a:avLst>
              <a:gd name="adj" fmla="val 3810"/>
            </a:avLst>
          </a:prstGeom>
          <a:solidFill>
            <a:srgbClr val="EEF4F8"/>
          </a:solidFill>
          <a:ln w="9525">
            <a:solidFill>
              <a:srgbClr val="D8E4EC"/>
            </a:solidFill>
            <a:prstDash val="solid"/>
          </a:ln>
          <a:effectLst>
            <a:outerShdw sx="100000" sy="100000" kx="0" ky="0" algn="bl" rotWithShape="0" blurRad="50800" dist="12700" dir="5400000">
              <a:srgbClr val="BFCEDA">
                <a:alpha val="3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617720" y="2724912"/>
            <a:ext cx="384048" cy="384048"/>
          </a:xfrm>
          <a:prstGeom prst="ellipse">
            <a:avLst/>
          </a:prstGeom>
          <a:solidFill>
            <a:srgbClr val="1C72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617720" y="27249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5120640" y="274320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sham controller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4617720" y="3246120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A4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polls, changes nothing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4617720" y="3703320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isolates CPU cost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8046720" y="2514600"/>
            <a:ext cx="3429000" cy="1920240"/>
          </a:xfrm>
          <a:prstGeom prst="roundRect">
            <a:avLst>
              <a:gd name="adj" fmla="val 3810"/>
            </a:avLst>
          </a:prstGeom>
          <a:solidFill>
            <a:srgbClr val="EEF4F8"/>
          </a:solidFill>
          <a:ln w="9525">
            <a:solidFill>
              <a:srgbClr val="D8E4EC"/>
            </a:solidFill>
            <a:prstDash val="solid"/>
          </a:ln>
          <a:effectLst>
            <a:outerShdw sx="100000" sy="100000" kx="0" ky="0" algn="bl" rotWithShape="0" blurRad="50800" dist="12700" dir="5400000">
              <a:srgbClr val="BFCEDA">
                <a:alpha val="3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8321040" y="2724912"/>
            <a:ext cx="384048" cy="384048"/>
          </a:xfrm>
          <a:prstGeom prst="ellipse">
            <a:avLst/>
          </a:prstGeom>
          <a:solidFill>
            <a:srgbClr val="065A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321040" y="27249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8823960" y="274320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ACAPE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8321040" y="3246120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A4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polls and adapts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8321040" y="3703320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isolates the decisions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640080" y="484632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3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published adaptive-AQM paper we found runs this control. It is the reason our null result is credible rather than merely unexplained.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we read BPF maps with bpf(2), not bpftool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9728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CHOICE  ·  in-process syscalls instead of spawning a helper each tick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5349240" cy="2286000"/>
          </a:xfrm>
          <a:prstGeom prst="roundRect">
            <a:avLst>
              <a:gd name="adj" fmla="val 3200"/>
            </a:avLst>
          </a:prstGeom>
          <a:solidFill>
            <a:srgbClr val="FBEEF0"/>
          </a:solidFill>
          <a:ln w="9525">
            <a:solidFill>
              <a:srgbClr val="D8E4EC"/>
            </a:solidFill>
            <a:prstDash val="solid"/>
          </a:ln>
          <a:effectLst>
            <a:outerShdw sx="100000" sy="100000" kx="0" ky="0" algn="bl" rotWithShape="0" blurRad="50800" dist="12700" dir="5400000">
              <a:srgbClr val="BFCEDA">
                <a:alpha val="3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914400" y="182880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23A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bpftool per tick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286000"/>
            <a:ext cx="4754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3A4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~2.5 s per call under a 9p root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3A4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stretched the 0.5 s control interval to 3.17 s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3A4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20 s run yielded only 7 samples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263640" y="1645920"/>
            <a:ext cx="5257800" cy="2286000"/>
          </a:xfrm>
          <a:prstGeom prst="roundRect">
            <a:avLst>
              <a:gd name="adj" fmla="val 3200"/>
            </a:avLst>
          </a:prstGeom>
          <a:solidFill>
            <a:srgbClr val="EAF4EE"/>
          </a:solidFill>
          <a:ln w="9525">
            <a:solidFill>
              <a:srgbClr val="D8E4EC"/>
            </a:solidFill>
            <a:prstDash val="solid"/>
          </a:ln>
          <a:effectLst>
            <a:outerShdw sx="100000" sy="100000" kx="0" ky="0" algn="bl" rotWithShape="0" blurRad="50800" dist="12700" dir="5400000">
              <a:srgbClr val="BFCEDA">
                <a:alpha val="35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6537960" y="182880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C7A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bpf(2) in process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6537960" y="2286000"/>
            <a:ext cx="4663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3A4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tick restored to 0.709 s — 4.5× faster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3A4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extra process, so no CPU confound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3A4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bytes, so no hex-string decode bug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40080" y="4206240"/>
            <a:ext cx="10881360" cy="1371600"/>
          </a:xfrm>
          <a:prstGeom prst="roundRect">
            <a:avLst>
              <a:gd name="adj" fmla="val 5333"/>
            </a:avLst>
          </a:prstGeom>
          <a:solidFill>
            <a:srgbClr val="E8F1F6"/>
          </a:solidFill>
          <a:ln w="9525">
            <a:solidFill>
              <a:srgbClr val="D8E4EC"/>
            </a:solidFill>
            <a:prstDash val="solid"/>
          </a:ln>
          <a:effectLst>
            <a:outerShdw sx="100000" sy="100000" kx="0" ky="0" algn="bl" rotWithShape="0" blurRad="50800" dist="12700" dir="5400000">
              <a:srgbClr val="BFCEDA">
                <a:alpha val="35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960120" y="4389120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second reason matters more than the first.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960120" y="4754880"/>
            <a:ext cx="10241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A4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Spawning a helper process to measure a system whose latency you are measuring is the same confound the sham condition exists to remove. Reading the map in process avoids introducing it at all.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the workload changes during the run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9728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CHOICE  ·  a staged load — 2 flows, then 24, then back to 2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55448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A4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controller that classifies congestion into four states can only be tested by a workload that visits more than one of them.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194560"/>
            <a:ext cx="5349240" cy="2103120"/>
          </a:xfrm>
          <a:prstGeom prst="roundRect">
            <a:avLst>
              <a:gd name="adj" fmla="val 3478"/>
            </a:avLst>
          </a:prstGeom>
          <a:solidFill>
            <a:srgbClr val="FBEEF0"/>
          </a:solidFill>
          <a:ln w="9525">
            <a:solidFill>
              <a:srgbClr val="D8E4EC"/>
            </a:solidFill>
            <a:prstDash val="solid"/>
          </a:ln>
          <a:effectLst>
            <a:outerShdw sx="100000" sy="100000" kx="0" ky="0" algn="bl" rotWithShape="0" blurRad="50800" dist="12700" dir="5400000">
              <a:srgbClr val="BFCEDA">
                <a:alpha val="35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914400" y="23774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23A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Constant overload (original)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2834640"/>
            <a:ext cx="4754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3A4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HEAVY in 80.9% of samples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3A4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MODERATE in 0.04%, LIGHT never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3A4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four-state classifier using two states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263640" y="2194560"/>
            <a:ext cx="5257800" cy="2103120"/>
          </a:xfrm>
          <a:prstGeom prst="roundRect">
            <a:avLst>
              <a:gd name="adj" fmla="val 3478"/>
            </a:avLst>
          </a:prstGeom>
          <a:solidFill>
            <a:srgbClr val="EAF4EE"/>
          </a:solidFill>
          <a:ln w="9525">
            <a:solidFill>
              <a:srgbClr val="D8E4EC"/>
            </a:solidFill>
            <a:prstDash val="solid"/>
          </a:ln>
          <a:effectLst>
            <a:outerShdw sx="100000" sy="100000" kx="0" ky="0" algn="bl" rotWithShape="0" blurRad="50800" dist="12700" dir="5400000">
              <a:srgbClr val="BFCEDA">
                <a:alpha val="35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6537960" y="237744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C7A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Staged load (ours)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6537960" y="2834640"/>
            <a:ext cx="4663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3A4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 count changes twice during the run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3A4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regime actually transitions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3A4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adaptive logic is exercised, not just saturated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457200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3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constant overload the original controller ratcheted target to its floor every run and stopped — always exactly 15 adjustments, which is just the number of ×0.9 steps from 5 ms to 1 ms. That is a constant, not a measurement.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these metrics and these baselines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234440"/>
            <a:ext cx="10881360" cy="1298448"/>
          </a:xfrm>
          <a:prstGeom prst="roundRect">
            <a:avLst>
              <a:gd name="adj" fmla="val 5634"/>
            </a:avLst>
          </a:prstGeom>
          <a:solidFill>
            <a:srgbClr val="EEF4F8"/>
          </a:solidFill>
          <a:ln w="9525">
            <a:solidFill>
              <a:srgbClr val="D8E4EC"/>
            </a:solidFill>
            <a:prstDash val="solid"/>
          </a:ln>
          <a:effectLst>
            <a:outerShdw sx="100000" sy="100000" kx="0" ky="0" algn="bl" rotWithShape="0" blurRad="50800" dist="12700" dir="5400000">
              <a:srgbClr val="BFCEDA">
                <a:alpha val="3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932688" y="1527048"/>
            <a:ext cx="457200" cy="457200"/>
          </a:xfrm>
          <a:prstGeom prst="ellipse">
            <a:avLst/>
          </a:prstGeom>
          <a:solidFill>
            <a:srgbClr val="065A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32688" y="1527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554480" y="1399032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Goodput from sum_received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554480" y="1783080"/>
            <a:ext cx="9875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A4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iperf3's sum_sent counts bytes handed to the socket. Under pfifo it read 12.16 Mbps on a 10 Mbit link — the sender filling a bloated buffer. Only sum_received crossed the bottleneck.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2715768"/>
            <a:ext cx="10881360" cy="1298448"/>
          </a:xfrm>
          <a:prstGeom prst="roundRect">
            <a:avLst>
              <a:gd name="adj" fmla="val 5634"/>
            </a:avLst>
          </a:prstGeom>
          <a:solidFill>
            <a:srgbClr val="EEF4F8"/>
          </a:solidFill>
          <a:ln w="9525">
            <a:solidFill>
              <a:srgbClr val="D8E4EC"/>
            </a:solidFill>
            <a:prstDash val="solid"/>
          </a:ln>
          <a:effectLst>
            <a:outerShdw sx="100000" sy="100000" kx="0" ky="0" algn="bl" rotWithShape="0" blurRad="50800" dist="12700" dir="5400000">
              <a:srgbClr val="BFCEDA">
                <a:alpha val="3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932688" y="3008376"/>
            <a:ext cx="457200" cy="45720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30083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554480" y="2880360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Nine queue disciplines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554480" y="3264408"/>
            <a:ext cx="9875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A4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pfifo, SFQ, RED, CoDel, PIE, FQ-PIE, CAKE, fq_codel, fq_codel+ACAPE. A comparison that omits the obvious alternatives is not a comparison — and PIE and CAKE are genuinely competitive.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0080" y="4197096"/>
            <a:ext cx="10881360" cy="1298448"/>
          </a:xfrm>
          <a:prstGeom prst="roundRect">
            <a:avLst>
              <a:gd name="adj" fmla="val 5634"/>
            </a:avLst>
          </a:prstGeom>
          <a:solidFill>
            <a:srgbClr val="EEF4F8"/>
          </a:solidFill>
          <a:ln w="9525">
            <a:solidFill>
              <a:srgbClr val="D8E4EC"/>
            </a:solidFill>
            <a:prstDash val="solid"/>
          </a:ln>
          <a:effectLst>
            <a:outerShdw sx="100000" sy="100000" kx="0" ky="0" algn="bl" rotWithShape="0" blurRad="50800" dist="12700" dir="5400000">
              <a:srgbClr val="BFCEDA">
                <a:alpha val="3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932688" y="4489704"/>
            <a:ext cx="457200" cy="457200"/>
          </a:xfrm>
          <a:prstGeom prst="ellipse">
            <a:avLst/>
          </a:prstGeom>
          <a:solidFill>
            <a:srgbClr val="2129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32688" y="44897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554480" y="4361688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repetitions, exact statistics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554480" y="4745736"/>
            <a:ext cx="9875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A4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 intervals from Student's t via the incomplete beta function, not a normal approximation — which at n=3 overstates significance and flipped one of our own conclusions.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576072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7B8A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of these was added because its absence had already produced a wrong number.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73736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spc="200" kern="0" dirty="0">
                <a:solidFill>
                  <a:srgbClr val="9DB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194560"/>
            <a:ext cx="108813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measurements show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93192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A9C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 Linux · 10 Mbit bottleneck · 8 TCP CUBIC flows · 20 ms base RTT · 3 repetitions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effect that dominates everything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9728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A4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Presence or absence of a flow-queueing AQM — not the tuning of one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2606040" cy="1828800"/>
          </a:xfrm>
          <a:prstGeom prst="roundRect">
            <a:avLst>
              <a:gd name="adj" fmla="val 4000"/>
            </a:avLst>
          </a:prstGeom>
          <a:solidFill>
            <a:srgbClr val="EEF4F8"/>
          </a:solidFill>
          <a:ln w="9525">
            <a:solidFill>
              <a:srgbClr val="D8E4EC"/>
            </a:solidFill>
            <a:prstDash val="solid"/>
          </a:ln>
          <a:effectLst>
            <a:outerShdw sx="100000" sy="100000" kx="0" ky="0" algn="bl" rotWithShape="0" blurRad="50800" dist="12700" dir="5400000">
              <a:srgbClr val="BFCEDA">
                <a:alpha val="3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2057400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B23A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2371 ms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788920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B8A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p95 RTT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7B8A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pfifo, no AQM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429000" y="1783080"/>
            <a:ext cx="2606040" cy="1828800"/>
          </a:xfrm>
          <a:prstGeom prst="roundRect">
            <a:avLst>
              <a:gd name="adj" fmla="val 4000"/>
            </a:avLst>
          </a:prstGeom>
          <a:solidFill>
            <a:srgbClr val="EEF4F8"/>
          </a:solidFill>
          <a:ln w="9525">
            <a:solidFill>
              <a:srgbClr val="D8E4EC"/>
            </a:solidFill>
            <a:prstDash val="solid"/>
          </a:ln>
          <a:effectLst>
            <a:outerShdw sx="100000" sy="100000" kx="0" ky="0" algn="bl" rotWithShape="0" blurRad="50800" dist="12700" dir="5400000">
              <a:srgbClr val="BFCEDA">
                <a:alpha val="35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3566160" y="2057400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2C7A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 ms</a:t>
            </a:r>
            <a:endParaRPr lang="en-US" sz="3400" dirty="0"/>
          </a:p>
        </p:txBody>
      </p:sp>
      <p:sp>
        <p:nvSpPr>
          <p:cNvPr id="9" name="Text 7"/>
          <p:cNvSpPr txBox="1"/>
          <p:nvPr/>
        </p:nvSpPr>
        <p:spPr>
          <a:xfrm>
            <a:off x="3566160" y="2788920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B8A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p95 RTT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7B8A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fq_codel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17920" y="1783080"/>
            <a:ext cx="2606040" cy="1828800"/>
          </a:xfrm>
          <a:prstGeom prst="roundRect">
            <a:avLst>
              <a:gd name="adj" fmla="val 4000"/>
            </a:avLst>
          </a:prstGeom>
          <a:solidFill>
            <a:srgbClr val="EEF4F8"/>
          </a:solidFill>
          <a:ln w="9525">
            <a:solidFill>
              <a:srgbClr val="D8E4EC"/>
            </a:solidFill>
            <a:prstDash val="solid"/>
          </a:ln>
          <a:effectLst>
            <a:outerShdw sx="100000" sy="100000" kx="0" ky="0" algn="bl" rotWithShape="0" blurRad="50800" dist="12700" dir="5400000">
              <a:srgbClr val="BFCEDA">
                <a:alpha val="35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6355080" y="2057400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~100×</a:t>
            </a:r>
            <a:endParaRPr lang="en-US" sz="3400" dirty="0"/>
          </a:p>
        </p:txBody>
      </p:sp>
      <p:sp>
        <p:nvSpPr>
          <p:cNvPr id="12" name="Text 10"/>
          <p:cNvSpPr txBox="1"/>
          <p:nvPr/>
        </p:nvSpPr>
        <p:spPr>
          <a:xfrm>
            <a:off x="6355080" y="2788920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B8A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latency reduction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006840" y="1783080"/>
            <a:ext cx="2606040" cy="1828800"/>
          </a:xfrm>
          <a:prstGeom prst="roundRect">
            <a:avLst>
              <a:gd name="adj" fmla="val 4000"/>
            </a:avLst>
          </a:prstGeom>
          <a:solidFill>
            <a:srgbClr val="EEF4F8"/>
          </a:solidFill>
          <a:ln w="9525">
            <a:solidFill>
              <a:srgbClr val="D8E4EC"/>
            </a:solidFill>
            <a:prstDash val="solid"/>
          </a:ln>
          <a:effectLst>
            <a:outerShdw sx="100000" sy="100000" kx="0" ky="0" algn="bl" rotWithShape="0" blurRad="50800" dist="12700" dir="5400000">
              <a:srgbClr val="BFCEDA">
                <a:alpha val="35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9144000" y="2057400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0%</a:t>
            </a:r>
            <a:endParaRPr lang="en-US" sz="3400" dirty="0"/>
          </a:p>
        </p:txBody>
      </p:sp>
      <p:sp>
        <p:nvSpPr>
          <p:cNvPr id="15" name="Text 13"/>
          <p:cNvSpPr txBox="1"/>
          <p:nvPr/>
        </p:nvSpPr>
        <p:spPr>
          <a:xfrm>
            <a:off x="9144000" y="2788920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B8A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goodput cost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" y="3886200"/>
            <a:ext cx="10881360" cy="1691640"/>
          </a:xfrm>
          <a:prstGeom prst="roundRect">
            <a:avLst>
              <a:gd name="adj" fmla="val 4324"/>
            </a:avLst>
          </a:prstGeom>
          <a:solidFill>
            <a:srgbClr val="E8F1F6"/>
          </a:solidFill>
          <a:ln w="9525">
            <a:solidFill>
              <a:srgbClr val="D8E4EC"/>
            </a:solidFill>
            <a:prstDash val="solid"/>
          </a:ln>
          <a:effectLst>
            <a:outerShdw sx="100000" sy="100000" kx="0" ky="0" algn="bl" rotWithShape="0" blurRad="50800" dist="12700" dir="5400000">
              <a:srgbClr val="BFCEDA">
                <a:alpha val="35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960120" y="4069080"/>
            <a:ext cx="10241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orders of magnitude, at no throughput or fairness cost.</a:t>
            </a:r>
            <a:endParaRPr lang="en-US" sz="1900" dirty="0"/>
          </a:p>
        </p:txBody>
      </p:sp>
      <p:sp>
        <p:nvSpPr>
          <p:cNvPr id="18" name="Text 16"/>
          <p:cNvSpPr txBox="1"/>
          <p:nvPr/>
        </p:nvSpPr>
        <p:spPr>
          <a:xfrm>
            <a:off x="960120" y="4526280"/>
            <a:ext cx="10241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A4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flow-queueing discipline with a delay target — fq_codel, FQ-PIE, CAKE — lands near 23 ms. Single-queue AQMs (CoDel, PIE) land near 45 ms. SFQ, which has fair queueing but no AQM, bloats to 115 packets. The AQM and the scheduler each do a distinct job, and both matter far more than parameter choice.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Does adapting the parameters help?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143000"/>
            <a:ext cx="10881360" cy="960120"/>
          </a:xfrm>
          <a:prstGeom prst="roundRect">
            <a:avLst>
              <a:gd name="adj" fmla="val 7619"/>
            </a:avLst>
          </a:prstGeom>
          <a:solidFill>
            <a:srgbClr val="E8F1F6"/>
          </a:solidFill>
          <a:ln w="9525">
            <a:solidFill>
              <a:srgbClr val="D8E4EC"/>
            </a:solidFill>
            <a:prstDash val="solid"/>
          </a:ln>
          <a:effectLst>
            <a:outerShdw sx="100000" sy="100000" kx="0" ky="0" algn="bl" rotWithShape="0" blurRad="50800" dist="12700" dir="5400000">
              <a:srgbClr val="BFCEDA">
                <a:alpha val="35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960120" y="1325880"/>
            <a:ext cx="10241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 the evidence so far: it shrinks the queue slightly, and does not reduce the latency users see.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40080" y="2286000"/>
            <a:ext cx="10881360" cy="566928"/>
          </a:xfrm>
          <a:prstGeom prst="roundRect">
            <a:avLst>
              <a:gd name="adj" fmla="val 9677"/>
            </a:avLst>
          </a:prstGeom>
          <a:solidFill>
            <a:srgbClr val="EEF4F8"/>
          </a:solidFill>
          <a:ln w="6350">
            <a:solidFill>
              <a:srgbClr val="E2ECF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4400" y="2404872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3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backlog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023360" y="237744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B8A9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−15%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5577840" y="2423160"/>
            <a:ext cx="5669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A4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distinguishable  (p = 0.066)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2944368"/>
            <a:ext cx="10881360" cy="566928"/>
          </a:xfrm>
          <a:prstGeom prst="roundRect">
            <a:avLst>
              <a:gd name="adj" fmla="val 9677"/>
            </a:avLst>
          </a:prstGeom>
          <a:solidFill>
            <a:srgbClr val="F6FAFC"/>
          </a:solidFill>
          <a:ln w="6350">
            <a:solidFill>
              <a:srgbClr val="E2ECF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3063240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3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p95 queue delay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4023360" y="3035808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−16%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5577840" y="3081528"/>
            <a:ext cx="5669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A4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marginal  (p = 0.047)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0080" y="3602736"/>
            <a:ext cx="10881360" cy="566928"/>
          </a:xfrm>
          <a:prstGeom prst="roundRect">
            <a:avLst>
              <a:gd name="adj" fmla="val 9677"/>
            </a:avLst>
          </a:prstGeom>
          <a:solidFill>
            <a:srgbClr val="EEF4F8"/>
          </a:solidFill>
          <a:ln w="6350">
            <a:solidFill>
              <a:srgbClr val="E2ECF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14400" y="3721608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3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p95 RTT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4023360" y="3694176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B8A9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+1%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5577840" y="3739896"/>
            <a:ext cx="5669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A4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distinguishable  (p = 0.449)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40080" y="4261104"/>
            <a:ext cx="10881360" cy="566928"/>
          </a:xfrm>
          <a:prstGeom prst="roundRect">
            <a:avLst>
              <a:gd name="adj" fmla="val 9677"/>
            </a:avLst>
          </a:prstGeom>
          <a:solidFill>
            <a:srgbClr val="F6FAFC"/>
          </a:solidFill>
          <a:ln w="6350">
            <a:solidFill>
              <a:srgbClr val="E2ECF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14400" y="4379976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3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RTT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4023360" y="4352544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23A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+2.7%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5577840" y="4398264"/>
            <a:ext cx="5669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A4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significant — and in the wrong direction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40080" y="4919472"/>
            <a:ext cx="10881360" cy="566928"/>
          </a:xfrm>
          <a:prstGeom prst="roundRect">
            <a:avLst>
              <a:gd name="adj" fmla="val 9677"/>
            </a:avLst>
          </a:prstGeom>
          <a:solidFill>
            <a:srgbClr val="EEF4F8"/>
          </a:solidFill>
          <a:ln w="6350">
            <a:solidFill>
              <a:srgbClr val="E2ECF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14400" y="5038344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3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Goodput / fairness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4023360" y="5010912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C7A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0%</a:t>
            </a:r>
            <a:endParaRPr lang="en-US" sz="1700" dirty="0"/>
          </a:p>
        </p:txBody>
      </p:sp>
      <p:sp>
        <p:nvSpPr>
          <p:cNvPr id="24" name="Text 22"/>
          <p:cNvSpPr txBox="1"/>
          <p:nvPr/>
        </p:nvSpPr>
        <p:spPr>
          <a:xfrm>
            <a:off x="5577840" y="5056632"/>
            <a:ext cx="5669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A4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cost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640080" y="566928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7B8A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queue under static fq_codel was already only ~7 packets. There was very little delay left to remove, and tightening target costs more drop-and-retransmit than it saves.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73736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spc="200" kern="0" dirty="0">
                <a:solidFill>
                  <a:srgbClr val="9DB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INTEGRITY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194560"/>
            <a:ext cx="108813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not survive verification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93192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A9C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classes of silent failure. Each produced results that were confident, internally consistent, and wrong.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seven defects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143000"/>
            <a:ext cx="5349240" cy="932688"/>
          </a:xfrm>
          <a:prstGeom prst="roundRect">
            <a:avLst>
              <a:gd name="adj" fmla="val 7843"/>
            </a:avLst>
          </a:prstGeom>
          <a:solidFill>
            <a:srgbClr val="EEF4F8"/>
          </a:solidFill>
          <a:ln w="9525">
            <a:solidFill>
              <a:srgbClr val="D8E4EC"/>
            </a:solidFill>
            <a:prstDash val="solid"/>
          </a:ln>
          <a:effectLst>
            <a:outerShdw sx="100000" sy="100000" kx="0" ky="0" algn="bl" rotWithShape="0" blurRad="50800" dist="12700" dir="5400000">
              <a:srgbClr val="BFCEDA">
                <a:alpha val="3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868680" y="1389888"/>
            <a:ext cx="420624" cy="420624"/>
          </a:xfrm>
          <a:prstGeom prst="ellipse">
            <a:avLst/>
          </a:prstGeom>
          <a:solidFill>
            <a:srgbClr val="065A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13898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417320" y="1234440"/>
            <a:ext cx="44348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3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Loopback traffic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417320" y="1545336"/>
            <a:ext cx="4434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A4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Parts 1–3 ran iperf3 to 127.0.0.1 at 93–219 Gbit/s. No qdisc was ever in the path.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217920" y="1143000"/>
            <a:ext cx="5349240" cy="932688"/>
          </a:xfrm>
          <a:prstGeom prst="roundRect">
            <a:avLst>
              <a:gd name="adj" fmla="val 7843"/>
            </a:avLst>
          </a:prstGeom>
          <a:solidFill>
            <a:srgbClr val="EEF4F8"/>
          </a:solidFill>
          <a:ln w="9525">
            <a:solidFill>
              <a:srgbClr val="D8E4EC"/>
            </a:solidFill>
            <a:prstDash val="solid"/>
          </a:ln>
          <a:effectLst>
            <a:outerShdw sx="100000" sy="100000" kx="0" ky="0" algn="bl" rotWithShape="0" blurRad="50800" dist="12700" dir="5400000">
              <a:srgbClr val="BFCEDA">
                <a:alpha val="3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46520" y="1389888"/>
            <a:ext cx="420624" cy="420624"/>
          </a:xfrm>
          <a:prstGeom prst="ellipse">
            <a:avLst/>
          </a:prstGeom>
          <a:solidFill>
            <a:srgbClr val="065A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46520" y="13898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995160" y="1234440"/>
            <a:ext cx="44348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3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ACK-path bottleneck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995160" y="1545336"/>
            <a:ext cx="4434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A4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Parts 2–4 shaped the acknowledgement direction. 66 bytes/packet.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" y="2203704"/>
            <a:ext cx="5349240" cy="932688"/>
          </a:xfrm>
          <a:prstGeom prst="roundRect">
            <a:avLst>
              <a:gd name="adj" fmla="val 7843"/>
            </a:avLst>
          </a:prstGeom>
          <a:solidFill>
            <a:srgbClr val="EEF4F8"/>
          </a:solidFill>
          <a:ln w="9525">
            <a:solidFill>
              <a:srgbClr val="D8E4EC"/>
            </a:solidFill>
            <a:prstDash val="solid"/>
          </a:ln>
          <a:effectLst>
            <a:outerShdw sx="100000" sy="100000" kx="0" ky="0" algn="bl" rotWithShape="0" blurRad="50800" dist="12700" dir="5400000">
              <a:srgbClr val="BFCEDA">
                <a:alpha val="3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68680" y="2450592"/>
            <a:ext cx="420624" cy="420624"/>
          </a:xfrm>
          <a:prstGeom prst="ellipse">
            <a:avLst/>
          </a:prstGeom>
          <a:solidFill>
            <a:srgbClr val="065A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68680" y="245059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417320" y="2295144"/>
            <a:ext cx="44348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3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RTT ever measured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417320" y="2606040"/>
            <a:ext cx="4434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A4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reported 0.541 / 2.200 / 2.445 ms have no source anywhere in the repository.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217920" y="2203704"/>
            <a:ext cx="5349240" cy="932688"/>
          </a:xfrm>
          <a:prstGeom prst="roundRect">
            <a:avLst>
              <a:gd name="adj" fmla="val 7843"/>
            </a:avLst>
          </a:prstGeom>
          <a:solidFill>
            <a:srgbClr val="EEF4F8"/>
          </a:solidFill>
          <a:ln w="9525">
            <a:solidFill>
              <a:srgbClr val="D8E4EC"/>
            </a:solidFill>
            <a:prstDash val="solid"/>
          </a:ln>
          <a:effectLst>
            <a:outerShdw sx="100000" sy="100000" kx="0" ky="0" algn="bl" rotWithShape="0" blurRad="50800" dist="12700" dir="5400000">
              <a:srgbClr val="BFCEDA">
                <a:alpha val="3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446520" y="2450592"/>
            <a:ext cx="420624" cy="420624"/>
          </a:xfrm>
          <a:prstGeom prst="ellipse">
            <a:avLst/>
          </a:prstGeom>
          <a:solidFill>
            <a:srgbClr val="065A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446520" y="245059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995160" y="2295144"/>
            <a:ext cx="44348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3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eBPF telemetry read zero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995160" y="2606040"/>
            <a:ext cx="4434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A4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decode bugs: hex strings into a bare except, wrong struct offsets, CLOCK_REALTIME vs CLOCK_MONOTONIC (age = 56.8 years).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640080" y="3264408"/>
            <a:ext cx="5349240" cy="932688"/>
          </a:xfrm>
          <a:prstGeom prst="roundRect">
            <a:avLst>
              <a:gd name="adj" fmla="val 7843"/>
            </a:avLst>
          </a:prstGeom>
          <a:solidFill>
            <a:srgbClr val="EEF4F8"/>
          </a:solidFill>
          <a:ln w="9525">
            <a:solidFill>
              <a:srgbClr val="D8E4EC"/>
            </a:solidFill>
            <a:prstDash val="solid"/>
          </a:ln>
          <a:effectLst>
            <a:outerShdw sx="100000" sy="100000" kx="0" ky="0" algn="bl" rotWithShape="0" blurRad="50800" dist="12700" dir="5400000">
              <a:srgbClr val="BFCEDA">
                <a:alpha val="35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868680" y="3511296"/>
            <a:ext cx="420624" cy="420624"/>
          </a:xfrm>
          <a:prstGeom prst="ellipse">
            <a:avLst/>
          </a:prstGeom>
          <a:solidFill>
            <a:srgbClr val="065A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68680" y="351129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1417320" y="3355848"/>
            <a:ext cx="44348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3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Elephant threshold unreachable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1417320" y="3666744"/>
            <a:ext cx="4434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A4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MB threshold, 9.38 MB maximum possible flow share. The classifier could never fire.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217920" y="3264408"/>
            <a:ext cx="5349240" cy="932688"/>
          </a:xfrm>
          <a:prstGeom prst="roundRect">
            <a:avLst>
              <a:gd name="adj" fmla="val 7843"/>
            </a:avLst>
          </a:prstGeom>
          <a:solidFill>
            <a:srgbClr val="EEF4F8"/>
          </a:solidFill>
          <a:ln w="9525">
            <a:solidFill>
              <a:srgbClr val="D8E4EC"/>
            </a:solidFill>
            <a:prstDash val="solid"/>
          </a:ln>
          <a:effectLst>
            <a:outerShdw sx="100000" sy="100000" kx="0" ky="0" algn="bl" rotWithShape="0" blurRad="50800" dist="12700" dir="5400000">
              <a:srgbClr val="BFCEDA">
                <a:alpha val="35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6446520" y="3511296"/>
            <a:ext cx="420624" cy="420624"/>
          </a:xfrm>
          <a:prstGeom prst="ellipse">
            <a:avLst/>
          </a:prstGeom>
          <a:solidFill>
            <a:srgbClr val="065A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446520" y="351129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6995160" y="3355848"/>
            <a:ext cx="44348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3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Prediction had no effect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6995160" y="3666744"/>
            <a:ext cx="4434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A4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375 logged adjustments applied the identical action.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640080" y="4325112"/>
            <a:ext cx="10881360" cy="932688"/>
          </a:xfrm>
          <a:prstGeom prst="roundRect">
            <a:avLst>
              <a:gd name="adj" fmla="val 7843"/>
            </a:avLst>
          </a:prstGeom>
          <a:solidFill>
            <a:srgbClr val="FBEEF0"/>
          </a:solidFill>
          <a:ln w="9525">
            <a:solidFill>
              <a:srgbClr val="D8E4EC"/>
            </a:solidFill>
            <a:prstDash val="solid"/>
          </a:ln>
          <a:effectLst>
            <a:outerShdw sx="100000" sy="100000" kx="0" ky="0" algn="bl" rotWithShape="0" blurRad="50800" dist="12700" dir="5400000">
              <a:srgbClr val="BFCEDA">
                <a:alpha val="35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896112" y="4572000"/>
            <a:ext cx="420624" cy="420624"/>
          </a:xfrm>
          <a:prstGeom prst="ellipse">
            <a:avLst/>
          </a:prstGeom>
          <a:solidFill>
            <a:srgbClr val="B23A4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96112" y="45720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1481328" y="4416552"/>
            <a:ext cx="99669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2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Headline figures hardcoded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1481328" y="4727448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A4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"12× faster" is the literal array [120, 70, 60, 5]. No stabilisation time was ever measured.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640080" y="585216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7B8A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seven are pinned by regression tests that fail against the original behaviour.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each was caught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972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A4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one was visible from a summary statistic. Every one was found by checking a physical invariant.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10881360" cy="749808"/>
          </a:xfrm>
          <a:prstGeom prst="roundRect">
            <a:avLst>
              <a:gd name="adj" fmla="val 9756"/>
            </a:avLst>
          </a:prstGeom>
          <a:solidFill>
            <a:srgbClr val="EEF4F8"/>
          </a:solidFill>
          <a:ln w="9525">
            <a:solidFill>
              <a:srgbClr val="D8E4EC"/>
            </a:solidFill>
            <a:prstDash val="solid"/>
          </a:ln>
          <a:effectLst>
            <a:outerShdw sx="100000" sy="100000" kx="0" ky="0" algn="bl" rotWithShape="0" blurRad="50800" dist="12700" dir="5400000">
              <a:srgbClr val="BFCEDA">
                <a:alpha val="3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960120" y="1764792"/>
            <a:ext cx="5394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Bytes ÷ packets on the monitored queue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960120" y="2093976"/>
            <a:ext cx="10241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A4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66 B means you are queueing ACKs, not data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40080" y="2560320"/>
            <a:ext cx="10881360" cy="749808"/>
          </a:xfrm>
          <a:prstGeom prst="roundRect">
            <a:avLst>
              <a:gd name="adj" fmla="val 9756"/>
            </a:avLst>
          </a:prstGeom>
          <a:solidFill>
            <a:srgbClr val="EEF4F8"/>
          </a:solidFill>
          <a:ln w="9525">
            <a:solidFill>
              <a:srgbClr val="D8E4EC"/>
            </a:solidFill>
            <a:prstDash val="solid"/>
          </a:ln>
          <a:effectLst>
            <a:outerShdw sx="100000" sy="100000" kx="0" ky="0" algn="bl" rotWithShape="0" blurRad="50800" dist="12700" dir="5400000">
              <a:srgbClr val="BFCEDA">
                <a:alpha val="35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960120" y="2633472"/>
            <a:ext cx="5394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 rate vs the link's packet rate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960120" y="2962656"/>
            <a:ext cx="10241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A4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10 Mbit link passes 826 pkt/s; 130,000 drops/s is impossible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40080" y="3429000"/>
            <a:ext cx="10881360" cy="749808"/>
          </a:xfrm>
          <a:prstGeom prst="roundRect">
            <a:avLst>
              <a:gd name="adj" fmla="val 9756"/>
            </a:avLst>
          </a:prstGeom>
          <a:solidFill>
            <a:srgbClr val="EEF4F8"/>
          </a:solidFill>
          <a:ln w="9525">
            <a:solidFill>
              <a:srgbClr val="D8E4EC"/>
            </a:solidFill>
            <a:prstDash val="solid"/>
          </a:ln>
          <a:effectLst>
            <a:outerShdw sx="100000" sy="100000" kx="0" ky="0" algn="bl" rotWithShape="0" blurRad="50800" dist="12700" dir="5400000">
              <a:srgbClr val="BFCEDA">
                <a:alpha val="35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960120" y="3502152"/>
            <a:ext cx="5394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varying a control input change the output?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960120" y="3831336"/>
            <a:ext cx="10241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A4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not, the control path is inert however it is labelled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40080" y="4297680"/>
            <a:ext cx="10881360" cy="749808"/>
          </a:xfrm>
          <a:prstGeom prst="roundRect">
            <a:avLst>
              <a:gd name="adj" fmla="val 9756"/>
            </a:avLst>
          </a:prstGeom>
          <a:solidFill>
            <a:srgbClr val="EEF4F8"/>
          </a:solidFill>
          <a:ln w="9525">
            <a:solidFill>
              <a:srgbClr val="D8E4EC"/>
            </a:solidFill>
            <a:prstDash val="solid"/>
          </a:ln>
          <a:effectLst>
            <a:outerShdw sx="100000" sy="100000" kx="0" ky="0" algn="bl" rotWithShape="0" blurRad="50800" dist="12700" dir="5400000">
              <a:srgbClr val="BFCEDA">
                <a:alpha val="35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960120" y="4370832"/>
            <a:ext cx="5394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threshold reachable at all?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960120" y="4700016"/>
            <a:ext cx="10241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A4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MB elephant threshold, 9.38 MB maximum flow share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40080" y="5166360"/>
            <a:ext cx="10881360" cy="749808"/>
          </a:xfrm>
          <a:prstGeom prst="roundRect">
            <a:avLst>
              <a:gd name="adj" fmla="val 9756"/>
            </a:avLst>
          </a:prstGeom>
          <a:solidFill>
            <a:srgbClr val="EEF4F8"/>
          </a:solidFill>
          <a:ln w="9525">
            <a:solidFill>
              <a:srgbClr val="D8E4EC"/>
            </a:solidFill>
            <a:prstDash val="solid"/>
          </a:ln>
          <a:effectLst>
            <a:outerShdw sx="100000" sy="100000" kx="0" ky="0" algn="bl" rotWithShape="0" blurRad="50800" dist="12700" dir="5400000">
              <a:srgbClr val="BFCEDA">
                <a:alpha val="35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960120" y="5239512"/>
            <a:ext cx="5394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the reported value reach the kernel?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960120" y="5568696"/>
            <a:ext cx="10241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A4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float in userspace is not the qdisc parameter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640080" y="608076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3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think this is the most transferable part of the work.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this sits against recent work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9728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A4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2023–2026 · what is taken, and what is not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5349240" cy="2240280"/>
          </a:xfrm>
          <a:prstGeom prst="roundRect">
            <a:avLst>
              <a:gd name="adj" fmla="val 3265"/>
            </a:avLst>
          </a:prstGeom>
          <a:solidFill>
            <a:srgbClr val="FBEEF0"/>
          </a:solidFill>
          <a:ln w="9525">
            <a:solidFill>
              <a:srgbClr val="D8E4EC"/>
            </a:solidFill>
            <a:prstDash val="solid"/>
          </a:ln>
          <a:effectLst>
            <a:outerShdw sx="100000" sy="100000" kx="0" ky="0" algn="bl" rotWithShape="0" blurRad="50800" dist="12700" dir="5400000">
              <a:srgbClr val="BFCEDA">
                <a:alpha val="3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914400" y="1783080"/>
            <a:ext cx="4800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23A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Already done — cannot claim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194560"/>
            <a:ext cx="4800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3A4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DESiRED (2024) adapts an AQM target at runtime with DRL + INT on P4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3A4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 RED (2001) is the AIMD rule we borrow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3A4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ACoDel (2020) adapts CoDel's interval — with a stability proof we lack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3A4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QueuePilot (2023), AQM-LLM (2026) learn AQM policies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263640" y="1600200"/>
            <a:ext cx="5257800" cy="2240280"/>
          </a:xfrm>
          <a:prstGeom prst="roundRect">
            <a:avLst>
              <a:gd name="adj" fmla="val 3265"/>
            </a:avLst>
          </a:prstGeom>
          <a:solidFill>
            <a:srgbClr val="EAF4EE"/>
          </a:solidFill>
          <a:ln w="9525">
            <a:solidFill>
              <a:srgbClr val="D8E4EC"/>
            </a:solidFill>
            <a:prstDash val="solid"/>
          </a:ln>
          <a:effectLst>
            <a:outerShdw sx="100000" sy="100000" kx="0" ky="0" algn="bl" rotWithShape="0" blurRad="50800" dist="12700" dir="5400000">
              <a:srgbClr val="BFCEDA">
                <a:alpha val="35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6537960" y="1783080"/>
            <a:ext cx="4709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7A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done by anyone — our claim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537960" y="2194560"/>
            <a:ext cx="47091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3A4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sham-controller condition separating CPU cost from decisions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3A4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Sparse-probe and bulk-flow latency reported separately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3A4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Comparison against eight alternative disciplines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3A4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published null result for the adaptation itself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40080" y="4114800"/>
            <a:ext cx="10881360" cy="1554480"/>
          </a:xfrm>
          <a:prstGeom prst="roundRect">
            <a:avLst>
              <a:gd name="adj" fmla="val 4706"/>
            </a:avLst>
          </a:prstGeom>
          <a:solidFill>
            <a:srgbClr val="E8F1F6"/>
          </a:solidFill>
          <a:ln w="9525">
            <a:solidFill>
              <a:srgbClr val="D8E4EC"/>
            </a:solidFill>
            <a:prstDash val="solid"/>
          </a:ln>
          <a:effectLst>
            <a:outerShdw sx="100000" sy="100000" kx="0" ky="0" algn="bl" rotWithShape="0" blurRad="50800" dist="12700" dir="5400000">
              <a:srgbClr val="BFCEDA">
                <a:alpha val="35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960120" y="4279392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claim we can defend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960120" y="46177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first controlled evaluation of runtime parameter adaptation for a flow-queueing AQM on stock Linux — and the finding that it does not measurably help.</a:t>
            </a:r>
            <a:endParaRPr lang="en-US" sz="17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73736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spc="200" kern="0" dirty="0">
                <a:solidFill>
                  <a:srgbClr val="9DB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194560"/>
            <a:ext cx="108813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are left with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3794760"/>
            <a:ext cx="10881360" cy="749808"/>
          </a:xfrm>
          <a:prstGeom prst="roundRect">
            <a:avLst>
              <a:gd name="adj" fmla="val 8537"/>
            </a:avLst>
          </a:prstGeom>
          <a:solidFill>
            <a:srgbClr val="2C35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3977640"/>
            <a:ext cx="384048" cy="384048"/>
          </a:xfrm>
          <a:prstGeom prst="ellipse">
            <a:avLst/>
          </a:prstGeom>
          <a:solidFill>
            <a:srgbClr val="1C72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4400" y="3977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508760" y="3867912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 queueing with a delay target is what matters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508760" y="4197096"/>
            <a:ext cx="100584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9C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~100× tail-latency reduction at zero goodput cost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4663440"/>
            <a:ext cx="10881360" cy="749808"/>
          </a:xfrm>
          <a:prstGeom prst="roundRect">
            <a:avLst>
              <a:gd name="adj" fmla="val 8537"/>
            </a:avLst>
          </a:prstGeom>
          <a:solidFill>
            <a:srgbClr val="2C35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4846320"/>
            <a:ext cx="384048" cy="384048"/>
          </a:xfrm>
          <a:prstGeom prst="ellipse">
            <a:avLst/>
          </a:prstGeom>
          <a:solidFill>
            <a:srgbClr val="1C72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14400" y="4846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508760" y="4736592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Tuning its parameters is not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508760" y="5065776"/>
            <a:ext cx="100584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9C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distinguishable improvement over the defaults in the regimes tested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40080" y="5532120"/>
            <a:ext cx="10881360" cy="749808"/>
          </a:xfrm>
          <a:prstGeom prst="roundRect">
            <a:avLst>
              <a:gd name="adj" fmla="val 8537"/>
            </a:avLst>
          </a:prstGeom>
          <a:solidFill>
            <a:srgbClr val="2C35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14400" y="5715000"/>
            <a:ext cx="384048" cy="384048"/>
          </a:xfrm>
          <a:prstGeom prst="ellipse">
            <a:avLst/>
          </a:prstGeom>
          <a:solidFill>
            <a:srgbClr val="1C72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4400" y="5715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508760" y="5605272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methodology is the contribution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508760" y="5934456"/>
            <a:ext cx="100584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9C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silent failure classes, the invariants that catch them, and a released artefact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640080" y="640080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F9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github.com/Amritha902/ccn-linux-qdisc-study   ·   every number in the paper generated from the logs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Runtime Parameter Adaptation for fq_codel</dc:title>
  <dc:subject>PptxGenJS Presentation</dc:subject>
  <dc:creator>Amritha S, Yugeshwaran P, Deepti Annuncia</dc:creator>
  <cp:lastModifiedBy>Amritha S, Yugeshwaran P, Deepti Annuncia</cp:lastModifiedBy>
  <cp:revision>1</cp:revision>
  <dcterms:created xsi:type="dcterms:W3CDTF">2026-09-29T11:53:17Z</dcterms:created>
  <dcterms:modified xsi:type="dcterms:W3CDTF">2026-09-29T11:53:17Z</dcterms:modified>
</cp:coreProperties>
</file>