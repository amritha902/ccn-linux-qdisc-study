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covers what we built, why we made each design choice, what we found, and what did not survive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assume the adaptation would help. The design had to be able to show that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error invalidated every queueing result in the original Parts 2 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probe-to-bulk ratio is a discipline signature. Any AQM paper quoting a single ping number may be ranking systems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methodological contribution in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bpftool JSON also renders byte arrays as hex strings, which is what silently zeroed the original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ceil(log(1/5)/log(0.9)). It appeared in 24 of 32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 defensible, reproducible result of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Steady load has a stable operating point to converge on; staged load does not, and the adjustments lag the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contribution. The mechanism is old; the number at which it starts to matter is what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this data and had not looked. A referee would have asked. r governs the RTT dimension; a second group governs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null result is only credible because of the control condition. That is what makes it a contribution rather than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VIT CHENNAI  ·  DEPT. OF ECE, SENSE</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Runtime Parameter Adaptation</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for fq_codel</a:t>
            </a:r>
            <a:endParaRPr lang="en-US" sz="4200" dirty="0"/>
          </a:p>
        </p:txBody>
      </p:sp>
      <p:sp>
        <p:nvSpPr>
          <p:cNvPr id="4" name="Text 2"/>
          <p:cNvSpPr txBox="1"/>
          <p:nvPr/>
        </p:nvSpPr>
        <p:spPr>
          <a:xfrm>
            <a:off x="640080" y="3977640"/>
            <a:ext cx="10881360" cy="457200"/>
          </a:xfrm>
          <a:prstGeom prst="rect">
            <a:avLst/>
          </a:prstGeom>
          <a:noFill/>
          <a:ln/>
        </p:spPr>
        <p:txBody>
          <a:bodyPr wrap="square" rtlCol="0" anchor="ctr"/>
          <a:lstStyle/>
          <a:p>
            <a:pPr indent="0" marL="0">
              <a:buNone/>
            </a:pPr>
            <a:r>
              <a:rPr lang="en-US" sz="1700" i="1" dirty="0">
                <a:solidFill>
                  <a:srgbClr val="A9C3DE"/>
                </a:solidFill>
                <a:latin typeface="Calibri" pitchFamily="34" charset="0"/>
                <a:ea typeface="Calibri" pitchFamily="34" charset="-122"/>
                <a:cs typeface="Calibri" pitchFamily="34" charset="-120"/>
              </a:rPr>
              <a:t>A measured evaluation on stock Linux, and what the measurements had to survive</a:t>
            </a:r>
            <a:endParaRPr lang="en-US" sz="1700" dirty="0"/>
          </a:p>
        </p:txBody>
      </p:sp>
      <p:sp>
        <p:nvSpPr>
          <p:cNvPr id="5" name="Text 3"/>
          <p:cNvSpPr txBox="1"/>
          <p:nvPr/>
        </p:nvSpPr>
        <p:spPr>
          <a:xfrm>
            <a:off x="640080" y="4919472"/>
            <a:ext cx="10881360" cy="365760"/>
          </a:xfrm>
          <a:prstGeom prst="rect">
            <a:avLst/>
          </a:prstGeom>
          <a:noFill/>
          <a:ln/>
        </p:spPr>
        <p:txBody>
          <a:bodyPr wrap="square" rtlCol="0" anchor="ctr"/>
          <a:lstStyle/>
          <a:p>
            <a:pPr indent="0" marL="0">
              <a:buNone/>
            </a:pPr>
            <a:r>
              <a:rPr lang="en-US" sz="1400" dirty="0">
                <a:solidFill>
                  <a:srgbClr val="8FA8C4"/>
                </a:solidFill>
                <a:latin typeface="Calibri" pitchFamily="34" charset="0"/>
                <a:ea typeface="Calibri" pitchFamily="34" charset="-122"/>
                <a:cs typeface="Calibri" pitchFamily="34" charset="-120"/>
              </a:rPr>
              <a:t>Amritha S   ·   Yugeshwaran P   ·   Deepti Annuncia</a:t>
            </a:r>
            <a:endParaRPr lang="en-US" sz="1400" dirty="0"/>
          </a:p>
        </p:txBody>
      </p:sp>
      <p:sp>
        <p:nvSpPr>
          <p:cNvPr id="6" name="Text 4"/>
          <p:cNvSpPr txBox="1"/>
          <p:nvPr/>
        </p:nvSpPr>
        <p:spPr>
          <a:xfrm>
            <a:off x="640080" y="5285232"/>
            <a:ext cx="10881360" cy="310896"/>
          </a:xfrm>
          <a:prstGeom prst="rect">
            <a:avLst/>
          </a:prstGeom>
          <a:noFill/>
          <a:ln/>
        </p:spPr>
        <p:txBody>
          <a:bodyPr wrap="square" rtlCol="0" anchor="ctr"/>
          <a:lstStyle/>
          <a:p>
            <a:pPr indent="0" marL="0">
              <a:buNone/>
            </a:pPr>
            <a:r>
              <a:rPr lang="en-US" sz="1000" dirty="0">
                <a:solidFill>
                  <a:srgbClr val="6C87A6"/>
                </a:solidFill>
                <a:latin typeface="Calibri" pitchFamily="34" charset="0"/>
                <a:ea typeface="Calibri" pitchFamily="34" charset="-122"/>
                <a:cs typeface="Calibri" pitchFamily="34" charset="-120"/>
              </a:rPr>
              <a:t>amritha.s2023@vitstudent.ac.in   ·   yugeshwaran.p2023@vitstudent.ac.in   ·   deepti.annucia2023@vitstudent.ac.in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The question</a:t>
            </a:r>
            <a:endParaRPr lang="en-US" sz="3200" dirty="0"/>
          </a:p>
        </p:txBody>
      </p:sp>
      <p:sp>
        <p:nvSpPr>
          <p:cNvPr id="3" name="Text 1"/>
          <p:cNvSpPr txBox="1"/>
          <p:nvPr/>
        </p:nvSpPr>
        <p:spPr>
          <a:xfrm>
            <a:off x="640080" y="1234440"/>
            <a:ext cx="10881360" cy="640080"/>
          </a:xfrm>
          <a:prstGeom prst="rect">
            <a:avLst/>
          </a:prstGeom>
          <a:noFill/>
          <a:ln/>
        </p:spPr>
        <p:txBody>
          <a:bodyPr wrap="square" rtlCol="0" anchor="ctr"/>
          <a:lstStyle/>
          <a:p>
            <a:pPr indent="0" marL="0">
              <a:buNone/>
            </a:pPr>
            <a:r>
              <a:rPr lang="en-US" sz="1600" dirty="0">
                <a:solidFill>
                  <a:srgbClr val="3A4A5F"/>
                </a:solidFill>
                <a:latin typeface="Calibri" pitchFamily="34" charset="0"/>
                <a:ea typeface="Calibri" pitchFamily="34" charset="-122"/>
                <a:cs typeface="Calibri" pitchFamily="34" charset="-120"/>
              </a:rPr>
              <a:t>fq_codel is the default queue discipline on most Linux systems. Four of its parameters are fixed when you configure it and never change afterwards.</a:t>
            </a:r>
            <a:endParaRPr lang="en-US" sz="1600" dirty="0"/>
          </a:p>
        </p:txBody>
      </p:sp>
      <p:sp>
        <p:nvSpPr>
          <p:cNvPr id="4" name="Shape 2"/>
          <p:cNvSpPr/>
          <p:nvPr/>
        </p:nvSpPr>
        <p:spPr>
          <a:xfrm>
            <a:off x="640080" y="2057400"/>
            <a:ext cx="2606040" cy="1371600"/>
          </a:xfrm>
          <a:prstGeom prst="roundRect">
            <a:avLst>
              <a:gd name="adj" fmla="val 533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822960" y="2194560"/>
            <a:ext cx="22860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target</a:t>
            </a:r>
            <a:endParaRPr lang="en-US" sz="1500" dirty="0"/>
          </a:p>
        </p:txBody>
      </p:sp>
      <p:sp>
        <p:nvSpPr>
          <p:cNvPr id="6" name="Text 4"/>
          <p:cNvSpPr txBox="1"/>
          <p:nvPr/>
        </p:nvSpPr>
        <p:spPr>
          <a:xfrm>
            <a:off x="822960" y="2514600"/>
            <a:ext cx="2286000" cy="457200"/>
          </a:xfrm>
          <a:prstGeom prst="rect">
            <a:avLst/>
          </a:prstGeom>
          <a:noFill/>
          <a:ln/>
        </p:spPr>
        <p:txBody>
          <a:bodyPr wrap="square" lIns="0" tIns="0" rIns="0" bIns="0" rtlCol="0" anchor="ctr"/>
          <a:lstStyle/>
          <a:p>
            <a:pPr indent="0" marL="0">
              <a:buNone/>
            </a:pPr>
            <a:r>
              <a:rPr lang="en-US" sz="2400" b="1" dirty="0">
                <a:solidFill>
                  <a:srgbClr val="13233B"/>
                </a:solidFill>
                <a:latin typeface="Cambria" pitchFamily="34" charset="0"/>
                <a:ea typeface="Cambria" pitchFamily="34" charset="-122"/>
                <a:cs typeface="Cambria" pitchFamily="34" charset="-120"/>
              </a:rPr>
              <a:t>5 ms</a:t>
            </a:r>
            <a:endParaRPr lang="en-US" sz="2400" dirty="0"/>
          </a:p>
        </p:txBody>
      </p:sp>
      <p:sp>
        <p:nvSpPr>
          <p:cNvPr id="7" name="Text 5"/>
          <p:cNvSpPr txBox="1"/>
          <p:nvPr/>
        </p:nvSpPr>
        <p:spPr>
          <a:xfrm>
            <a:off x="822960" y="2990088"/>
            <a:ext cx="2286000" cy="365760"/>
          </a:xfrm>
          <a:prstGeom prst="rect">
            <a:avLst/>
          </a:prstGeom>
          <a:noFill/>
          <a:ln/>
        </p:spPr>
        <p:txBody>
          <a:bodyPr wrap="square" lIns="0" tIns="0" rIns="0" bIns="0" rtlCol="0" anchor="ctr"/>
          <a:lstStyle/>
          <a:p>
            <a:pPr indent="0" marL="0">
              <a:buNone/>
            </a:pPr>
            <a:r>
              <a:rPr lang="en-US" sz="1100" dirty="0">
                <a:solidFill>
                  <a:srgbClr val="7B8A9C"/>
                </a:solidFill>
                <a:latin typeface="Calibri" pitchFamily="34" charset="0"/>
                <a:ea typeface="Calibri" pitchFamily="34" charset="-122"/>
                <a:cs typeface="Calibri" pitchFamily="34" charset="-120"/>
              </a:rPr>
              <a:t>acceptable sojourn time</a:t>
            </a:r>
            <a:endParaRPr lang="en-US" sz="1100" dirty="0"/>
          </a:p>
        </p:txBody>
      </p:sp>
      <p:sp>
        <p:nvSpPr>
          <p:cNvPr id="8" name="Shape 6"/>
          <p:cNvSpPr/>
          <p:nvPr/>
        </p:nvSpPr>
        <p:spPr>
          <a:xfrm>
            <a:off x="3429000" y="2057400"/>
            <a:ext cx="2606040" cy="1371600"/>
          </a:xfrm>
          <a:prstGeom prst="roundRect">
            <a:avLst>
              <a:gd name="adj" fmla="val 533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9" name="Text 7"/>
          <p:cNvSpPr txBox="1"/>
          <p:nvPr/>
        </p:nvSpPr>
        <p:spPr>
          <a:xfrm>
            <a:off x="3611880" y="2194560"/>
            <a:ext cx="22860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interval</a:t>
            </a:r>
            <a:endParaRPr lang="en-US" sz="1500" dirty="0"/>
          </a:p>
        </p:txBody>
      </p:sp>
      <p:sp>
        <p:nvSpPr>
          <p:cNvPr id="10" name="Text 8"/>
          <p:cNvSpPr txBox="1"/>
          <p:nvPr/>
        </p:nvSpPr>
        <p:spPr>
          <a:xfrm>
            <a:off x="3611880" y="2514600"/>
            <a:ext cx="2286000" cy="457200"/>
          </a:xfrm>
          <a:prstGeom prst="rect">
            <a:avLst/>
          </a:prstGeom>
          <a:noFill/>
          <a:ln/>
        </p:spPr>
        <p:txBody>
          <a:bodyPr wrap="square" lIns="0" tIns="0" rIns="0" bIns="0" rtlCol="0" anchor="ctr"/>
          <a:lstStyle/>
          <a:p>
            <a:pPr indent="0" marL="0">
              <a:buNone/>
            </a:pPr>
            <a:r>
              <a:rPr lang="en-US" sz="2400" b="1" dirty="0">
                <a:solidFill>
                  <a:srgbClr val="13233B"/>
                </a:solidFill>
                <a:latin typeface="Cambria" pitchFamily="34" charset="0"/>
                <a:ea typeface="Cambria" pitchFamily="34" charset="-122"/>
                <a:cs typeface="Cambria" pitchFamily="34" charset="-120"/>
              </a:rPr>
              <a:t>100 ms</a:t>
            </a:r>
            <a:endParaRPr lang="en-US" sz="2400" dirty="0"/>
          </a:p>
        </p:txBody>
      </p:sp>
      <p:sp>
        <p:nvSpPr>
          <p:cNvPr id="11" name="Text 9"/>
          <p:cNvSpPr txBox="1"/>
          <p:nvPr/>
        </p:nvSpPr>
        <p:spPr>
          <a:xfrm>
            <a:off x="3611880" y="2990088"/>
            <a:ext cx="2286000" cy="365760"/>
          </a:xfrm>
          <a:prstGeom prst="rect">
            <a:avLst/>
          </a:prstGeom>
          <a:noFill/>
          <a:ln/>
        </p:spPr>
        <p:txBody>
          <a:bodyPr wrap="square" lIns="0" tIns="0" rIns="0" bIns="0" rtlCol="0" anchor="ctr"/>
          <a:lstStyle/>
          <a:p>
            <a:pPr indent="0" marL="0">
              <a:buNone/>
            </a:pPr>
            <a:r>
              <a:rPr lang="en-US" sz="1100" dirty="0">
                <a:solidFill>
                  <a:srgbClr val="7B8A9C"/>
                </a:solidFill>
                <a:latin typeface="Calibri" pitchFamily="34" charset="0"/>
                <a:ea typeface="Calibri" pitchFamily="34" charset="-122"/>
                <a:cs typeface="Calibri" pitchFamily="34" charset="-120"/>
              </a:rPr>
              <a:t>CoDel observation window</a:t>
            </a:r>
            <a:endParaRPr lang="en-US" sz="1100" dirty="0"/>
          </a:p>
        </p:txBody>
      </p:sp>
      <p:sp>
        <p:nvSpPr>
          <p:cNvPr id="12" name="Shape 10"/>
          <p:cNvSpPr/>
          <p:nvPr/>
        </p:nvSpPr>
        <p:spPr>
          <a:xfrm>
            <a:off x="6217920" y="2057400"/>
            <a:ext cx="2606040" cy="1371600"/>
          </a:xfrm>
          <a:prstGeom prst="roundRect">
            <a:avLst>
              <a:gd name="adj" fmla="val 533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3" name="Text 11"/>
          <p:cNvSpPr txBox="1"/>
          <p:nvPr/>
        </p:nvSpPr>
        <p:spPr>
          <a:xfrm>
            <a:off x="6400800" y="2194560"/>
            <a:ext cx="22860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limit</a:t>
            </a:r>
            <a:endParaRPr lang="en-US" sz="1500" dirty="0"/>
          </a:p>
        </p:txBody>
      </p:sp>
      <p:sp>
        <p:nvSpPr>
          <p:cNvPr id="14" name="Text 12"/>
          <p:cNvSpPr txBox="1"/>
          <p:nvPr/>
        </p:nvSpPr>
        <p:spPr>
          <a:xfrm>
            <a:off x="6400800" y="2514600"/>
            <a:ext cx="2286000" cy="457200"/>
          </a:xfrm>
          <a:prstGeom prst="rect">
            <a:avLst/>
          </a:prstGeom>
          <a:noFill/>
          <a:ln/>
        </p:spPr>
        <p:txBody>
          <a:bodyPr wrap="square" lIns="0" tIns="0" rIns="0" bIns="0" rtlCol="0" anchor="ctr"/>
          <a:lstStyle/>
          <a:p>
            <a:pPr indent="0" marL="0">
              <a:buNone/>
            </a:pPr>
            <a:r>
              <a:rPr lang="en-US" sz="2400" b="1" dirty="0">
                <a:solidFill>
                  <a:srgbClr val="13233B"/>
                </a:solidFill>
                <a:latin typeface="Cambria" pitchFamily="34" charset="0"/>
                <a:ea typeface="Cambria" pitchFamily="34" charset="-122"/>
                <a:cs typeface="Cambria" pitchFamily="34" charset="-120"/>
              </a:rPr>
              <a:t>10240 p</a:t>
            </a:r>
            <a:endParaRPr lang="en-US" sz="2400" dirty="0"/>
          </a:p>
        </p:txBody>
      </p:sp>
      <p:sp>
        <p:nvSpPr>
          <p:cNvPr id="15" name="Text 13"/>
          <p:cNvSpPr txBox="1"/>
          <p:nvPr/>
        </p:nvSpPr>
        <p:spPr>
          <a:xfrm>
            <a:off x="6400800" y="2990088"/>
            <a:ext cx="2286000" cy="365760"/>
          </a:xfrm>
          <a:prstGeom prst="rect">
            <a:avLst/>
          </a:prstGeom>
          <a:noFill/>
          <a:ln/>
        </p:spPr>
        <p:txBody>
          <a:bodyPr wrap="square" lIns="0" tIns="0" rIns="0" bIns="0" rtlCol="0" anchor="ctr"/>
          <a:lstStyle/>
          <a:p>
            <a:pPr indent="0" marL="0">
              <a:buNone/>
            </a:pPr>
            <a:r>
              <a:rPr lang="en-US" sz="1100" dirty="0">
                <a:solidFill>
                  <a:srgbClr val="7B8A9C"/>
                </a:solidFill>
                <a:latin typeface="Calibri" pitchFamily="34" charset="0"/>
                <a:ea typeface="Calibri" pitchFamily="34" charset="-122"/>
                <a:cs typeface="Calibri" pitchFamily="34" charset="-120"/>
              </a:rPr>
              <a:t>maximum queue depth</a:t>
            </a:r>
            <a:endParaRPr lang="en-US" sz="1100" dirty="0"/>
          </a:p>
        </p:txBody>
      </p:sp>
      <p:sp>
        <p:nvSpPr>
          <p:cNvPr id="16" name="Shape 14"/>
          <p:cNvSpPr/>
          <p:nvPr/>
        </p:nvSpPr>
        <p:spPr>
          <a:xfrm>
            <a:off x="9006840" y="2057400"/>
            <a:ext cx="2606040" cy="1371600"/>
          </a:xfrm>
          <a:prstGeom prst="roundRect">
            <a:avLst>
              <a:gd name="adj" fmla="val 533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7" name="Text 15"/>
          <p:cNvSpPr txBox="1"/>
          <p:nvPr/>
        </p:nvSpPr>
        <p:spPr>
          <a:xfrm>
            <a:off x="9189720" y="2194560"/>
            <a:ext cx="2286000" cy="32004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quantum</a:t>
            </a:r>
            <a:endParaRPr lang="en-US" sz="1500" dirty="0"/>
          </a:p>
        </p:txBody>
      </p:sp>
      <p:sp>
        <p:nvSpPr>
          <p:cNvPr id="18" name="Text 16"/>
          <p:cNvSpPr txBox="1"/>
          <p:nvPr/>
        </p:nvSpPr>
        <p:spPr>
          <a:xfrm>
            <a:off x="9189720" y="2514600"/>
            <a:ext cx="2286000" cy="457200"/>
          </a:xfrm>
          <a:prstGeom prst="rect">
            <a:avLst/>
          </a:prstGeom>
          <a:noFill/>
          <a:ln/>
        </p:spPr>
        <p:txBody>
          <a:bodyPr wrap="square" lIns="0" tIns="0" rIns="0" bIns="0" rtlCol="0" anchor="ctr"/>
          <a:lstStyle/>
          <a:p>
            <a:pPr indent="0" marL="0">
              <a:buNone/>
            </a:pPr>
            <a:r>
              <a:rPr lang="en-US" sz="2400" b="1" dirty="0">
                <a:solidFill>
                  <a:srgbClr val="13233B"/>
                </a:solidFill>
                <a:latin typeface="Cambria" pitchFamily="34" charset="0"/>
                <a:ea typeface="Cambria" pitchFamily="34" charset="-122"/>
                <a:cs typeface="Cambria" pitchFamily="34" charset="-120"/>
              </a:rPr>
              <a:t>1514 B</a:t>
            </a:r>
            <a:endParaRPr lang="en-US" sz="2400" dirty="0"/>
          </a:p>
        </p:txBody>
      </p:sp>
      <p:sp>
        <p:nvSpPr>
          <p:cNvPr id="19" name="Text 17"/>
          <p:cNvSpPr txBox="1"/>
          <p:nvPr/>
        </p:nvSpPr>
        <p:spPr>
          <a:xfrm>
            <a:off x="9189720" y="2990088"/>
            <a:ext cx="2286000" cy="365760"/>
          </a:xfrm>
          <a:prstGeom prst="rect">
            <a:avLst/>
          </a:prstGeom>
          <a:noFill/>
          <a:ln/>
        </p:spPr>
        <p:txBody>
          <a:bodyPr wrap="square" lIns="0" tIns="0" rIns="0" bIns="0" rtlCol="0" anchor="ctr"/>
          <a:lstStyle/>
          <a:p>
            <a:pPr indent="0" marL="0">
              <a:buNone/>
            </a:pPr>
            <a:r>
              <a:rPr lang="en-US" sz="1100" dirty="0">
                <a:solidFill>
                  <a:srgbClr val="7B8A9C"/>
                </a:solidFill>
                <a:latin typeface="Calibri" pitchFamily="34" charset="0"/>
                <a:ea typeface="Calibri" pitchFamily="34" charset="-122"/>
                <a:cs typeface="Calibri" pitchFamily="34" charset="-120"/>
              </a:rPr>
              <a:t>per-flow service quantum</a:t>
            </a:r>
            <a:endParaRPr lang="en-US" sz="1100" dirty="0"/>
          </a:p>
        </p:txBody>
      </p:sp>
      <p:sp>
        <p:nvSpPr>
          <p:cNvPr id="20" name="Shape 18"/>
          <p:cNvSpPr/>
          <p:nvPr/>
        </p:nvSpPr>
        <p:spPr>
          <a:xfrm>
            <a:off x="640080" y="3886200"/>
            <a:ext cx="10881360" cy="1371600"/>
          </a:xfrm>
          <a:prstGeom prst="roundRect">
            <a:avLst>
              <a:gd name="adj" fmla="val 5333"/>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21" name="Text 19"/>
          <p:cNvSpPr txBox="1"/>
          <p:nvPr/>
        </p:nvSpPr>
        <p:spPr>
          <a:xfrm>
            <a:off x="960120" y="4114800"/>
            <a:ext cx="10241280" cy="45720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Does adapting them at runtime beat leaving them alone?</a:t>
            </a:r>
            <a:endParaRPr lang="en-US" sz="2400" dirty="0"/>
          </a:p>
        </p:txBody>
      </p:sp>
      <p:sp>
        <p:nvSpPr>
          <p:cNvPr id="22" name="Text 20"/>
          <p:cNvSpPr txBox="1"/>
          <p:nvPr/>
        </p:nvSpPr>
        <p:spPr>
          <a:xfrm>
            <a:off x="960120" y="4617720"/>
            <a:ext cx="10241280" cy="457200"/>
          </a:xfrm>
          <a:prstGeom prst="rect">
            <a:avLst/>
          </a:prstGeom>
          <a:noFill/>
          <a:ln/>
        </p:spPr>
        <p:txBody>
          <a:bodyPr wrap="square" lIns="0" tIns="0" rIns="0" bIns="0" rtlCol="0" anchor="ctr"/>
          <a:lstStyle/>
          <a:p>
            <a:pPr indent="0" marL="0">
              <a:buNone/>
            </a:pPr>
            <a:r>
              <a:rPr lang="en-US" sz="1400" dirty="0">
                <a:solidFill>
                  <a:srgbClr val="3A4A5F"/>
                </a:solidFill>
                <a:latin typeface="Calibri" pitchFamily="34" charset="0"/>
                <a:ea typeface="Calibri" pitchFamily="34" charset="-122"/>
                <a:cs typeface="Calibri" pitchFamily="34" charset="-120"/>
              </a:rPr>
              <a:t>We built the controller, built the apparatus to test it honestly, and measured. The answer matters either way.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DESIGN RATIONALE</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Why we chose what we chose</a:t>
            </a:r>
            <a:endParaRPr lang="en-US" sz="4200" dirty="0"/>
          </a:p>
        </p:txBody>
      </p:sp>
      <p:sp>
        <p:nvSpPr>
          <p:cNvPr id="4" name="Text 2"/>
          <p:cNvSpPr txBox="1"/>
          <p:nvPr/>
        </p:nvSpPr>
        <p:spPr>
          <a:xfrm>
            <a:off x="640080" y="3931920"/>
            <a:ext cx="10881360" cy="548640"/>
          </a:xfrm>
          <a:prstGeom prst="rect">
            <a:avLst/>
          </a:prstGeom>
          <a:noFill/>
          <a:ln/>
        </p:spPr>
        <p:txBody>
          <a:bodyPr wrap="square" rtlCol="0" anchor="ctr"/>
          <a:lstStyle/>
          <a:p>
            <a:pPr indent="0" marL="0">
              <a:buNone/>
            </a:pPr>
            <a:r>
              <a:rPr lang="en-US" sz="1600" i="1" dirty="0">
                <a:solidFill>
                  <a:srgbClr val="A9C3DE"/>
                </a:solidFill>
                <a:latin typeface="Calibri" pitchFamily="34" charset="0"/>
                <a:ea typeface="Calibri" pitchFamily="34" charset="-122"/>
                <a:cs typeface="Calibri" pitchFamily="34" charset="-120"/>
              </a:rPr>
              <a:t>Every choice below was forced by something that went wrong, or by something that could go wrong undetected.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a three-node topology, not two</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CHOICE  ·  client → router → server, with the AQM on the router's egress</a:t>
            </a:r>
            <a:endParaRPr lang="en-US" sz="1400" dirty="0"/>
          </a:p>
        </p:txBody>
      </p:sp>
      <p:sp>
        <p:nvSpPr>
          <p:cNvPr id="4" name="Shape 2"/>
          <p:cNvSpPr/>
          <p:nvPr/>
        </p:nvSpPr>
        <p:spPr>
          <a:xfrm>
            <a:off x="640080" y="1600200"/>
            <a:ext cx="5486400" cy="3291840"/>
          </a:xfrm>
          <a:prstGeom prst="roundRect">
            <a:avLst>
              <a:gd name="adj" fmla="val 2222"/>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914400" y="1783080"/>
            <a:ext cx="4937760" cy="365760"/>
          </a:xfrm>
          <a:prstGeom prst="rect">
            <a:avLst/>
          </a:prstGeom>
          <a:noFill/>
          <a:ln/>
        </p:spPr>
        <p:txBody>
          <a:bodyPr wrap="square" lIns="0" tIns="0" rIns="0" bIns="0" rtlCol="0" anchor="ctr"/>
          <a:lstStyle/>
          <a:p>
            <a:pPr indent="0" marL="0">
              <a:buNone/>
            </a:pPr>
            <a:r>
              <a:rPr lang="en-US" sz="1700" b="1" dirty="0">
                <a:solidFill>
                  <a:srgbClr val="B23A48"/>
                </a:solidFill>
                <a:latin typeface="Cambria" pitchFamily="34" charset="0"/>
                <a:ea typeface="Cambria" pitchFamily="34" charset="-122"/>
                <a:cs typeface="Cambria" pitchFamily="34" charset="-120"/>
              </a:rPr>
              <a:t>The two-node setup</a:t>
            </a:r>
            <a:endParaRPr lang="en-US" sz="1700" dirty="0"/>
          </a:p>
        </p:txBody>
      </p:sp>
      <p:sp>
        <p:nvSpPr>
          <p:cNvPr id="6" name="Text 4"/>
          <p:cNvSpPr txBox="1"/>
          <p:nvPr/>
        </p:nvSpPr>
        <p:spPr>
          <a:xfrm>
            <a:off x="914400" y="2194560"/>
            <a:ext cx="4937760" cy="1097280"/>
          </a:xfrm>
          <a:prstGeom prst="rect">
            <a:avLst/>
          </a:prstGeom>
          <a:noFill/>
          <a:ln/>
        </p:spPr>
        <p:txBody>
          <a:bodyPr wrap="square" lIns="0" tIns="0" rIns="0" bIns="0" rtlCol="0" anchor="ctr"/>
          <a:lstStyle/>
          <a:p>
            <a:pPr indent="0" marL="0">
              <a:lnSpc>
                <a:spcPts val="1800"/>
              </a:lnSpc>
              <a:buNone/>
            </a:pPr>
            <a:r>
              <a:rPr lang="en-US" sz="1300" dirty="0">
                <a:solidFill>
                  <a:srgbClr val="3A4A5F"/>
                </a:solidFill>
                <a:latin typeface="Calibri" pitchFamily="34" charset="0"/>
                <a:ea typeface="Calibri" pitchFamily="34" charset="-122"/>
                <a:cs typeface="Calibri" pitchFamily="34" charset="-120"/>
              </a:rPr>
              <a:t>Bottleneck on veth1 inside ns1; iperf3 runs from ns2.</a:t>
            </a:r>
            <a:endParaRPr lang="en-US" sz="1300" dirty="0"/>
          </a:p>
          <a:p>
            <a:pPr indent="0" marL="0">
              <a:lnSpc>
                <a:spcPts val="1800"/>
              </a:lnSpc>
              <a:buNone/>
            </a:pPr>
            <a:r>
              <a:rPr lang="en-US" sz="1300" dirty="0">
                <a:solidFill>
                  <a:srgbClr val="3A4A5F"/>
                </a:solidFill>
                <a:latin typeface="Calibri" pitchFamily="34" charset="0"/>
                <a:ea typeface="Calibri" pitchFamily="34" charset="-122"/>
                <a:cs typeface="Calibri" pitchFamily="34" charset="-120"/>
              </a:rPr>
              <a:t>Data flows ns2 → ns1, but an egress qdisc on veth1 shapes ns1 → ns2.</a:t>
            </a:r>
            <a:endParaRPr lang="en-US" sz="1300" dirty="0"/>
          </a:p>
          <a:p>
            <a:pPr indent="0" marL="0">
              <a:lnSpc>
                <a:spcPts val="1800"/>
              </a:lnSpc>
              <a:buNone/>
            </a:pPr>
            <a:r>
              <a:rPr lang="en-US" sz="1300" b="1" dirty="0">
                <a:solidFill>
                  <a:srgbClr val="3A4A5F"/>
                </a:solidFill>
                <a:latin typeface="Calibri" pitchFamily="34" charset="0"/>
                <a:ea typeface="Calibri" pitchFamily="34" charset="-122"/>
                <a:cs typeface="Calibri" pitchFamily="34" charset="-120"/>
              </a:rPr>
              <a:t>So it shapes the ACK path, not the data path.</a:t>
            </a:r>
            <a:endParaRPr lang="en-US" sz="1300" dirty="0"/>
          </a:p>
        </p:txBody>
      </p:sp>
      <p:sp>
        <p:nvSpPr>
          <p:cNvPr id="7" name="Text 5"/>
          <p:cNvSpPr txBox="1"/>
          <p:nvPr/>
        </p:nvSpPr>
        <p:spPr>
          <a:xfrm>
            <a:off x="914400" y="3429000"/>
            <a:ext cx="4937760" cy="1188720"/>
          </a:xfrm>
          <a:prstGeom prst="rect">
            <a:avLst/>
          </a:prstGeom>
          <a:noFill/>
          <a:ln/>
        </p:spPr>
        <p:txBody>
          <a:bodyPr wrap="square" lIns="0" tIns="0" rIns="0" bIns="0" rtlCol="0" anchor="ctr"/>
          <a:lstStyle/>
          <a:p>
            <a:pPr indent="0" marL="0">
              <a:lnSpc>
                <a:spcPts val="1800"/>
              </a:lnSpc>
              <a:buNone/>
            </a:pPr>
            <a:r>
              <a:rPr lang="en-US" sz="1300" b="1" dirty="0">
                <a:solidFill>
                  <a:srgbClr val="B23A48"/>
                </a:solidFill>
                <a:latin typeface="Calibri" pitchFamily="34" charset="0"/>
                <a:ea typeface="Calibri" pitchFamily="34" charset="-122"/>
                <a:cs typeface="Calibri" pitchFamily="34" charset="-120"/>
              </a:rPr>
              <a:t>Measured:  9,777 Mbps unshaped</a:t>
            </a:r>
            <a:endParaRPr lang="en-US" sz="1300" dirty="0"/>
          </a:p>
          <a:p>
            <a:pPr indent="0" marL="0">
              <a:lnSpc>
                <a:spcPts val="1800"/>
              </a:lnSpc>
              <a:buNone/>
            </a:pPr>
            <a:r>
              <a:rPr lang="en-US" sz="1300" dirty="0">
                <a:solidFill>
                  <a:srgbClr val="B23A48"/>
                </a:solidFill>
                <a:latin typeface="Calibri" pitchFamily="34" charset="0"/>
                <a:ea typeface="Calibri" pitchFamily="34" charset="-122"/>
                <a:cs typeface="Calibri" pitchFamily="34" charset="-120"/>
              </a:rPr>
              <a:t>66 bytes/packet, pure TCP ACKs</a:t>
            </a:r>
            <a:endParaRPr lang="en-US" sz="1300" dirty="0"/>
          </a:p>
          <a:p>
            <a:pPr indent="0" marL="0">
              <a:lnSpc>
                <a:spcPts val="1800"/>
              </a:lnSpc>
              <a:buNone/>
            </a:pPr>
            <a:r>
              <a:rPr lang="en-US" sz="1300" dirty="0">
                <a:solidFill>
                  <a:srgbClr val="B23A48"/>
                </a:solidFill>
                <a:latin typeface="Calibri" pitchFamily="34" charset="0"/>
                <a:ea typeface="Calibri" pitchFamily="34" charset="-122"/>
                <a:cs typeface="Calibri" pitchFamily="34" charset="-120"/>
              </a:rPr>
              <a:t>~130,000 drops/s on an 826 pkt/s link</a:t>
            </a:r>
            <a:endParaRPr lang="en-US" sz="1300" dirty="0"/>
          </a:p>
        </p:txBody>
      </p:sp>
      <p:sp>
        <p:nvSpPr>
          <p:cNvPr id="8" name="Shape 6"/>
          <p:cNvSpPr/>
          <p:nvPr/>
        </p:nvSpPr>
        <p:spPr>
          <a:xfrm>
            <a:off x="6309360" y="1600200"/>
            <a:ext cx="5212080" cy="3291840"/>
          </a:xfrm>
          <a:prstGeom prst="roundRect">
            <a:avLst>
              <a:gd name="adj" fmla="val 2222"/>
            </a:avLst>
          </a:prstGeom>
          <a:solidFill>
            <a:srgbClr val="EAF4EE"/>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9" name="Text 7"/>
          <p:cNvSpPr txBox="1"/>
          <p:nvPr/>
        </p:nvSpPr>
        <p:spPr>
          <a:xfrm>
            <a:off x="6583680" y="1783080"/>
            <a:ext cx="4663440" cy="365760"/>
          </a:xfrm>
          <a:prstGeom prst="rect">
            <a:avLst/>
          </a:prstGeom>
          <a:noFill/>
          <a:ln/>
        </p:spPr>
        <p:txBody>
          <a:bodyPr wrap="square" lIns="0" tIns="0" rIns="0" bIns="0" rtlCol="0" anchor="ctr"/>
          <a:lstStyle/>
          <a:p>
            <a:pPr indent="0" marL="0">
              <a:buNone/>
            </a:pPr>
            <a:r>
              <a:rPr lang="en-US" sz="1700" b="1" dirty="0">
                <a:solidFill>
                  <a:srgbClr val="2C7A5A"/>
                </a:solidFill>
                <a:latin typeface="Cambria" pitchFamily="34" charset="0"/>
                <a:ea typeface="Cambria" pitchFamily="34" charset="-122"/>
                <a:cs typeface="Cambria" pitchFamily="34" charset="-120"/>
              </a:rPr>
              <a:t>The three-node router</a:t>
            </a:r>
            <a:endParaRPr lang="en-US" sz="1700" dirty="0"/>
          </a:p>
        </p:txBody>
      </p:sp>
      <p:sp>
        <p:nvSpPr>
          <p:cNvPr id="10" name="Text 8"/>
          <p:cNvSpPr txBox="1"/>
          <p:nvPr/>
        </p:nvSpPr>
        <p:spPr>
          <a:xfrm>
            <a:off x="6583680" y="2194560"/>
            <a:ext cx="4663440" cy="1097280"/>
          </a:xfrm>
          <a:prstGeom prst="rect">
            <a:avLst/>
          </a:prstGeom>
          <a:noFill/>
          <a:ln/>
        </p:spPr>
        <p:txBody>
          <a:bodyPr wrap="square" lIns="0" tIns="0" rIns="0" bIns="0" rtlCol="0" anchor="ctr"/>
          <a:lstStyle/>
          <a:p>
            <a:pPr indent="0" marL="0">
              <a:lnSpc>
                <a:spcPts val="1800"/>
              </a:lnSpc>
              <a:buNone/>
            </a:pPr>
            <a:r>
              <a:rPr lang="en-US" sz="1300" dirty="0">
                <a:solidFill>
                  <a:srgbClr val="3A4A5F"/>
                </a:solidFill>
                <a:latin typeface="Calibri" pitchFamily="34" charset="0"/>
                <a:ea typeface="Calibri" pitchFamily="34" charset="-122"/>
                <a:cs typeface="Calibri" pitchFamily="34" charset="-120"/>
              </a:rPr>
              <a:t>TBF + AQM on the router's egress toward the server.</a:t>
            </a:r>
            <a:endParaRPr lang="en-US" sz="1300" dirty="0"/>
          </a:p>
          <a:p>
            <a:pPr indent="0" marL="0">
              <a:lnSpc>
                <a:spcPts val="1800"/>
              </a:lnSpc>
              <a:buNone/>
            </a:pPr>
            <a:r>
              <a:rPr lang="en-US" sz="1300" b="1" dirty="0">
                <a:solidFill>
                  <a:srgbClr val="3A4A5F"/>
                </a:solidFill>
                <a:latin typeface="Calibri" pitchFamily="34" charset="0"/>
                <a:ea typeface="Calibri" pitchFamily="34" charset="-122"/>
                <a:cs typeface="Calibri" pitchFamily="34" charset="-120"/>
              </a:rPr>
              <a:t>Data traverses it, so the bottleneck is on the data path.</a:t>
            </a:r>
            <a:endParaRPr lang="en-US" sz="1300" dirty="0"/>
          </a:p>
        </p:txBody>
      </p:sp>
      <p:sp>
        <p:nvSpPr>
          <p:cNvPr id="11" name="Text 9"/>
          <p:cNvSpPr txBox="1"/>
          <p:nvPr/>
        </p:nvSpPr>
        <p:spPr>
          <a:xfrm>
            <a:off x="6583680" y="3429000"/>
            <a:ext cx="4663440" cy="1188720"/>
          </a:xfrm>
          <a:prstGeom prst="rect">
            <a:avLst/>
          </a:prstGeom>
          <a:noFill/>
          <a:ln/>
        </p:spPr>
        <p:txBody>
          <a:bodyPr wrap="square" lIns="0" tIns="0" rIns="0" bIns="0" rtlCol="0" anchor="ctr"/>
          <a:lstStyle/>
          <a:p>
            <a:pPr indent="0" marL="0">
              <a:lnSpc>
                <a:spcPts val="1800"/>
              </a:lnSpc>
              <a:buNone/>
            </a:pPr>
            <a:r>
              <a:rPr lang="en-US" sz="1300" b="1" dirty="0">
                <a:solidFill>
                  <a:srgbClr val="2C7A5A"/>
                </a:solidFill>
                <a:latin typeface="Calibri" pitchFamily="34" charset="0"/>
                <a:ea typeface="Calibri" pitchFamily="34" charset="-122"/>
                <a:cs typeface="Calibri" pitchFamily="34" charset="-120"/>
              </a:rPr>
              <a:t>Measured:  9.38 Mbps shaped</a:t>
            </a:r>
            <a:endParaRPr lang="en-US" sz="1300" dirty="0"/>
          </a:p>
          <a:p>
            <a:pPr indent="0" marL="0">
              <a:lnSpc>
                <a:spcPts val="1800"/>
              </a:lnSpc>
              <a:buNone/>
            </a:pPr>
            <a:r>
              <a:rPr lang="en-US" sz="1300" dirty="0">
                <a:solidFill>
                  <a:srgbClr val="2C7A5A"/>
                </a:solidFill>
                <a:latin typeface="Calibri" pitchFamily="34" charset="0"/>
                <a:ea typeface="Calibri" pitchFamily="34" charset="-122"/>
                <a:cs typeface="Calibri" pitchFamily="34" charset="-120"/>
              </a:rPr>
              <a:t>1509 bytes/packet, real data</a:t>
            </a:r>
            <a:endParaRPr lang="en-US" sz="1300" dirty="0"/>
          </a:p>
          <a:p>
            <a:pPr indent="0" marL="0">
              <a:lnSpc>
                <a:spcPts val="1800"/>
              </a:lnSpc>
              <a:buNone/>
            </a:pPr>
            <a:r>
              <a:rPr lang="en-US" sz="1300" dirty="0">
                <a:solidFill>
                  <a:srgbClr val="2C7A5A"/>
                </a:solidFill>
                <a:latin typeface="Calibri" pitchFamily="34" charset="0"/>
                <a:ea typeface="Calibri" pitchFamily="34" charset="-122"/>
                <a:cs typeface="Calibri" pitchFamily="34" charset="-120"/>
              </a:rPr>
              <a:t>~19 drops/s, physically plausible</a:t>
            </a:r>
            <a:endParaRPr lang="en-US" sz="1300" dirty="0"/>
          </a:p>
        </p:txBody>
      </p:sp>
      <p:sp>
        <p:nvSpPr>
          <p:cNvPr id="12" name="Text 10"/>
          <p:cNvSpPr txBox="1"/>
          <p:nvPr/>
        </p:nvSpPr>
        <p:spPr>
          <a:xfrm>
            <a:off x="640080" y="5166360"/>
            <a:ext cx="10881360" cy="457200"/>
          </a:xfrm>
          <a:prstGeom prst="rect">
            <a:avLst/>
          </a:prstGeom>
          <a:noFill/>
          <a:ln/>
        </p:spPr>
        <p:txBody>
          <a:bodyPr wrap="square" rtlCol="0" anchor="ctr"/>
          <a:lstStyle/>
          <a:p>
            <a:pPr indent="0" marL="0">
              <a:buNone/>
            </a:pPr>
            <a:r>
              <a:rPr lang="en-US" sz="1400" i="1" dirty="0">
                <a:solidFill>
                  <a:srgbClr val="13233B"/>
                </a:solidFill>
                <a:latin typeface="Calibri" pitchFamily="34" charset="0"/>
                <a:ea typeface="Calibri" pitchFamily="34" charset="-122"/>
                <a:cs typeface="Calibri" pitchFamily="34" charset="-120"/>
              </a:rPr>
              <a:t>Diagnostic worth keeping: bytes ÷ packets on the monitored queue. 66 means you are queueing acknowledgements.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we measure latency two different ways</a:t>
            </a:r>
            <a:endParaRPr lang="en-US" sz="3200" dirty="0"/>
          </a:p>
        </p:txBody>
      </p:sp>
      <p:sp>
        <p:nvSpPr>
          <p:cNvPr id="3" name="Text 1"/>
          <p:cNvSpPr txBox="1"/>
          <p:nvPr/>
        </p:nvSpPr>
        <p:spPr>
          <a:xfrm>
            <a:off x="640080" y="1051560"/>
            <a:ext cx="10881360" cy="347472"/>
          </a:xfrm>
          <a:prstGeom prst="rect">
            <a:avLst/>
          </a:prstGeom>
          <a:noFill/>
          <a:ln/>
        </p:spPr>
        <p:txBody>
          <a:bodyPr wrap="square"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CHOICE  ·  a 20 Hz sparse probe AND in-band bulk-flow RTT from TCP_INFO</a:t>
            </a:r>
            <a:endParaRPr lang="en-US" sz="1400" dirty="0"/>
          </a:p>
        </p:txBody>
      </p:sp>
      <p:sp>
        <p:nvSpPr>
          <p:cNvPr id="4" name="Text 2"/>
          <p:cNvSpPr txBox="1"/>
          <p:nvPr/>
        </p:nvSpPr>
        <p:spPr>
          <a:xfrm>
            <a:off x="640080" y="1444752"/>
            <a:ext cx="10881360" cy="457200"/>
          </a:xfrm>
          <a:prstGeom prst="rect">
            <a:avLst/>
          </a:prstGeom>
          <a:noFill/>
          <a:ln/>
        </p:spPr>
        <p:txBody>
          <a:bodyPr wrap="square" rtlCol="0" anchor="ctr"/>
          <a:lstStyle/>
          <a:p>
            <a:pPr indent="0" marL="0">
              <a:buNone/>
            </a:pPr>
            <a:r>
              <a:rPr lang="en-US" sz="1450" dirty="0">
                <a:solidFill>
                  <a:srgbClr val="3A4A5F"/>
                </a:solidFill>
                <a:latin typeface="Calibri" pitchFamily="34" charset="0"/>
                <a:ea typeface="Calibri" pitchFamily="34" charset="-122"/>
                <a:cs typeface="Calibri" pitchFamily="34" charset="-120"/>
              </a:rPr>
              <a:t>fq_codel's new-flow heuristic deliberately privileges sparse flows. A ping is a sparse flow, so it measures the best case, not what the bulk traffic sees.</a:t>
            </a:r>
            <a:endParaRPr lang="en-US" sz="1450" dirty="0"/>
          </a:p>
        </p:txBody>
      </p:sp>
      <p:sp>
        <p:nvSpPr>
          <p:cNvPr id="5" name="Text 3"/>
          <p:cNvSpPr txBox="1"/>
          <p:nvPr/>
        </p:nvSpPr>
        <p:spPr>
          <a:xfrm>
            <a:off x="914400" y="1993392"/>
            <a:ext cx="210312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Discipline</a:t>
            </a:r>
            <a:endParaRPr lang="en-US" sz="1150" dirty="0"/>
          </a:p>
        </p:txBody>
      </p:sp>
      <p:sp>
        <p:nvSpPr>
          <p:cNvPr id="6" name="Text 4"/>
          <p:cNvSpPr txBox="1"/>
          <p:nvPr/>
        </p:nvSpPr>
        <p:spPr>
          <a:xfrm>
            <a:off x="5486400" y="1993392"/>
            <a:ext cx="210312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Sparse probe</a:t>
            </a:r>
            <a:endParaRPr lang="en-US" sz="1150" dirty="0"/>
          </a:p>
        </p:txBody>
      </p:sp>
      <p:sp>
        <p:nvSpPr>
          <p:cNvPr id="7" name="Text 5"/>
          <p:cNvSpPr txBox="1"/>
          <p:nvPr/>
        </p:nvSpPr>
        <p:spPr>
          <a:xfrm>
            <a:off x="7498080" y="1993392"/>
            <a:ext cx="210312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Bulk flows</a:t>
            </a:r>
            <a:endParaRPr lang="en-US" sz="1150" dirty="0"/>
          </a:p>
        </p:txBody>
      </p:sp>
      <p:sp>
        <p:nvSpPr>
          <p:cNvPr id="8" name="Text 6"/>
          <p:cNvSpPr txBox="1"/>
          <p:nvPr/>
        </p:nvSpPr>
        <p:spPr>
          <a:xfrm>
            <a:off x="9601200" y="1993392"/>
            <a:ext cx="210312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Ratio</a:t>
            </a:r>
            <a:endParaRPr lang="en-US" sz="1150" dirty="0"/>
          </a:p>
        </p:txBody>
      </p:sp>
      <p:sp>
        <p:nvSpPr>
          <p:cNvPr id="9" name="Shape 7"/>
          <p:cNvSpPr/>
          <p:nvPr/>
        </p:nvSpPr>
        <p:spPr>
          <a:xfrm>
            <a:off x="640080" y="2304288"/>
            <a:ext cx="10881360" cy="475488"/>
          </a:xfrm>
          <a:prstGeom prst="roundRect">
            <a:avLst>
              <a:gd name="adj" fmla="val 9615"/>
            </a:avLst>
          </a:prstGeom>
          <a:solidFill>
            <a:srgbClr val="FBEEF0"/>
          </a:solidFill>
          <a:ln w="6350">
            <a:solidFill>
              <a:srgbClr val="E2ECF2"/>
            </a:solidFill>
            <a:prstDash val="solid"/>
          </a:ln>
        </p:spPr>
      </p:sp>
      <p:sp>
        <p:nvSpPr>
          <p:cNvPr id="10" name="Text 8"/>
          <p:cNvSpPr txBox="1"/>
          <p:nvPr/>
        </p:nvSpPr>
        <p:spPr>
          <a:xfrm>
            <a:off x="914400" y="2404872"/>
            <a:ext cx="4480560" cy="292608"/>
          </a:xfrm>
          <a:prstGeom prst="rect">
            <a:avLst/>
          </a:prstGeom>
          <a:noFill/>
          <a:ln/>
        </p:spPr>
        <p:txBody>
          <a:bodyPr wrap="square" lIns="0" tIns="0" rIns="0" bIns="0" rtlCol="0" anchor="ctr"/>
          <a:lstStyle/>
          <a:p>
            <a:pPr indent="0" marL="0">
              <a:buNone/>
            </a:pPr>
            <a:r>
              <a:rPr lang="en-US" sz="1300" b="1" dirty="0">
                <a:solidFill>
                  <a:srgbClr val="13233B"/>
                </a:solidFill>
                <a:latin typeface="Calibri" pitchFamily="34" charset="0"/>
                <a:ea typeface="Calibri" pitchFamily="34" charset="-122"/>
                <a:cs typeface="Calibri" pitchFamily="34" charset="-120"/>
              </a:rPr>
              <a:t>SFQ  (fair queueing, no AQM)</a:t>
            </a:r>
            <a:endParaRPr lang="en-US" sz="1300" dirty="0"/>
          </a:p>
        </p:txBody>
      </p:sp>
      <p:sp>
        <p:nvSpPr>
          <p:cNvPr id="11" name="Text 9"/>
          <p:cNvSpPr txBox="1"/>
          <p:nvPr/>
        </p:nvSpPr>
        <p:spPr>
          <a:xfrm>
            <a:off x="5486400" y="2386584"/>
            <a:ext cx="1828800" cy="329184"/>
          </a:xfrm>
          <a:prstGeom prst="rect">
            <a:avLst/>
          </a:prstGeom>
          <a:noFill/>
          <a:ln/>
        </p:spPr>
        <p:txBody>
          <a:bodyPr wrap="square" lIns="0" tIns="0" rIns="0" bIns="0" rtlCol="0" anchor="ctr"/>
          <a:lstStyle/>
          <a:p>
            <a:pPr indent="0" marL="0">
              <a:buNone/>
            </a:pPr>
            <a:r>
              <a:rPr lang="en-US" sz="1400" dirty="0">
                <a:solidFill>
                  <a:srgbClr val="1C7293"/>
                </a:solidFill>
                <a:latin typeface="Cambria" pitchFamily="34" charset="0"/>
                <a:ea typeface="Cambria" pitchFamily="34" charset="-122"/>
                <a:cs typeface="Cambria" pitchFamily="34" charset="-120"/>
              </a:rPr>
              <a:t>30.7 ms</a:t>
            </a:r>
            <a:endParaRPr lang="en-US" sz="1400" dirty="0"/>
          </a:p>
        </p:txBody>
      </p:sp>
      <p:sp>
        <p:nvSpPr>
          <p:cNvPr id="12" name="Text 10"/>
          <p:cNvSpPr txBox="1"/>
          <p:nvPr/>
        </p:nvSpPr>
        <p:spPr>
          <a:xfrm>
            <a:off x="7498080" y="2386584"/>
            <a:ext cx="1828800" cy="329184"/>
          </a:xfrm>
          <a:prstGeom prst="rect">
            <a:avLst/>
          </a:prstGeom>
          <a:noFill/>
          <a:ln/>
        </p:spPr>
        <p:txBody>
          <a:bodyPr wrap="square" lIns="0" tIns="0" rIns="0" bIns="0" rtlCol="0" anchor="ctr"/>
          <a:lstStyle/>
          <a:p>
            <a:pPr indent="0" marL="0">
              <a:buNone/>
            </a:pPr>
            <a:r>
              <a:rPr lang="en-US" sz="1400" b="1" dirty="0">
                <a:solidFill>
                  <a:srgbClr val="B23A48"/>
                </a:solidFill>
                <a:latin typeface="Cambria" pitchFamily="34" charset="0"/>
                <a:ea typeface="Cambria" pitchFamily="34" charset="-122"/>
                <a:cs typeface="Cambria" pitchFamily="34" charset="-120"/>
              </a:rPr>
              <a:t>294.3 ms</a:t>
            </a:r>
            <a:endParaRPr lang="en-US" sz="1400" dirty="0"/>
          </a:p>
        </p:txBody>
      </p:sp>
      <p:sp>
        <p:nvSpPr>
          <p:cNvPr id="13" name="Text 11"/>
          <p:cNvSpPr txBox="1"/>
          <p:nvPr/>
        </p:nvSpPr>
        <p:spPr>
          <a:xfrm>
            <a:off x="9601200" y="2404872"/>
            <a:ext cx="1463040" cy="292608"/>
          </a:xfrm>
          <a:prstGeom prst="rect">
            <a:avLst/>
          </a:prstGeom>
          <a:noFill/>
          <a:ln/>
        </p:spPr>
        <p:txBody>
          <a:bodyPr wrap="square" lIns="0" tIns="0" rIns="0" bIns="0" rtlCol="0" anchor="ctr"/>
          <a:lstStyle/>
          <a:p>
            <a:pPr indent="0" marL="0">
              <a:buNone/>
            </a:pPr>
            <a:r>
              <a:rPr lang="en-US" sz="1300" b="1" dirty="0">
                <a:solidFill>
                  <a:srgbClr val="B23A48"/>
                </a:solidFill>
                <a:latin typeface="Calibri" pitchFamily="34" charset="0"/>
                <a:ea typeface="Calibri" pitchFamily="34" charset="-122"/>
                <a:cs typeface="Calibri" pitchFamily="34" charset="-120"/>
              </a:rPr>
              <a:t>9.6x</a:t>
            </a:r>
            <a:endParaRPr lang="en-US" sz="1300" dirty="0"/>
          </a:p>
        </p:txBody>
      </p:sp>
      <p:sp>
        <p:nvSpPr>
          <p:cNvPr id="14" name="Shape 12"/>
          <p:cNvSpPr/>
          <p:nvPr/>
        </p:nvSpPr>
        <p:spPr>
          <a:xfrm>
            <a:off x="640080" y="2852928"/>
            <a:ext cx="10881360" cy="475488"/>
          </a:xfrm>
          <a:prstGeom prst="roundRect">
            <a:avLst>
              <a:gd name="adj" fmla="val 9615"/>
            </a:avLst>
          </a:prstGeom>
          <a:solidFill>
            <a:srgbClr val="F6FAFC"/>
          </a:solidFill>
          <a:ln w="6350">
            <a:solidFill>
              <a:srgbClr val="E2ECF2"/>
            </a:solidFill>
            <a:prstDash val="solid"/>
          </a:ln>
        </p:spPr>
      </p:sp>
      <p:sp>
        <p:nvSpPr>
          <p:cNvPr id="15" name="Text 13"/>
          <p:cNvSpPr txBox="1"/>
          <p:nvPr/>
        </p:nvSpPr>
        <p:spPr>
          <a:xfrm>
            <a:off x="914400" y="2953512"/>
            <a:ext cx="4480560" cy="292608"/>
          </a:xfrm>
          <a:prstGeom prst="rect">
            <a:avLst/>
          </a:prstGeom>
          <a:noFill/>
          <a:ln/>
        </p:spPr>
        <p:txBody>
          <a:bodyPr wrap="square" lIns="0" tIns="0" rIns="0" bIns="0" rtlCol="0" anchor="ctr"/>
          <a:lstStyle/>
          <a:p>
            <a:pPr indent="0" marL="0">
              <a:buNone/>
            </a:pPr>
            <a:r>
              <a:rPr lang="en-US" sz="1300" dirty="0">
                <a:solidFill>
                  <a:srgbClr val="13233B"/>
                </a:solidFill>
                <a:latin typeface="Calibri" pitchFamily="34" charset="0"/>
                <a:ea typeface="Calibri" pitchFamily="34" charset="-122"/>
                <a:cs typeface="Calibri" pitchFamily="34" charset="-120"/>
              </a:rPr>
              <a:t>FQ-PIE</a:t>
            </a:r>
            <a:endParaRPr lang="en-US" sz="1300" dirty="0"/>
          </a:p>
        </p:txBody>
      </p:sp>
      <p:sp>
        <p:nvSpPr>
          <p:cNvPr id="16" name="Text 14"/>
          <p:cNvSpPr txBox="1"/>
          <p:nvPr/>
        </p:nvSpPr>
        <p:spPr>
          <a:xfrm>
            <a:off x="5486400" y="2935224"/>
            <a:ext cx="1828800" cy="329184"/>
          </a:xfrm>
          <a:prstGeom prst="rect">
            <a:avLst/>
          </a:prstGeom>
          <a:noFill/>
          <a:ln/>
        </p:spPr>
        <p:txBody>
          <a:bodyPr wrap="square" lIns="0" tIns="0" rIns="0" bIns="0" rtlCol="0" anchor="ctr"/>
          <a:lstStyle/>
          <a:p>
            <a:pPr indent="0" marL="0">
              <a:buNone/>
            </a:pPr>
            <a:r>
              <a:rPr lang="en-US" sz="1400" dirty="0">
                <a:solidFill>
                  <a:srgbClr val="1C7293"/>
                </a:solidFill>
                <a:latin typeface="Cambria" pitchFamily="34" charset="0"/>
                <a:ea typeface="Cambria" pitchFamily="34" charset="-122"/>
                <a:cs typeface="Cambria" pitchFamily="34" charset="-120"/>
              </a:rPr>
              <a:t>22.0 ms</a:t>
            </a:r>
            <a:endParaRPr lang="en-US" sz="1400" dirty="0"/>
          </a:p>
        </p:txBody>
      </p:sp>
      <p:sp>
        <p:nvSpPr>
          <p:cNvPr id="17" name="Text 15"/>
          <p:cNvSpPr txBox="1"/>
          <p:nvPr/>
        </p:nvSpPr>
        <p:spPr>
          <a:xfrm>
            <a:off x="7498080" y="2935224"/>
            <a:ext cx="1828800" cy="329184"/>
          </a:xfrm>
          <a:prstGeom prst="rect">
            <a:avLst/>
          </a:prstGeom>
          <a:noFill/>
          <a:ln/>
        </p:spPr>
        <p:txBody>
          <a:bodyPr wrap="square" lIns="0" tIns="0" rIns="0" bIns="0" rtlCol="0" anchor="ctr"/>
          <a:lstStyle/>
          <a:p>
            <a:pPr indent="0" marL="0">
              <a:buNone/>
            </a:pPr>
            <a:r>
              <a:rPr lang="en-US" sz="1400" b="1" dirty="0">
                <a:solidFill>
                  <a:srgbClr val="3A4A5F"/>
                </a:solidFill>
                <a:latin typeface="Cambria" pitchFamily="34" charset="0"/>
                <a:ea typeface="Cambria" pitchFamily="34" charset="-122"/>
                <a:cs typeface="Cambria" pitchFamily="34" charset="-120"/>
              </a:rPr>
              <a:t>55.2 ms</a:t>
            </a:r>
            <a:endParaRPr lang="en-US" sz="1400" dirty="0"/>
          </a:p>
        </p:txBody>
      </p:sp>
      <p:sp>
        <p:nvSpPr>
          <p:cNvPr id="18" name="Text 16"/>
          <p:cNvSpPr txBox="1"/>
          <p:nvPr/>
        </p:nvSpPr>
        <p:spPr>
          <a:xfrm>
            <a:off x="9601200" y="2953512"/>
            <a:ext cx="1463040" cy="292608"/>
          </a:xfrm>
          <a:prstGeom prst="rect">
            <a:avLst/>
          </a:prstGeom>
          <a:noFill/>
          <a:ln/>
        </p:spPr>
        <p:txBody>
          <a:bodyPr wrap="square" lIns="0" tIns="0" rIns="0" bIns="0" rtlCol="0" anchor="ctr"/>
          <a:lstStyle/>
          <a:p>
            <a:pPr indent="0" marL="0">
              <a:buNone/>
            </a:pPr>
            <a:r>
              <a:rPr lang="en-US" sz="1300" b="1" dirty="0">
                <a:solidFill>
                  <a:srgbClr val="3A4A5F"/>
                </a:solidFill>
                <a:latin typeface="Calibri" pitchFamily="34" charset="0"/>
                <a:ea typeface="Calibri" pitchFamily="34" charset="-122"/>
                <a:cs typeface="Calibri" pitchFamily="34" charset="-120"/>
              </a:rPr>
              <a:t>2.5x</a:t>
            </a:r>
            <a:endParaRPr lang="en-US" sz="1300" dirty="0"/>
          </a:p>
        </p:txBody>
      </p:sp>
      <p:sp>
        <p:nvSpPr>
          <p:cNvPr id="19" name="Shape 17"/>
          <p:cNvSpPr/>
          <p:nvPr/>
        </p:nvSpPr>
        <p:spPr>
          <a:xfrm>
            <a:off x="640080" y="3401568"/>
            <a:ext cx="10881360" cy="475488"/>
          </a:xfrm>
          <a:prstGeom prst="roundRect">
            <a:avLst>
              <a:gd name="adj" fmla="val 9615"/>
            </a:avLst>
          </a:prstGeom>
          <a:solidFill>
            <a:srgbClr val="EEF4F8"/>
          </a:solidFill>
          <a:ln w="6350">
            <a:solidFill>
              <a:srgbClr val="E2ECF2"/>
            </a:solidFill>
            <a:prstDash val="solid"/>
          </a:ln>
        </p:spPr>
      </p:sp>
      <p:sp>
        <p:nvSpPr>
          <p:cNvPr id="20" name="Text 18"/>
          <p:cNvSpPr txBox="1"/>
          <p:nvPr/>
        </p:nvSpPr>
        <p:spPr>
          <a:xfrm>
            <a:off x="914400" y="3502152"/>
            <a:ext cx="4480560" cy="292608"/>
          </a:xfrm>
          <a:prstGeom prst="rect">
            <a:avLst/>
          </a:prstGeom>
          <a:noFill/>
          <a:ln/>
        </p:spPr>
        <p:txBody>
          <a:bodyPr wrap="square" lIns="0" tIns="0" rIns="0" bIns="0" rtlCol="0" anchor="ctr"/>
          <a:lstStyle/>
          <a:p>
            <a:pPr indent="0" marL="0">
              <a:buNone/>
            </a:pPr>
            <a:r>
              <a:rPr lang="en-US" sz="1300" dirty="0">
                <a:solidFill>
                  <a:srgbClr val="13233B"/>
                </a:solidFill>
                <a:latin typeface="Calibri" pitchFamily="34" charset="0"/>
                <a:ea typeface="Calibri" pitchFamily="34" charset="-122"/>
                <a:cs typeface="Calibri" pitchFamily="34" charset="-120"/>
              </a:rPr>
              <a:t>fq_codel</a:t>
            </a:r>
            <a:endParaRPr lang="en-US" sz="1300" dirty="0"/>
          </a:p>
        </p:txBody>
      </p:sp>
      <p:sp>
        <p:nvSpPr>
          <p:cNvPr id="21" name="Text 19"/>
          <p:cNvSpPr txBox="1"/>
          <p:nvPr/>
        </p:nvSpPr>
        <p:spPr>
          <a:xfrm>
            <a:off x="5486400" y="3483864"/>
            <a:ext cx="1828800" cy="329184"/>
          </a:xfrm>
          <a:prstGeom prst="rect">
            <a:avLst/>
          </a:prstGeom>
          <a:noFill/>
          <a:ln/>
        </p:spPr>
        <p:txBody>
          <a:bodyPr wrap="square" lIns="0" tIns="0" rIns="0" bIns="0" rtlCol="0" anchor="ctr"/>
          <a:lstStyle/>
          <a:p>
            <a:pPr indent="0" marL="0">
              <a:buNone/>
            </a:pPr>
            <a:r>
              <a:rPr lang="en-US" sz="1400" dirty="0">
                <a:solidFill>
                  <a:srgbClr val="1C7293"/>
                </a:solidFill>
                <a:latin typeface="Cambria" pitchFamily="34" charset="0"/>
                <a:ea typeface="Cambria" pitchFamily="34" charset="-122"/>
                <a:cs typeface="Cambria" pitchFamily="34" charset="-120"/>
              </a:rPr>
              <a:t>22.4 ms</a:t>
            </a:r>
            <a:endParaRPr lang="en-US" sz="1400" dirty="0"/>
          </a:p>
        </p:txBody>
      </p:sp>
      <p:sp>
        <p:nvSpPr>
          <p:cNvPr id="22" name="Text 20"/>
          <p:cNvSpPr txBox="1"/>
          <p:nvPr/>
        </p:nvSpPr>
        <p:spPr>
          <a:xfrm>
            <a:off x="7498080" y="3483864"/>
            <a:ext cx="1828800" cy="329184"/>
          </a:xfrm>
          <a:prstGeom prst="rect">
            <a:avLst/>
          </a:prstGeom>
          <a:noFill/>
          <a:ln/>
        </p:spPr>
        <p:txBody>
          <a:bodyPr wrap="square" lIns="0" tIns="0" rIns="0" bIns="0" rtlCol="0" anchor="ctr"/>
          <a:lstStyle/>
          <a:p>
            <a:pPr indent="0" marL="0">
              <a:buNone/>
            </a:pPr>
            <a:r>
              <a:rPr lang="en-US" sz="1400" b="1" dirty="0">
                <a:solidFill>
                  <a:srgbClr val="3A4A5F"/>
                </a:solidFill>
                <a:latin typeface="Cambria" pitchFamily="34" charset="0"/>
                <a:ea typeface="Cambria" pitchFamily="34" charset="-122"/>
                <a:cs typeface="Cambria" pitchFamily="34" charset="-120"/>
              </a:rPr>
              <a:t>36.4 ms</a:t>
            </a:r>
            <a:endParaRPr lang="en-US" sz="1400" dirty="0"/>
          </a:p>
        </p:txBody>
      </p:sp>
      <p:sp>
        <p:nvSpPr>
          <p:cNvPr id="23" name="Text 21"/>
          <p:cNvSpPr txBox="1"/>
          <p:nvPr/>
        </p:nvSpPr>
        <p:spPr>
          <a:xfrm>
            <a:off x="9601200" y="3502152"/>
            <a:ext cx="1463040" cy="292608"/>
          </a:xfrm>
          <a:prstGeom prst="rect">
            <a:avLst/>
          </a:prstGeom>
          <a:noFill/>
          <a:ln/>
        </p:spPr>
        <p:txBody>
          <a:bodyPr wrap="square" lIns="0" tIns="0" rIns="0" bIns="0" rtlCol="0" anchor="ctr"/>
          <a:lstStyle/>
          <a:p>
            <a:pPr indent="0" marL="0">
              <a:buNone/>
            </a:pPr>
            <a:r>
              <a:rPr lang="en-US" sz="1300" b="1" dirty="0">
                <a:solidFill>
                  <a:srgbClr val="3A4A5F"/>
                </a:solidFill>
                <a:latin typeface="Calibri" pitchFamily="34" charset="0"/>
                <a:ea typeface="Calibri" pitchFamily="34" charset="-122"/>
                <a:cs typeface="Calibri" pitchFamily="34" charset="-120"/>
              </a:rPr>
              <a:t>1.6x</a:t>
            </a:r>
            <a:endParaRPr lang="en-US" sz="1300" dirty="0"/>
          </a:p>
        </p:txBody>
      </p:sp>
      <p:sp>
        <p:nvSpPr>
          <p:cNvPr id="24" name="Shape 22"/>
          <p:cNvSpPr/>
          <p:nvPr/>
        </p:nvSpPr>
        <p:spPr>
          <a:xfrm>
            <a:off x="640080" y="3950208"/>
            <a:ext cx="10881360" cy="475488"/>
          </a:xfrm>
          <a:prstGeom prst="roundRect">
            <a:avLst>
              <a:gd name="adj" fmla="val 9615"/>
            </a:avLst>
          </a:prstGeom>
          <a:solidFill>
            <a:srgbClr val="F6FAFC"/>
          </a:solidFill>
          <a:ln w="6350">
            <a:solidFill>
              <a:srgbClr val="E2ECF2"/>
            </a:solidFill>
            <a:prstDash val="solid"/>
          </a:ln>
        </p:spPr>
      </p:sp>
      <p:sp>
        <p:nvSpPr>
          <p:cNvPr id="25" name="Text 23"/>
          <p:cNvSpPr txBox="1"/>
          <p:nvPr/>
        </p:nvSpPr>
        <p:spPr>
          <a:xfrm>
            <a:off x="914400" y="4050792"/>
            <a:ext cx="4480560" cy="292608"/>
          </a:xfrm>
          <a:prstGeom prst="rect">
            <a:avLst/>
          </a:prstGeom>
          <a:noFill/>
          <a:ln/>
        </p:spPr>
        <p:txBody>
          <a:bodyPr wrap="square" lIns="0" tIns="0" rIns="0" bIns="0" rtlCol="0" anchor="ctr"/>
          <a:lstStyle/>
          <a:p>
            <a:pPr indent="0" marL="0">
              <a:buNone/>
            </a:pPr>
            <a:r>
              <a:rPr lang="en-US" sz="1300" dirty="0">
                <a:solidFill>
                  <a:srgbClr val="13233B"/>
                </a:solidFill>
                <a:latin typeface="Calibri" pitchFamily="34" charset="0"/>
                <a:ea typeface="Calibri" pitchFamily="34" charset="-122"/>
                <a:cs typeface="Calibri" pitchFamily="34" charset="-120"/>
              </a:rPr>
              <a:t>CAKE</a:t>
            </a:r>
            <a:endParaRPr lang="en-US" sz="1300" dirty="0"/>
          </a:p>
        </p:txBody>
      </p:sp>
      <p:sp>
        <p:nvSpPr>
          <p:cNvPr id="26" name="Text 24"/>
          <p:cNvSpPr txBox="1"/>
          <p:nvPr/>
        </p:nvSpPr>
        <p:spPr>
          <a:xfrm>
            <a:off x="5486400" y="4032504"/>
            <a:ext cx="1828800" cy="329184"/>
          </a:xfrm>
          <a:prstGeom prst="rect">
            <a:avLst/>
          </a:prstGeom>
          <a:noFill/>
          <a:ln/>
        </p:spPr>
        <p:txBody>
          <a:bodyPr wrap="square" lIns="0" tIns="0" rIns="0" bIns="0" rtlCol="0" anchor="ctr"/>
          <a:lstStyle/>
          <a:p>
            <a:pPr indent="0" marL="0">
              <a:buNone/>
            </a:pPr>
            <a:r>
              <a:rPr lang="en-US" sz="1400" dirty="0">
                <a:solidFill>
                  <a:srgbClr val="1C7293"/>
                </a:solidFill>
                <a:latin typeface="Cambria" pitchFamily="34" charset="0"/>
                <a:ea typeface="Cambria" pitchFamily="34" charset="-122"/>
                <a:cs typeface="Cambria" pitchFamily="34" charset="-120"/>
              </a:rPr>
              <a:t>21.8 ms</a:t>
            </a:r>
            <a:endParaRPr lang="en-US" sz="1400" dirty="0"/>
          </a:p>
        </p:txBody>
      </p:sp>
      <p:sp>
        <p:nvSpPr>
          <p:cNvPr id="27" name="Text 25"/>
          <p:cNvSpPr txBox="1"/>
          <p:nvPr/>
        </p:nvSpPr>
        <p:spPr>
          <a:xfrm>
            <a:off x="7498080" y="4032504"/>
            <a:ext cx="1828800" cy="329184"/>
          </a:xfrm>
          <a:prstGeom prst="rect">
            <a:avLst/>
          </a:prstGeom>
          <a:noFill/>
          <a:ln/>
        </p:spPr>
        <p:txBody>
          <a:bodyPr wrap="square" lIns="0" tIns="0" rIns="0" bIns="0" rtlCol="0" anchor="ctr"/>
          <a:lstStyle/>
          <a:p>
            <a:pPr indent="0" marL="0">
              <a:buNone/>
            </a:pPr>
            <a:r>
              <a:rPr lang="en-US" sz="1400" b="1" dirty="0">
                <a:solidFill>
                  <a:srgbClr val="3A4A5F"/>
                </a:solidFill>
                <a:latin typeface="Cambria" pitchFamily="34" charset="0"/>
                <a:ea typeface="Cambria" pitchFamily="34" charset="-122"/>
                <a:cs typeface="Cambria" pitchFamily="34" charset="-120"/>
              </a:rPr>
              <a:t>33.6 ms</a:t>
            </a:r>
            <a:endParaRPr lang="en-US" sz="1400" dirty="0"/>
          </a:p>
        </p:txBody>
      </p:sp>
      <p:sp>
        <p:nvSpPr>
          <p:cNvPr id="28" name="Text 26"/>
          <p:cNvSpPr txBox="1"/>
          <p:nvPr/>
        </p:nvSpPr>
        <p:spPr>
          <a:xfrm>
            <a:off x="9601200" y="4050792"/>
            <a:ext cx="1463040" cy="292608"/>
          </a:xfrm>
          <a:prstGeom prst="rect">
            <a:avLst/>
          </a:prstGeom>
          <a:noFill/>
          <a:ln/>
        </p:spPr>
        <p:txBody>
          <a:bodyPr wrap="square" lIns="0" tIns="0" rIns="0" bIns="0" rtlCol="0" anchor="ctr"/>
          <a:lstStyle/>
          <a:p>
            <a:pPr indent="0" marL="0">
              <a:buNone/>
            </a:pPr>
            <a:r>
              <a:rPr lang="en-US" sz="1300" b="1" dirty="0">
                <a:solidFill>
                  <a:srgbClr val="3A4A5F"/>
                </a:solidFill>
                <a:latin typeface="Calibri" pitchFamily="34" charset="0"/>
                <a:ea typeface="Calibri" pitchFamily="34" charset="-122"/>
                <a:cs typeface="Calibri" pitchFamily="34" charset="-120"/>
              </a:rPr>
              <a:t>1.5x</a:t>
            </a:r>
            <a:endParaRPr lang="en-US" sz="1300" dirty="0"/>
          </a:p>
        </p:txBody>
      </p:sp>
      <p:sp>
        <p:nvSpPr>
          <p:cNvPr id="29" name="Shape 27"/>
          <p:cNvSpPr/>
          <p:nvPr/>
        </p:nvSpPr>
        <p:spPr>
          <a:xfrm>
            <a:off x="640080" y="4498848"/>
            <a:ext cx="10881360" cy="475488"/>
          </a:xfrm>
          <a:prstGeom prst="roundRect">
            <a:avLst>
              <a:gd name="adj" fmla="val 9615"/>
            </a:avLst>
          </a:prstGeom>
          <a:solidFill>
            <a:srgbClr val="EEF4F8"/>
          </a:solidFill>
          <a:ln w="6350">
            <a:solidFill>
              <a:srgbClr val="E2ECF2"/>
            </a:solidFill>
            <a:prstDash val="solid"/>
          </a:ln>
        </p:spPr>
      </p:sp>
      <p:sp>
        <p:nvSpPr>
          <p:cNvPr id="30" name="Text 28"/>
          <p:cNvSpPr txBox="1"/>
          <p:nvPr/>
        </p:nvSpPr>
        <p:spPr>
          <a:xfrm>
            <a:off x="914400" y="4599432"/>
            <a:ext cx="4480560" cy="292608"/>
          </a:xfrm>
          <a:prstGeom prst="rect">
            <a:avLst/>
          </a:prstGeom>
          <a:noFill/>
          <a:ln/>
        </p:spPr>
        <p:txBody>
          <a:bodyPr wrap="square" lIns="0" tIns="0" rIns="0" bIns="0" rtlCol="0" anchor="ctr"/>
          <a:lstStyle/>
          <a:p>
            <a:pPr indent="0" marL="0">
              <a:buNone/>
            </a:pPr>
            <a:r>
              <a:rPr lang="en-US" sz="1300" dirty="0">
                <a:solidFill>
                  <a:srgbClr val="13233B"/>
                </a:solidFill>
                <a:latin typeface="Calibri" pitchFamily="34" charset="0"/>
                <a:ea typeface="Calibri" pitchFamily="34" charset="-122"/>
                <a:cs typeface="Calibri" pitchFamily="34" charset="-120"/>
              </a:rPr>
              <a:t>CoDel  (single queue)</a:t>
            </a:r>
            <a:endParaRPr lang="en-US" sz="1300" dirty="0"/>
          </a:p>
        </p:txBody>
      </p:sp>
      <p:sp>
        <p:nvSpPr>
          <p:cNvPr id="31" name="Text 29"/>
          <p:cNvSpPr txBox="1"/>
          <p:nvPr/>
        </p:nvSpPr>
        <p:spPr>
          <a:xfrm>
            <a:off x="5486400" y="4581144"/>
            <a:ext cx="1828800" cy="329184"/>
          </a:xfrm>
          <a:prstGeom prst="rect">
            <a:avLst/>
          </a:prstGeom>
          <a:noFill/>
          <a:ln/>
        </p:spPr>
        <p:txBody>
          <a:bodyPr wrap="square" lIns="0" tIns="0" rIns="0" bIns="0" rtlCol="0" anchor="ctr"/>
          <a:lstStyle/>
          <a:p>
            <a:pPr indent="0" marL="0">
              <a:buNone/>
            </a:pPr>
            <a:r>
              <a:rPr lang="en-US" sz="1400" dirty="0">
                <a:solidFill>
                  <a:srgbClr val="1C7293"/>
                </a:solidFill>
                <a:latin typeface="Cambria" pitchFamily="34" charset="0"/>
                <a:ea typeface="Cambria" pitchFamily="34" charset="-122"/>
                <a:cs typeface="Cambria" pitchFamily="34" charset="-120"/>
              </a:rPr>
              <a:t>39.2 ms</a:t>
            </a:r>
            <a:endParaRPr lang="en-US" sz="1400" dirty="0"/>
          </a:p>
        </p:txBody>
      </p:sp>
      <p:sp>
        <p:nvSpPr>
          <p:cNvPr id="32" name="Text 30"/>
          <p:cNvSpPr txBox="1"/>
          <p:nvPr/>
        </p:nvSpPr>
        <p:spPr>
          <a:xfrm>
            <a:off x="7498080" y="4581144"/>
            <a:ext cx="1828800" cy="329184"/>
          </a:xfrm>
          <a:prstGeom prst="rect">
            <a:avLst/>
          </a:prstGeom>
          <a:noFill/>
          <a:ln/>
        </p:spPr>
        <p:txBody>
          <a:bodyPr wrap="square" lIns="0" tIns="0" rIns="0" bIns="0" rtlCol="0" anchor="ctr"/>
          <a:lstStyle/>
          <a:p>
            <a:pPr indent="0" marL="0">
              <a:buNone/>
            </a:pPr>
            <a:r>
              <a:rPr lang="en-US" sz="1400" b="1" dirty="0">
                <a:solidFill>
                  <a:srgbClr val="2C7A5A"/>
                </a:solidFill>
                <a:latin typeface="Cambria" pitchFamily="34" charset="0"/>
                <a:ea typeface="Cambria" pitchFamily="34" charset="-122"/>
                <a:cs typeface="Cambria" pitchFamily="34" charset="-120"/>
              </a:rPr>
              <a:t>44.4 ms</a:t>
            </a:r>
            <a:endParaRPr lang="en-US" sz="1400" dirty="0"/>
          </a:p>
        </p:txBody>
      </p:sp>
      <p:sp>
        <p:nvSpPr>
          <p:cNvPr id="33" name="Text 31"/>
          <p:cNvSpPr txBox="1"/>
          <p:nvPr/>
        </p:nvSpPr>
        <p:spPr>
          <a:xfrm>
            <a:off x="9601200" y="4599432"/>
            <a:ext cx="1463040" cy="292608"/>
          </a:xfrm>
          <a:prstGeom prst="rect">
            <a:avLst/>
          </a:prstGeom>
          <a:noFill/>
          <a:ln/>
        </p:spPr>
        <p:txBody>
          <a:bodyPr wrap="square" lIns="0" tIns="0" rIns="0" bIns="0" rtlCol="0" anchor="ctr"/>
          <a:lstStyle/>
          <a:p>
            <a:pPr indent="0" marL="0">
              <a:buNone/>
            </a:pPr>
            <a:r>
              <a:rPr lang="en-US" sz="1300" b="1" dirty="0">
                <a:solidFill>
                  <a:srgbClr val="2C7A5A"/>
                </a:solidFill>
                <a:latin typeface="Calibri" pitchFamily="34" charset="0"/>
                <a:ea typeface="Calibri" pitchFamily="34" charset="-122"/>
                <a:cs typeface="Calibri" pitchFamily="34" charset="-120"/>
              </a:rPr>
              <a:t>1.1x</a:t>
            </a:r>
            <a:endParaRPr lang="en-US" sz="1300" dirty="0"/>
          </a:p>
        </p:txBody>
      </p:sp>
      <p:sp>
        <p:nvSpPr>
          <p:cNvPr id="34" name="Shape 32"/>
          <p:cNvSpPr/>
          <p:nvPr/>
        </p:nvSpPr>
        <p:spPr>
          <a:xfrm>
            <a:off x="640080" y="5166360"/>
            <a:ext cx="10881360" cy="1143000"/>
          </a:xfrm>
          <a:prstGeom prst="roundRect">
            <a:avLst>
              <a:gd name="adj" fmla="val 6400"/>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35" name="Text 33"/>
          <p:cNvSpPr txBox="1"/>
          <p:nvPr/>
        </p:nvSpPr>
        <p:spPr>
          <a:xfrm>
            <a:off x="960120" y="5321808"/>
            <a:ext cx="10241280" cy="347472"/>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Quoting only the probe inverts the ranking.</a:t>
            </a:r>
            <a:endParaRPr lang="en-US" sz="1700" dirty="0"/>
          </a:p>
        </p:txBody>
      </p:sp>
      <p:sp>
        <p:nvSpPr>
          <p:cNvPr id="36" name="Text 34"/>
          <p:cNvSpPr txBox="1"/>
          <p:nvPr/>
        </p:nvSpPr>
        <p:spPr>
          <a:xfrm>
            <a:off x="960120" y="5669280"/>
            <a:ext cx="10241280" cy="594360"/>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By probe RTT, SFQ (30.7 ms) beats CoDel (39.2 ms). By what the data flows actually experience, SFQ is 294 ms against CoDel's 44 ms, nearly 7x worse. SFQ gives the probe its own short queue but has no AQM, so the bulk queues sit at its 127-packet limit throughout.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we run a controller that does nothing</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CHOICE  ·  a sham condition: the controller polls at the same cadence but applies no change</a:t>
            </a:r>
            <a:endParaRPr lang="en-US" sz="1400" dirty="0"/>
          </a:p>
        </p:txBody>
      </p:sp>
      <p:sp>
        <p:nvSpPr>
          <p:cNvPr id="4" name="Text 2"/>
          <p:cNvSpPr txBox="1"/>
          <p:nvPr/>
        </p:nvSpPr>
        <p:spPr>
          <a:xfrm>
            <a:off x="640080" y="1554480"/>
            <a:ext cx="10881360" cy="77724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The controller is an extra process polling every 500 ms. In a 2-vCPU emulated VM that alone can add latency. Without a control condition, "the controller made it slower" and "the controller's decisions made it slower" are indistinguishable.</a:t>
            </a:r>
            <a:endParaRPr lang="en-US" sz="1500" dirty="0"/>
          </a:p>
        </p:txBody>
      </p:sp>
      <p:sp>
        <p:nvSpPr>
          <p:cNvPr id="5" name="Shape 3"/>
          <p:cNvSpPr/>
          <p:nvPr/>
        </p:nvSpPr>
        <p:spPr>
          <a:xfrm>
            <a:off x="640080" y="2514600"/>
            <a:ext cx="3429000" cy="1920240"/>
          </a:xfrm>
          <a:prstGeom prst="roundRect">
            <a:avLst>
              <a:gd name="adj" fmla="val 381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6" name="Shape 4"/>
          <p:cNvSpPr/>
          <p:nvPr/>
        </p:nvSpPr>
        <p:spPr>
          <a:xfrm>
            <a:off x="914400" y="2724912"/>
            <a:ext cx="384048" cy="384048"/>
          </a:xfrm>
          <a:prstGeom prst="ellipse">
            <a:avLst/>
          </a:prstGeom>
          <a:solidFill>
            <a:srgbClr val="7B8A9C"/>
          </a:solidFill>
          <a:ln w="12700">
            <a:solidFill>
              <a:srgbClr val="333333"/>
            </a:solidFill>
            <a:prstDash val="solid"/>
          </a:ln>
        </p:spPr>
      </p:sp>
      <p:sp>
        <p:nvSpPr>
          <p:cNvPr id="7" name="Text 5"/>
          <p:cNvSpPr txBox="1"/>
          <p:nvPr/>
        </p:nvSpPr>
        <p:spPr>
          <a:xfrm>
            <a:off x="91440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2743200"/>
            <a:ext cx="2468880" cy="365760"/>
          </a:xfrm>
          <a:prstGeom prst="rect">
            <a:avLst/>
          </a:prstGeom>
          <a:noFill/>
          <a:ln/>
        </p:spPr>
        <p:txBody>
          <a:bodyPr wrap="square" lIns="0" tIns="0" rIns="0" bIns="0" rtlCol="0" anchor="ctr"/>
          <a:lstStyle/>
          <a:p>
            <a:pPr indent="0" marL="0">
              <a:buNone/>
            </a:pPr>
            <a:r>
              <a:rPr lang="en-US" sz="1500" b="1" dirty="0">
                <a:solidFill>
                  <a:srgbClr val="13233B"/>
                </a:solidFill>
                <a:latin typeface="Calibri" pitchFamily="34" charset="0"/>
                <a:ea typeface="Calibri" pitchFamily="34" charset="-122"/>
                <a:cs typeface="Calibri" pitchFamily="34" charset="-120"/>
              </a:rPr>
              <a:t>static fq_codel</a:t>
            </a:r>
            <a:endParaRPr lang="en-US" sz="1500" dirty="0"/>
          </a:p>
        </p:txBody>
      </p:sp>
      <p:sp>
        <p:nvSpPr>
          <p:cNvPr id="9" name="Text 7"/>
          <p:cNvSpPr txBox="1"/>
          <p:nvPr/>
        </p:nvSpPr>
        <p:spPr>
          <a:xfrm>
            <a:off x="914400" y="3246120"/>
            <a:ext cx="2880360" cy="36576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no controller at all</a:t>
            </a:r>
            <a:endParaRPr lang="en-US" sz="1300" dirty="0"/>
          </a:p>
        </p:txBody>
      </p:sp>
      <p:sp>
        <p:nvSpPr>
          <p:cNvPr id="10" name="Text 8"/>
          <p:cNvSpPr txBox="1"/>
          <p:nvPr/>
        </p:nvSpPr>
        <p:spPr>
          <a:xfrm>
            <a:off x="914400" y="3703320"/>
            <a:ext cx="2880360" cy="548640"/>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baseline</a:t>
            </a:r>
            <a:endParaRPr lang="en-US" sz="1300" dirty="0"/>
          </a:p>
        </p:txBody>
      </p:sp>
      <p:sp>
        <p:nvSpPr>
          <p:cNvPr id="11" name="Shape 9"/>
          <p:cNvSpPr/>
          <p:nvPr/>
        </p:nvSpPr>
        <p:spPr>
          <a:xfrm>
            <a:off x="4343400" y="2514600"/>
            <a:ext cx="3429000" cy="1920240"/>
          </a:xfrm>
          <a:prstGeom prst="roundRect">
            <a:avLst>
              <a:gd name="adj" fmla="val 381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2" name="Shape 10"/>
          <p:cNvSpPr/>
          <p:nvPr/>
        </p:nvSpPr>
        <p:spPr>
          <a:xfrm>
            <a:off x="4617720" y="2724912"/>
            <a:ext cx="384048" cy="384048"/>
          </a:xfrm>
          <a:prstGeom prst="ellipse">
            <a:avLst/>
          </a:prstGeom>
          <a:solidFill>
            <a:srgbClr val="1C7293"/>
          </a:solidFill>
          <a:ln w="12700">
            <a:solidFill>
              <a:srgbClr val="333333"/>
            </a:solidFill>
            <a:prstDash val="solid"/>
          </a:ln>
        </p:spPr>
      </p:sp>
      <p:sp>
        <p:nvSpPr>
          <p:cNvPr id="13" name="Text 11"/>
          <p:cNvSpPr txBox="1"/>
          <p:nvPr/>
        </p:nvSpPr>
        <p:spPr>
          <a:xfrm>
            <a:off x="461772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120640" y="2743200"/>
            <a:ext cx="2468880" cy="365760"/>
          </a:xfrm>
          <a:prstGeom prst="rect">
            <a:avLst/>
          </a:prstGeom>
          <a:noFill/>
          <a:ln/>
        </p:spPr>
        <p:txBody>
          <a:bodyPr wrap="square" lIns="0" tIns="0" rIns="0" bIns="0" rtlCol="0" anchor="ctr"/>
          <a:lstStyle/>
          <a:p>
            <a:pPr indent="0" marL="0">
              <a:buNone/>
            </a:pPr>
            <a:r>
              <a:rPr lang="en-US" sz="1500" b="1" dirty="0">
                <a:solidFill>
                  <a:srgbClr val="13233B"/>
                </a:solidFill>
                <a:latin typeface="Calibri" pitchFamily="34" charset="0"/>
                <a:ea typeface="Calibri" pitchFamily="34" charset="-122"/>
                <a:cs typeface="Calibri" pitchFamily="34" charset="-120"/>
              </a:rPr>
              <a:t>+ sham controller</a:t>
            </a:r>
            <a:endParaRPr lang="en-US" sz="1500" dirty="0"/>
          </a:p>
        </p:txBody>
      </p:sp>
      <p:sp>
        <p:nvSpPr>
          <p:cNvPr id="15" name="Text 13"/>
          <p:cNvSpPr txBox="1"/>
          <p:nvPr/>
        </p:nvSpPr>
        <p:spPr>
          <a:xfrm>
            <a:off x="4617720" y="3246120"/>
            <a:ext cx="2880360" cy="36576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polls, changes nothing</a:t>
            </a:r>
            <a:endParaRPr lang="en-US" sz="1300" dirty="0"/>
          </a:p>
        </p:txBody>
      </p:sp>
      <p:sp>
        <p:nvSpPr>
          <p:cNvPr id="16" name="Text 14"/>
          <p:cNvSpPr txBox="1"/>
          <p:nvPr/>
        </p:nvSpPr>
        <p:spPr>
          <a:xfrm>
            <a:off x="4617720" y="3703320"/>
            <a:ext cx="2880360" cy="5486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isolates CPU cost</a:t>
            </a:r>
            <a:endParaRPr lang="en-US" sz="1300" dirty="0"/>
          </a:p>
        </p:txBody>
      </p:sp>
      <p:sp>
        <p:nvSpPr>
          <p:cNvPr id="17" name="Shape 15"/>
          <p:cNvSpPr/>
          <p:nvPr/>
        </p:nvSpPr>
        <p:spPr>
          <a:xfrm>
            <a:off x="8046720" y="2514600"/>
            <a:ext cx="3429000" cy="1920240"/>
          </a:xfrm>
          <a:prstGeom prst="roundRect">
            <a:avLst>
              <a:gd name="adj" fmla="val 381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8" name="Shape 16"/>
          <p:cNvSpPr/>
          <p:nvPr/>
        </p:nvSpPr>
        <p:spPr>
          <a:xfrm>
            <a:off x="8321040" y="2724912"/>
            <a:ext cx="384048" cy="384048"/>
          </a:xfrm>
          <a:prstGeom prst="ellipse">
            <a:avLst/>
          </a:prstGeom>
          <a:solidFill>
            <a:srgbClr val="065A82"/>
          </a:solidFill>
          <a:ln w="12700">
            <a:solidFill>
              <a:srgbClr val="333333"/>
            </a:solidFill>
            <a:prstDash val="solid"/>
          </a:ln>
        </p:spPr>
      </p:sp>
      <p:sp>
        <p:nvSpPr>
          <p:cNvPr id="19" name="Text 17"/>
          <p:cNvSpPr txBox="1"/>
          <p:nvPr/>
        </p:nvSpPr>
        <p:spPr>
          <a:xfrm>
            <a:off x="832104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823960" y="2743200"/>
            <a:ext cx="2468880" cy="365760"/>
          </a:xfrm>
          <a:prstGeom prst="rect">
            <a:avLst/>
          </a:prstGeom>
          <a:noFill/>
          <a:ln/>
        </p:spPr>
        <p:txBody>
          <a:bodyPr wrap="square" lIns="0" tIns="0" rIns="0" bIns="0" rtlCol="0" anchor="ctr"/>
          <a:lstStyle/>
          <a:p>
            <a:pPr indent="0" marL="0">
              <a:buNone/>
            </a:pPr>
            <a:r>
              <a:rPr lang="en-US" sz="1500" b="1" dirty="0">
                <a:solidFill>
                  <a:srgbClr val="13233B"/>
                </a:solidFill>
                <a:latin typeface="Calibri" pitchFamily="34" charset="0"/>
                <a:ea typeface="Calibri" pitchFamily="34" charset="-122"/>
                <a:cs typeface="Calibri" pitchFamily="34" charset="-120"/>
              </a:rPr>
              <a:t>+ ACAPE</a:t>
            </a:r>
            <a:endParaRPr lang="en-US" sz="1500" dirty="0"/>
          </a:p>
        </p:txBody>
      </p:sp>
      <p:sp>
        <p:nvSpPr>
          <p:cNvPr id="21" name="Text 19"/>
          <p:cNvSpPr txBox="1"/>
          <p:nvPr/>
        </p:nvSpPr>
        <p:spPr>
          <a:xfrm>
            <a:off x="8321040" y="3246120"/>
            <a:ext cx="2880360" cy="36576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polls and adapts</a:t>
            </a:r>
            <a:endParaRPr lang="en-US" sz="1300" dirty="0"/>
          </a:p>
        </p:txBody>
      </p:sp>
      <p:sp>
        <p:nvSpPr>
          <p:cNvPr id="22" name="Text 20"/>
          <p:cNvSpPr txBox="1"/>
          <p:nvPr/>
        </p:nvSpPr>
        <p:spPr>
          <a:xfrm>
            <a:off x="8321040" y="3703320"/>
            <a:ext cx="2880360" cy="5486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isolates the decisions</a:t>
            </a:r>
            <a:endParaRPr lang="en-US" sz="1300" dirty="0"/>
          </a:p>
        </p:txBody>
      </p:sp>
      <p:sp>
        <p:nvSpPr>
          <p:cNvPr id="23" name="Text 21"/>
          <p:cNvSpPr txBox="1"/>
          <p:nvPr/>
        </p:nvSpPr>
        <p:spPr>
          <a:xfrm>
            <a:off x="640080" y="4846320"/>
            <a:ext cx="10881360" cy="548640"/>
          </a:xfrm>
          <a:prstGeom prst="rect">
            <a:avLst/>
          </a:prstGeom>
          <a:noFill/>
          <a:ln/>
        </p:spPr>
        <p:txBody>
          <a:bodyPr wrap="square" rtlCol="0" anchor="ctr"/>
          <a:lstStyle/>
          <a:p>
            <a:pPr indent="0" marL="0">
              <a:buNone/>
            </a:pPr>
            <a:r>
              <a:rPr lang="en-US" sz="1500" i="1" dirty="0">
                <a:solidFill>
                  <a:srgbClr val="13233B"/>
                </a:solidFill>
                <a:latin typeface="Calibri" pitchFamily="34" charset="0"/>
                <a:ea typeface="Calibri" pitchFamily="34" charset="-122"/>
                <a:cs typeface="Calibri" pitchFamily="34" charset="-120"/>
              </a:rPr>
              <a:t>No published adaptive-AQM paper we found runs this control. It is the reason our null result is credible rather than merely unexplained.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we read BPF maps with bpf(2), not bpftool</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CHOICE  ·  in-process syscalls instead of spawning a helper each tick</a:t>
            </a:r>
            <a:endParaRPr lang="en-US" sz="1400" dirty="0"/>
          </a:p>
        </p:txBody>
      </p:sp>
      <p:sp>
        <p:nvSpPr>
          <p:cNvPr id="4" name="Shape 2"/>
          <p:cNvSpPr/>
          <p:nvPr/>
        </p:nvSpPr>
        <p:spPr>
          <a:xfrm>
            <a:off x="640080" y="1645920"/>
            <a:ext cx="5349240" cy="2286000"/>
          </a:xfrm>
          <a:prstGeom prst="roundRect">
            <a:avLst>
              <a:gd name="adj" fmla="val 3200"/>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914400" y="1828800"/>
            <a:ext cx="4754880" cy="365760"/>
          </a:xfrm>
          <a:prstGeom prst="rect">
            <a:avLst/>
          </a:prstGeom>
          <a:noFill/>
          <a:ln/>
        </p:spPr>
        <p:txBody>
          <a:bodyPr wrap="square" lIns="0" tIns="0" rIns="0" bIns="0" rtlCol="0" anchor="ctr"/>
          <a:lstStyle/>
          <a:p>
            <a:pPr indent="0" marL="0">
              <a:buNone/>
            </a:pPr>
            <a:r>
              <a:rPr lang="en-US" sz="1600" b="1" dirty="0">
                <a:solidFill>
                  <a:srgbClr val="B23A48"/>
                </a:solidFill>
                <a:latin typeface="Cambria" pitchFamily="34" charset="0"/>
                <a:ea typeface="Cambria" pitchFamily="34" charset="-122"/>
                <a:cs typeface="Cambria" pitchFamily="34" charset="-120"/>
              </a:rPr>
              <a:t>bpftool per tick</a:t>
            </a:r>
            <a:endParaRPr lang="en-US" sz="1600" dirty="0"/>
          </a:p>
        </p:txBody>
      </p:sp>
      <p:sp>
        <p:nvSpPr>
          <p:cNvPr id="6" name="Text 4"/>
          <p:cNvSpPr txBox="1"/>
          <p:nvPr/>
        </p:nvSpPr>
        <p:spPr>
          <a:xfrm>
            <a:off x="914400" y="2286000"/>
            <a:ext cx="4754880" cy="1463040"/>
          </a:xfrm>
          <a:prstGeom prst="rect">
            <a:avLst/>
          </a:prstGeom>
          <a:noFill/>
          <a:ln/>
        </p:spPr>
        <p:txBody>
          <a:bodyPr wrap="square" lIns="0" tIns="0" rIns="0" bIns="0" rtlCol="0" anchor="ctr"/>
          <a:lstStyle/>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~2.5 s per call under a 9p root</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stretched the 0.5 s control interval to 3.17 s</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a 20 s run yielded only 7 samples</a:t>
            </a:r>
            <a:endParaRPr lang="en-US" sz="1300" dirty="0"/>
          </a:p>
        </p:txBody>
      </p:sp>
      <p:sp>
        <p:nvSpPr>
          <p:cNvPr id="7" name="Shape 5"/>
          <p:cNvSpPr/>
          <p:nvPr/>
        </p:nvSpPr>
        <p:spPr>
          <a:xfrm>
            <a:off x="6263640" y="1645920"/>
            <a:ext cx="5257800" cy="2286000"/>
          </a:xfrm>
          <a:prstGeom prst="roundRect">
            <a:avLst>
              <a:gd name="adj" fmla="val 3200"/>
            </a:avLst>
          </a:prstGeom>
          <a:solidFill>
            <a:srgbClr val="EAF4EE"/>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8" name="Text 6"/>
          <p:cNvSpPr txBox="1"/>
          <p:nvPr/>
        </p:nvSpPr>
        <p:spPr>
          <a:xfrm>
            <a:off x="6537960" y="1828800"/>
            <a:ext cx="4663440" cy="365760"/>
          </a:xfrm>
          <a:prstGeom prst="rect">
            <a:avLst/>
          </a:prstGeom>
          <a:noFill/>
          <a:ln/>
        </p:spPr>
        <p:txBody>
          <a:bodyPr wrap="square" lIns="0" tIns="0" rIns="0" bIns="0" rtlCol="0" anchor="ctr"/>
          <a:lstStyle/>
          <a:p>
            <a:pPr indent="0" marL="0">
              <a:buNone/>
            </a:pPr>
            <a:r>
              <a:rPr lang="en-US" sz="1600" b="1" dirty="0">
                <a:solidFill>
                  <a:srgbClr val="2C7A5A"/>
                </a:solidFill>
                <a:latin typeface="Cambria" pitchFamily="34" charset="0"/>
                <a:ea typeface="Cambria" pitchFamily="34" charset="-122"/>
                <a:cs typeface="Cambria" pitchFamily="34" charset="-120"/>
              </a:rPr>
              <a:t>bpf(2) in process</a:t>
            </a:r>
            <a:endParaRPr lang="en-US" sz="1600" dirty="0"/>
          </a:p>
        </p:txBody>
      </p:sp>
      <p:sp>
        <p:nvSpPr>
          <p:cNvPr id="9" name="Text 7"/>
          <p:cNvSpPr txBox="1"/>
          <p:nvPr/>
        </p:nvSpPr>
        <p:spPr>
          <a:xfrm>
            <a:off x="6537960" y="2286000"/>
            <a:ext cx="4663440" cy="1463040"/>
          </a:xfrm>
          <a:prstGeom prst="rect">
            <a:avLst/>
          </a:prstGeom>
          <a:noFill/>
          <a:ln/>
        </p:spPr>
        <p:txBody>
          <a:bodyPr wrap="square" lIns="0" tIns="0" rIns="0" bIns="0" rtlCol="0" anchor="ctr"/>
          <a:lstStyle/>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tick restored to 0.709 s, 4.5× faster</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no extra process, so no CPU confound</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raw bytes, so no hex-string decode bug</a:t>
            </a:r>
            <a:endParaRPr lang="en-US" sz="1300" dirty="0"/>
          </a:p>
        </p:txBody>
      </p:sp>
      <p:sp>
        <p:nvSpPr>
          <p:cNvPr id="10" name="Shape 8"/>
          <p:cNvSpPr/>
          <p:nvPr/>
        </p:nvSpPr>
        <p:spPr>
          <a:xfrm>
            <a:off x="640080" y="4206240"/>
            <a:ext cx="10881360" cy="1371600"/>
          </a:xfrm>
          <a:prstGeom prst="roundRect">
            <a:avLst>
              <a:gd name="adj" fmla="val 5333"/>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1" name="Text 9"/>
          <p:cNvSpPr txBox="1"/>
          <p:nvPr/>
        </p:nvSpPr>
        <p:spPr>
          <a:xfrm>
            <a:off x="960120" y="4389120"/>
            <a:ext cx="1024128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The second reason matters more than the first.</a:t>
            </a:r>
            <a:endParaRPr lang="en-US" sz="1600" dirty="0"/>
          </a:p>
        </p:txBody>
      </p:sp>
      <p:sp>
        <p:nvSpPr>
          <p:cNvPr id="12" name="Text 10"/>
          <p:cNvSpPr txBox="1"/>
          <p:nvPr/>
        </p:nvSpPr>
        <p:spPr>
          <a:xfrm>
            <a:off x="960120" y="4754880"/>
            <a:ext cx="10241280" cy="640080"/>
          </a:xfrm>
          <a:prstGeom prst="rect">
            <a:avLst/>
          </a:prstGeom>
          <a:noFill/>
          <a:ln/>
        </p:spPr>
        <p:txBody>
          <a:bodyPr wrap="square" lIns="0" tIns="0" rIns="0" bIns="0" rtlCol="0" anchor="ctr"/>
          <a:lstStyle/>
          <a:p>
            <a:pPr indent="0" marL="0">
              <a:buNone/>
            </a:pPr>
            <a:r>
              <a:rPr lang="en-US" sz="1400" dirty="0">
                <a:solidFill>
                  <a:srgbClr val="3A4A5F"/>
                </a:solidFill>
                <a:latin typeface="Calibri" pitchFamily="34" charset="0"/>
                <a:ea typeface="Calibri" pitchFamily="34" charset="-122"/>
                <a:cs typeface="Calibri" pitchFamily="34" charset="-120"/>
              </a:rPr>
              <a:t>Spawning a helper process to measure a system whose latency you are measuring is the same confound the sham condition exists to remove. Reading the map in process avoids introducing it at all.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the workload changes during the run</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CHOICE  ·  a staged load: 2 flows, then 24, then back to 2</a:t>
            </a:r>
            <a:endParaRPr lang="en-US" sz="1400" dirty="0"/>
          </a:p>
        </p:txBody>
      </p:sp>
      <p:sp>
        <p:nvSpPr>
          <p:cNvPr id="4" name="Text 2"/>
          <p:cNvSpPr txBox="1"/>
          <p:nvPr/>
        </p:nvSpPr>
        <p:spPr>
          <a:xfrm>
            <a:off x="640080" y="1554480"/>
            <a:ext cx="10881360" cy="45720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A controller that classifies congestion into four states can only be tested by a workload that visits more than one of them.</a:t>
            </a:r>
            <a:endParaRPr lang="en-US" sz="1500" dirty="0"/>
          </a:p>
        </p:txBody>
      </p:sp>
      <p:sp>
        <p:nvSpPr>
          <p:cNvPr id="5" name="Shape 3"/>
          <p:cNvSpPr/>
          <p:nvPr/>
        </p:nvSpPr>
        <p:spPr>
          <a:xfrm>
            <a:off x="640080" y="2194560"/>
            <a:ext cx="5349240" cy="2103120"/>
          </a:xfrm>
          <a:prstGeom prst="roundRect">
            <a:avLst>
              <a:gd name="adj" fmla="val 3478"/>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6" name="Text 4"/>
          <p:cNvSpPr txBox="1"/>
          <p:nvPr/>
        </p:nvSpPr>
        <p:spPr>
          <a:xfrm>
            <a:off x="914400" y="2377440"/>
            <a:ext cx="4754880" cy="365760"/>
          </a:xfrm>
          <a:prstGeom prst="rect">
            <a:avLst/>
          </a:prstGeom>
          <a:noFill/>
          <a:ln/>
        </p:spPr>
        <p:txBody>
          <a:bodyPr wrap="square" lIns="0" tIns="0" rIns="0" bIns="0" rtlCol="0" anchor="ctr"/>
          <a:lstStyle/>
          <a:p>
            <a:pPr indent="0" marL="0">
              <a:buNone/>
            </a:pPr>
            <a:r>
              <a:rPr lang="en-US" sz="1600" b="1" dirty="0">
                <a:solidFill>
                  <a:srgbClr val="B23A48"/>
                </a:solidFill>
                <a:latin typeface="Cambria" pitchFamily="34" charset="0"/>
                <a:ea typeface="Cambria" pitchFamily="34" charset="-122"/>
                <a:cs typeface="Cambria" pitchFamily="34" charset="-120"/>
              </a:rPr>
              <a:t>Constant overload (original)</a:t>
            </a:r>
            <a:endParaRPr lang="en-US" sz="1600" dirty="0"/>
          </a:p>
        </p:txBody>
      </p:sp>
      <p:sp>
        <p:nvSpPr>
          <p:cNvPr id="7" name="Text 5"/>
          <p:cNvSpPr txBox="1"/>
          <p:nvPr/>
        </p:nvSpPr>
        <p:spPr>
          <a:xfrm>
            <a:off x="914400" y="2834640"/>
            <a:ext cx="4754880" cy="1280160"/>
          </a:xfrm>
          <a:prstGeom prst="rect">
            <a:avLst/>
          </a:prstGeom>
          <a:noFill/>
          <a:ln/>
        </p:spPr>
        <p:txBody>
          <a:bodyPr wrap="square" lIns="0" tIns="0" rIns="0" bIns="0" rtlCol="0" anchor="ctr"/>
          <a:lstStyle/>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HEAVY in 80.9% of samples</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MODERATE in 0.04%, LIGHT never</a:t>
            </a:r>
            <a:endParaRPr lang="en-US" sz="1300" dirty="0"/>
          </a:p>
          <a:p>
            <a:pPr indent="0" marL="0">
              <a:lnSpc>
                <a:spcPts val="1900"/>
              </a:lnSpc>
              <a:buNone/>
            </a:pPr>
            <a:r>
              <a:rPr lang="en-US" sz="1300" b="1" dirty="0">
                <a:solidFill>
                  <a:srgbClr val="3A4A5F"/>
                </a:solidFill>
                <a:latin typeface="Calibri" pitchFamily="34" charset="0"/>
                <a:ea typeface="Calibri" pitchFamily="34" charset="-122"/>
                <a:cs typeface="Calibri" pitchFamily="34" charset="-120"/>
              </a:rPr>
              <a:t>A four-state classifier using two states</a:t>
            </a:r>
            <a:endParaRPr lang="en-US" sz="1300" dirty="0"/>
          </a:p>
        </p:txBody>
      </p:sp>
      <p:sp>
        <p:nvSpPr>
          <p:cNvPr id="8" name="Shape 6"/>
          <p:cNvSpPr/>
          <p:nvPr/>
        </p:nvSpPr>
        <p:spPr>
          <a:xfrm>
            <a:off x="6263640" y="2194560"/>
            <a:ext cx="5257800" cy="2103120"/>
          </a:xfrm>
          <a:prstGeom prst="roundRect">
            <a:avLst>
              <a:gd name="adj" fmla="val 3478"/>
            </a:avLst>
          </a:prstGeom>
          <a:solidFill>
            <a:srgbClr val="EAF4EE"/>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9" name="Text 7"/>
          <p:cNvSpPr txBox="1"/>
          <p:nvPr/>
        </p:nvSpPr>
        <p:spPr>
          <a:xfrm>
            <a:off x="6537960" y="2377440"/>
            <a:ext cx="4663440" cy="365760"/>
          </a:xfrm>
          <a:prstGeom prst="rect">
            <a:avLst/>
          </a:prstGeom>
          <a:noFill/>
          <a:ln/>
        </p:spPr>
        <p:txBody>
          <a:bodyPr wrap="square" lIns="0" tIns="0" rIns="0" bIns="0" rtlCol="0" anchor="ctr"/>
          <a:lstStyle/>
          <a:p>
            <a:pPr indent="0" marL="0">
              <a:buNone/>
            </a:pPr>
            <a:r>
              <a:rPr lang="en-US" sz="1600" b="1" dirty="0">
                <a:solidFill>
                  <a:srgbClr val="2C7A5A"/>
                </a:solidFill>
                <a:latin typeface="Cambria" pitchFamily="34" charset="0"/>
                <a:ea typeface="Cambria" pitchFamily="34" charset="-122"/>
                <a:cs typeface="Cambria" pitchFamily="34" charset="-120"/>
              </a:rPr>
              <a:t>Staged load (ours)</a:t>
            </a:r>
            <a:endParaRPr lang="en-US" sz="1600" dirty="0"/>
          </a:p>
        </p:txBody>
      </p:sp>
      <p:sp>
        <p:nvSpPr>
          <p:cNvPr id="10" name="Text 8"/>
          <p:cNvSpPr txBox="1"/>
          <p:nvPr/>
        </p:nvSpPr>
        <p:spPr>
          <a:xfrm>
            <a:off x="6537960" y="2834640"/>
            <a:ext cx="4663440" cy="1280160"/>
          </a:xfrm>
          <a:prstGeom prst="rect">
            <a:avLst/>
          </a:prstGeom>
          <a:noFill/>
          <a:ln/>
        </p:spPr>
        <p:txBody>
          <a:bodyPr wrap="square" lIns="0" tIns="0" rIns="0" bIns="0" rtlCol="0" anchor="ctr"/>
          <a:lstStyle/>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Flow count changes twice during the run</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The regime actually transitions</a:t>
            </a:r>
            <a:endParaRPr lang="en-US" sz="1300" dirty="0"/>
          </a:p>
          <a:p>
            <a:pPr indent="0" marL="0">
              <a:lnSpc>
                <a:spcPts val="1900"/>
              </a:lnSpc>
              <a:buNone/>
            </a:pPr>
            <a:r>
              <a:rPr lang="en-US" sz="1300" dirty="0">
                <a:solidFill>
                  <a:srgbClr val="3A4A5F"/>
                </a:solidFill>
                <a:latin typeface="Calibri" pitchFamily="34" charset="0"/>
                <a:ea typeface="Calibri" pitchFamily="34" charset="-122"/>
                <a:cs typeface="Calibri" pitchFamily="34" charset="-120"/>
              </a:rPr>
              <a:t>The adaptive logic is exercised, not just saturated</a:t>
            </a:r>
            <a:endParaRPr lang="en-US" sz="1300" dirty="0"/>
          </a:p>
        </p:txBody>
      </p:sp>
      <p:sp>
        <p:nvSpPr>
          <p:cNvPr id="11" name="Text 9"/>
          <p:cNvSpPr txBox="1"/>
          <p:nvPr/>
        </p:nvSpPr>
        <p:spPr>
          <a:xfrm>
            <a:off x="640080" y="4572000"/>
            <a:ext cx="10881360" cy="822960"/>
          </a:xfrm>
          <a:prstGeom prst="rect">
            <a:avLst/>
          </a:prstGeom>
          <a:noFill/>
          <a:ln/>
        </p:spPr>
        <p:txBody>
          <a:bodyPr wrap="square" rtlCol="0" anchor="ctr"/>
          <a:lstStyle/>
          <a:p>
            <a:pPr indent="0" marL="0">
              <a:buNone/>
            </a:pPr>
            <a:r>
              <a:rPr lang="en-US" sz="1400" i="1" dirty="0">
                <a:solidFill>
                  <a:srgbClr val="13233B"/>
                </a:solidFill>
                <a:latin typeface="Calibri" pitchFamily="34" charset="0"/>
                <a:ea typeface="Calibri" pitchFamily="34" charset="-122"/>
                <a:cs typeface="Calibri" pitchFamily="34" charset="-120"/>
              </a:rPr>
              <a:t>Under constant overload the original controller ratcheted target to its floor every run and stopped, always exactly 15 adjustments, which is just the number of ×0.9 steps from 5 ms to 1 ms. That is a constant, not a measurement.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Why these metrics and these baselines</a:t>
            </a:r>
            <a:endParaRPr lang="en-US" sz="3200" dirty="0"/>
          </a:p>
        </p:txBody>
      </p:sp>
      <p:sp>
        <p:nvSpPr>
          <p:cNvPr id="3" name="Shape 1"/>
          <p:cNvSpPr/>
          <p:nvPr/>
        </p:nvSpPr>
        <p:spPr>
          <a:xfrm>
            <a:off x="640080" y="1234440"/>
            <a:ext cx="10881360" cy="1298448"/>
          </a:xfrm>
          <a:prstGeom prst="roundRect">
            <a:avLst>
              <a:gd name="adj" fmla="val 5634"/>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4" name="Shape 2"/>
          <p:cNvSpPr/>
          <p:nvPr/>
        </p:nvSpPr>
        <p:spPr>
          <a:xfrm>
            <a:off x="932688" y="1527048"/>
            <a:ext cx="457200" cy="457200"/>
          </a:xfrm>
          <a:prstGeom prst="ellipse">
            <a:avLst/>
          </a:prstGeom>
          <a:solidFill>
            <a:srgbClr val="065A82"/>
          </a:solidFill>
          <a:ln w="12700">
            <a:solidFill>
              <a:srgbClr val="333333"/>
            </a:solidFill>
            <a:prstDash val="solid"/>
          </a:ln>
        </p:spPr>
      </p:sp>
      <p:sp>
        <p:nvSpPr>
          <p:cNvPr id="5" name="Text 3"/>
          <p:cNvSpPr txBox="1"/>
          <p:nvPr/>
        </p:nvSpPr>
        <p:spPr>
          <a:xfrm>
            <a:off x="932688" y="1527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554480" y="1399032"/>
            <a:ext cx="9875520" cy="365760"/>
          </a:xfrm>
          <a:prstGeom prst="rect">
            <a:avLst/>
          </a:prstGeom>
          <a:noFill/>
          <a:ln/>
        </p:spPr>
        <p:txBody>
          <a:bodyPr wrap="square" lIns="0" tIns="0" rIns="0" bIns="0" rtlCol="0" anchor="ctr"/>
          <a:lstStyle/>
          <a:p>
            <a:pPr indent="0" marL="0">
              <a:buNone/>
            </a:pPr>
            <a:r>
              <a:rPr lang="en-US" sz="1600" b="1" dirty="0">
                <a:solidFill>
                  <a:srgbClr val="13233B"/>
                </a:solidFill>
                <a:latin typeface="Calibri" pitchFamily="34" charset="0"/>
                <a:ea typeface="Calibri" pitchFamily="34" charset="-122"/>
                <a:cs typeface="Calibri" pitchFamily="34" charset="-120"/>
              </a:rPr>
              <a:t>Goodput from sum_received</a:t>
            </a:r>
            <a:endParaRPr lang="en-US" sz="1600" dirty="0"/>
          </a:p>
        </p:txBody>
      </p:sp>
      <p:sp>
        <p:nvSpPr>
          <p:cNvPr id="7" name="Text 5"/>
          <p:cNvSpPr txBox="1"/>
          <p:nvPr/>
        </p:nvSpPr>
        <p:spPr>
          <a:xfrm>
            <a:off x="1554480" y="1783080"/>
            <a:ext cx="9875520" cy="68580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iperf3's sum_sent counts bytes handed to the socket. Under pfifo it read 12.16 Mbps on a 10 Mbit link, the sender filling a bloated buffer. Only sum_received crossed the bottleneck.</a:t>
            </a:r>
            <a:endParaRPr lang="en-US" sz="1300" dirty="0"/>
          </a:p>
        </p:txBody>
      </p:sp>
      <p:sp>
        <p:nvSpPr>
          <p:cNvPr id="8" name="Shape 6"/>
          <p:cNvSpPr/>
          <p:nvPr/>
        </p:nvSpPr>
        <p:spPr>
          <a:xfrm>
            <a:off x="640080" y="2715768"/>
            <a:ext cx="10881360" cy="1298448"/>
          </a:xfrm>
          <a:prstGeom prst="roundRect">
            <a:avLst>
              <a:gd name="adj" fmla="val 5634"/>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9" name="Shape 7"/>
          <p:cNvSpPr/>
          <p:nvPr/>
        </p:nvSpPr>
        <p:spPr>
          <a:xfrm>
            <a:off x="932688" y="3008376"/>
            <a:ext cx="457200" cy="457200"/>
          </a:xfrm>
          <a:prstGeom prst="ellipse">
            <a:avLst/>
          </a:prstGeom>
          <a:solidFill>
            <a:srgbClr val="1C7293"/>
          </a:solidFill>
          <a:ln w="12700">
            <a:solidFill>
              <a:srgbClr val="333333"/>
            </a:solidFill>
            <a:prstDash val="solid"/>
          </a:ln>
        </p:spPr>
      </p:sp>
      <p:sp>
        <p:nvSpPr>
          <p:cNvPr id="10" name="Text 8"/>
          <p:cNvSpPr txBox="1"/>
          <p:nvPr/>
        </p:nvSpPr>
        <p:spPr>
          <a:xfrm>
            <a:off x="932688" y="30083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554480" y="2880360"/>
            <a:ext cx="9875520" cy="365760"/>
          </a:xfrm>
          <a:prstGeom prst="rect">
            <a:avLst/>
          </a:prstGeom>
          <a:noFill/>
          <a:ln/>
        </p:spPr>
        <p:txBody>
          <a:bodyPr wrap="square" lIns="0" tIns="0" rIns="0" bIns="0" rtlCol="0" anchor="ctr"/>
          <a:lstStyle/>
          <a:p>
            <a:pPr indent="0" marL="0">
              <a:buNone/>
            </a:pPr>
            <a:r>
              <a:rPr lang="en-US" sz="1600" b="1" dirty="0">
                <a:solidFill>
                  <a:srgbClr val="13233B"/>
                </a:solidFill>
                <a:latin typeface="Calibri" pitchFamily="34" charset="0"/>
                <a:ea typeface="Calibri" pitchFamily="34" charset="-122"/>
                <a:cs typeface="Calibri" pitchFamily="34" charset="-120"/>
              </a:rPr>
              <a:t>Nine queue disciplines</a:t>
            </a:r>
            <a:endParaRPr lang="en-US" sz="1600" dirty="0"/>
          </a:p>
        </p:txBody>
      </p:sp>
      <p:sp>
        <p:nvSpPr>
          <p:cNvPr id="12" name="Text 10"/>
          <p:cNvSpPr txBox="1"/>
          <p:nvPr/>
        </p:nvSpPr>
        <p:spPr>
          <a:xfrm>
            <a:off x="1554480" y="3264408"/>
            <a:ext cx="9875520" cy="68580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pfifo, SFQ, RED, CoDel, PIE, FQ-PIE, CAKE, fq_codel, fq_codel+ACAPE. A comparison that omits the obvious alternatives is not a comparison, and PIE and CAKE are genuinely competitive.</a:t>
            </a:r>
            <a:endParaRPr lang="en-US" sz="1300" dirty="0"/>
          </a:p>
        </p:txBody>
      </p:sp>
      <p:sp>
        <p:nvSpPr>
          <p:cNvPr id="13" name="Shape 11"/>
          <p:cNvSpPr/>
          <p:nvPr/>
        </p:nvSpPr>
        <p:spPr>
          <a:xfrm>
            <a:off x="640080" y="4197096"/>
            <a:ext cx="10881360" cy="1298448"/>
          </a:xfrm>
          <a:prstGeom prst="roundRect">
            <a:avLst>
              <a:gd name="adj" fmla="val 5634"/>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4" name="Shape 12"/>
          <p:cNvSpPr/>
          <p:nvPr/>
        </p:nvSpPr>
        <p:spPr>
          <a:xfrm>
            <a:off x="932688" y="4489704"/>
            <a:ext cx="457200" cy="457200"/>
          </a:xfrm>
          <a:prstGeom prst="ellipse">
            <a:avLst/>
          </a:prstGeom>
          <a:solidFill>
            <a:srgbClr val="21295C"/>
          </a:solidFill>
          <a:ln w="12700">
            <a:solidFill>
              <a:srgbClr val="333333"/>
            </a:solidFill>
            <a:prstDash val="solid"/>
          </a:ln>
        </p:spPr>
      </p:sp>
      <p:sp>
        <p:nvSpPr>
          <p:cNvPr id="15" name="Text 13"/>
          <p:cNvSpPr txBox="1"/>
          <p:nvPr/>
        </p:nvSpPr>
        <p:spPr>
          <a:xfrm>
            <a:off x="932688" y="4489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554480" y="4361688"/>
            <a:ext cx="9875520" cy="365760"/>
          </a:xfrm>
          <a:prstGeom prst="rect">
            <a:avLst/>
          </a:prstGeom>
          <a:noFill/>
          <a:ln/>
        </p:spPr>
        <p:txBody>
          <a:bodyPr wrap="square" lIns="0" tIns="0" rIns="0" bIns="0" rtlCol="0" anchor="ctr"/>
          <a:lstStyle/>
          <a:p>
            <a:pPr indent="0" marL="0">
              <a:buNone/>
            </a:pPr>
            <a:r>
              <a:rPr lang="en-US" sz="1600" b="1" dirty="0">
                <a:solidFill>
                  <a:srgbClr val="13233B"/>
                </a:solidFill>
                <a:latin typeface="Calibri" pitchFamily="34" charset="0"/>
                <a:ea typeface="Calibri" pitchFamily="34" charset="-122"/>
                <a:cs typeface="Calibri" pitchFamily="34" charset="-120"/>
              </a:rPr>
              <a:t>Three repetitions, exact statistics</a:t>
            </a:r>
            <a:endParaRPr lang="en-US" sz="1600" dirty="0"/>
          </a:p>
        </p:txBody>
      </p:sp>
      <p:sp>
        <p:nvSpPr>
          <p:cNvPr id="17" name="Text 15"/>
          <p:cNvSpPr txBox="1"/>
          <p:nvPr/>
        </p:nvSpPr>
        <p:spPr>
          <a:xfrm>
            <a:off x="1554480" y="4745736"/>
            <a:ext cx="9875520" cy="68580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Confidence intervals from Student's t via the incomplete beta function, not a normal approximation, which at n=3 overstates significance and flipped one of our own conclusions.</a:t>
            </a:r>
            <a:endParaRPr lang="en-US" sz="1300" dirty="0"/>
          </a:p>
        </p:txBody>
      </p:sp>
      <p:sp>
        <p:nvSpPr>
          <p:cNvPr id="18" name="Text 16"/>
          <p:cNvSpPr txBox="1"/>
          <p:nvPr/>
        </p:nvSpPr>
        <p:spPr>
          <a:xfrm>
            <a:off x="640080" y="5760720"/>
            <a:ext cx="10881360" cy="365760"/>
          </a:xfrm>
          <a:prstGeom prst="rect">
            <a:avLst/>
          </a:prstGeom>
          <a:noFill/>
          <a:ln/>
        </p:spPr>
        <p:txBody>
          <a:bodyPr wrap="square" rtlCol="0" anchor="ctr"/>
          <a:lstStyle/>
          <a:p>
            <a:pPr indent="0" marL="0">
              <a:buNone/>
            </a:pPr>
            <a:r>
              <a:rPr lang="en-US" sz="1400" i="1" dirty="0">
                <a:solidFill>
                  <a:srgbClr val="7B8A9C"/>
                </a:solidFill>
                <a:latin typeface="Calibri" pitchFamily="34" charset="0"/>
                <a:ea typeface="Calibri" pitchFamily="34" charset="-122"/>
                <a:cs typeface="Calibri" pitchFamily="34" charset="-120"/>
              </a:rPr>
              <a:t>Each of these was added because its absence had already produced a wrong number.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RESULTS</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the measurements show</a:t>
            </a:r>
            <a:endParaRPr lang="en-US" sz="4200" dirty="0"/>
          </a:p>
        </p:txBody>
      </p:sp>
      <p:sp>
        <p:nvSpPr>
          <p:cNvPr id="4" name="Text 2"/>
          <p:cNvSpPr txBox="1"/>
          <p:nvPr/>
        </p:nvSpPr>
        <p:spPr>
          <a:xfrm>
            <a:off x="640080" y="3931920"/>
            <a:ext cx="10881360" cy="548640"/>
          </a:xfrm>
          <a:prstGeom prst="rect">
            <a:avLst/>
          </a:prstGeom>
          <a:noFill/>
          <a:ln/>
        </p:spPr>
        <p:txBody>
          <a:bodyPr wrap="square" rtlCol="0" anchor="ctr"/>
          <a:lstStyle/>
          <a:p>
            <a:pPr indent="0" marL="0">
              <a:buNone/>
            </a:pPr>
            <a:r>
              <a:rPr lang="en-US" sz="1600" i="1" dirty="0">
                <a:solidFill>
                  <a:srgbClr val="A9C3DE"/>
                </a:solidFill>
                <a:latin typeface="Calibri" pitchFamily="34" charset="0"/>
                <a:ea typeface="Calibri" pitchFamily="34" charset="-122"/>
                <a:cs typeface="Calibri" pitchFamily="34" charset="-120"/>
              </a:rPr>
              <a:t>Stock Linux · 10 Mbit bottleneck · 8 TCP CUBIC flows · 20 ms base RTT · 3 repetitions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The effect that dominates everything</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Presence or absence of a flow-queueing AQM, not the tuning of one</a:t>
            </a:r>
            <a:endParaRPr lang="en-US" sz="1500" dirty="0"/>
          </a:p>
        </p:txBody>
      </p:sp>
      <p:sp>
        <p:nvSpPr>
          <p:cNvPr id="4" name="Shape 2"/>
          <p:cNvSpPr/>
          <p:nvPr/>
        </p:nvSpPr>
        <p:spPr>
          <a:xfrm>
            <a:off x="640080" y="1783080"/>
            <a:ext cx="2606040" cy="1828800"/>
          </a:xfrm>
          <a:prstGeom prst="roundRect">
            <a:avLst>
              <a:gd name="adj" fmla="val 400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777240" y="2057400"/>
            <a:ext cx="2331720" cy="685800"/>
          </a:xfrm>
          <a:prstGeom prst="rect">
            <a:avLst/>
          </a:prstGeom>
          <a:noFill/>
          <a:ln/>
        </p:spPr>
        <p:txBody>
          <a:bodyPr wrap="square" lIns="0" tIns="0" rIns="0" bIns="0" rtlCol="0" anchor="ctr"/>
          <a:lstStyle/>
          <a:p>
            <a:pPr algn="ctr" indent="0" marL="0">
              <a:buNone/>
            </a:pPr>
            <a:r>
              <a:rPr lang="en-US" sz="3400" b="1" dirty="0">
                <a:solidFill>
                  <a:srgbClr val="B23A48"/>
                </a:solidFill>
                <a:latin typeface="Cambria" pitchFamily="34" charset="0"/>
                <a:ea typeface="Cambria" pitchFamily="34" charset="-122"/>
                <a:cs typeface="Cambria" pitchFamily="34" charset="-120"/>
              </a:rPr>
              <a:t>2371 ms</a:t>
            </a:r>
            <a:endParaRPr lang="en-US" sz="3400" dirty="0"/>
          </a:p>
        </p:txBody>
      </p:sp>
      <p:sp>
        <p:nvSpPr>
          <p:cNvPr id="6" name="Text 4"/>
          <p:cNvSpPr txBox="1"/>
          <p:nvPr/>
        </p:nvSpPr>
        <p:spPr>
          <a:xfrm>
            <a:off x="777240" y="2788920"/>
            <a:ext cx="2331720" cy="640080"/>
          </a:xfrm>
          <a:prstGeom prst="rect">
            <a:avLst/>
          </a:prstGeom>
          <a:noFill/>
          <a:ln/>
        </p:spPr>
        <p:txBody>
          <a:bodyPr wrap="square" lIns="0" tIns="0" rIns="0" bIns="0" rtlCol="0" anchor="ctr"/>
          <a:lstStyle/>
          <a:p>
            <a:pPr algn="ctr" indent="0" marL="0">
              <a:buNone/>
            </a:pPr>
            <a:r>
              <a:rPr lang="en-US" sz="1200" dirty="0">
                <a:solidFill>
                  <a:srgbClr val="7B8A9C"/>
                </a:solidFill>
                <a:latin typeface="Calibri" pitchFamily="34" charset="0"/>
                <a:ea typeface="Calibri" pitchFamily="34" charset="-122"/>
                <a:cs typeface="Calibri" pitchFamily="34" charset="-120"/>
              </a:rPr>
              <a:t>p95 RTT</a:t>
            </a:r>
            <a:endParaRPr lang="en-US" sz="1200" dirty="0"/>
          </a:p>
          <a:p>
            <a:pPr algn="ctr" indent="0" marL="0">
              <a:buNone/>
            </a:pPr>
            <a:r>
              <a:rPr lang="en-US" sz="1200" dirty="0">
                <a:solidFill>
                  <a:srgbClr val="7B8A9C"/>
                </a:solidFill>
                <a:latin typeface="Calibri" pitchFamily="34" charset="0"/>
                <a:ea typeface="Calibri" pitchFamily="34" charset="-122"/>
                <a:cs typeface="Calibri" pitchFamily="34" charset="-120"/>
              </a:rPr>
              <a:t>pfifo, no AQM</a:t>
            </a:r>
            <a:endParaRPr lang="en-US" sz="1200" dirty="0"/>
          </a:p>
        </p:txBody>
      </p:sp>
      <p:sp>
        <p:nvSpPr>
          <p:cNvPr id="7" name="Shape 5"/>
          <p:cNvSpPr/>
          <p:nvPr/>
        </p:nvSpPr>
        <p:spPr>
          <a:xfrm>
            <a:off x="3429000" y="1783080"/>
            <a:ext cx="2606040" cy="1828800"/>
          </a:xfrm>
          <a:prstGeom prst="roundRect">
            <a:avLst>
              <a:gd name="adj" fmla="val 400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8" name="Text 6"/>
          <p:cNvSpPr txBox="1"/>
          <p:nvPr/>
        </p:nvSpPr>
        <p:spPr>
          <a:xfrm>
            <a:off x="3566160" y="2057400"/>
            <a:ext cx="2331720" cy="685800"/>
          </a:xfrm>
          <a:prstGeom prst="rect">
            <a:avLst/>
          </a:prstGeom>
          <a:noFill/>
          <a:ln/>
        </p:spPr>
        <p:txBody>
          <a:bodyPr wrap="square" lIns="0" tIns="0" rIns="0" bIns="0" rtlCol="0" anchor="ctr"/>
          <a:lstStyle/>
          <a:p>
            <a:pPr algn="ctr" indent="0" marL="0">
              <a:buNone/>
            </a:pPr>
            <a:r>
              <a:rPr lang="en-US" sz="3400" b="1" dirty="0">
                <a:solidFill>
                  <a:srgbClr val="2C7A5A"/>
                </a:solidFill>
                <a:latin typeface="Cambria" pitchFamily="34" charset="0"/>
                <a:ea typeface="Cambria" pitchFamily="34" charset="-122"/>
                <a:cs typeface="Cambria" pitchFamily="34" charset="-120"/>
              </a:rPr>
              <a:t>25 ms</a:t>
            </a:r>
            <a:endParaRPr lang="en-US" sz="3400" dirty="0"/>
          </a:p>
        </p:txBody>
      </p:sp>
      <p:sp>
        <p:nvSpPr>
          <p:cNvPr id="9" name="Text 7"/>
          <p:cNvSpPr txBox="1"/>
          <p:nvPr/>
        </p:nvSpPr>
        <p:spPr>
          <a:xfrm>
            <a:off x="3566160" y="2788920"/>
            <a:ext cx="2331720" cy="640080"/>
          </a:xfrm>
          <a:prstGeom prst="rect">
            <a:avLst/>
          </a:prstGeom>
          <a:noFill/>
          <a:ln/>
        </p:spPr>
        <p:txBody>
          <a:bodyPr wrap="square" lIns="0" tIns="0" rIns="0" bIns="0" rtlCol="0" anchor="ctr"/>
          <a:lstStyle/>
          <a:p>
            <a:pPr algn="ctr" indent="0" marL="0">
              <a:buNone/>
            </a:pPr>
            <a:r>
              <a:rPr lang="en-US" sz="1200" dirty="0">
                <a:solidFill>
                  <a:srgbClr val="7B8A9C"/>
                </a:solidFill>
                <a:latin typeface="Calibri" pitchFamily="34" charset="0"/>
                <a:ea typeface="Calibri" pitchFamily="34" charset="-122"/>
                <a:cs typeface="Calibri" pitchFamily="34" charset="-120"/>
              </a:rPr>
              <a:t>p95 RTT</a:t>
            </a:r>
            <a:endParaRPr lang="en-US" sz="1200" dirty="0"/>
          </a:p>
          <a:p>
            <a:pPr algn="ctr" indent="0" marL="0">
              <a:buNone/>
            </a:pPr>
            <a:r>
              <a:rPr lang="en-US" sz="1200" dirty="0">
                <a:solidFill>
                  <a:srgbClr val="7B8A9C"/>
                </a:solidFill>
                <a:latin typeface="Calibri" pitchFamily="34" charset="0"/>
                <a:ea typeface="Calibri" pitchFamily="34" charset="-122"/>
                <a:cs typeface="Calibri" pitchFamily="34" charset="-120"/>
              </a:rPr>
              <a:t>fq_codel</a:t>
            </a:r>
            <a:endParaRPr lang="en-US" sz="1200" dirty="0"/>
          </a:p>
        </p:txBody>
      </p:sp>
      <p:sp>
        <p:nvSpPr>
          <p:cNvPr id="10" name="Shape 8"/>
          <p:cNvSpPr/>
          <p:nvPr/>
        </p:nvSpPr>
        <p:spPr>
          <a:xfrm>
            <a:off x="6217920" y="1783080"/>
            <a:ext cx="2606040" cy="1828800"/>
          </a:xfrm>
          <a:prstGeom prst="roundRect">
            <a:avLst>
              <a:gd name="adj" fmla="val 400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1" name="Text 9"/>
          <p:cNvSpPr txBox="1"/>
          <p:nvPr/>
        </p:nvSpPr>
        <p:spPr>
          <a:xfrm>
            <a:off x="6355080" y="2057400"/>
            <a:ext cx="2331720" cy="685800"/>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~100×</a:t>
            </a:r>
            <a:endParaRPr lang="en-US" sz="3400" dirty="0"/>
          </a:p>
        </p:txBody>
      </p:sp>
      <p:sp>
        <p:nvSpPr>
          <p:cNvPr id="12" name="Text 10"/>
          <p:cNvSpPr txBox="1"/>
          <p:nvPr/>
        </p:nvSpPr>
        <p:spPr>
          <a:xfrm>
            <a:off x="6355080" y="2788920"/>
            <a:ext cx="2331720" cy="640080"/>
          </a:xfrm>
          <a:prstGeom prst="rect">
            <a:avLst/>
          </a:prstGeom>
          <a:noFill/>
          <a:ln/>
        </p:spPr>
        <p:txBody>
          <a:bodyPr wrap="square" lIns="0" tIns="0" rIns="0" bIns="0" rtlCol="0" anchor="ctr"/>
          <a:lstStyle/>
          <a:p>
            <a:pPr algn="ctr" indent="0" marL="0">
              <a:buNone/>
            </a:pPr>
            <a:r>
              <a:rPr lang="en-US" sz="1200" dirty="0">
                <a:solidFill>
                  <a:srgbClr val="7B8A9C"/>
                </a:solidFill>
                <a:latin typeface="Calibri" pitchFamily="34" charset="0"/>
                <a:ea typeface="Calibri" pitchFamily="34" charset="-122"/>
                <a:cs typeface="Calibri" pitchFamily="34" charset="-120"/>
              </a:rPr>
              <a:t>latency reduction</a:t>
            </a:r>
            <a:endParaRPr lang="en-US" sz="1200" dirty="0"/>
          </a:p>
        </p:txBody>
      </p:sp>
      <p:sp>
        <p:nvSpPr>
          <p:cNvPr id="13" name="Shape 11"/>
          <p:cNvSpPr/>
          <p:nvPr/>
        </p:nvSpPr>
        <p:spPr>
          <a:xfrm>
            <a:off x="9006840" y="1783080"/>
            <a:ext cx="2606040" cy="1828800"/>
          </a:xfrm>
          <a:prstGeom prst="roundRect">
            <a:avLst>
              <a:gd name="adj" fmla="val 4000"/>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4" name="Text 12"/>
          <p:cNvSpPr txBox="1"/>
          <p:nvPr/>
        </p:nvSpPr>
        <p:spPr>
          <a:xfrm>
            <a:off x="9144000" y="2057400"/>
            <a:ext cx="2331720" cy="685800"/>
          </a:xfrm>
          <a:prstGeom prst="rect">
            <a:avLst/>
          </a:prstGeom>
          <a:noFill/>
          <a:ln/>
        </p:spPr>
        <p:txBody>
          <a:bodyPr wrap="square" lIns="0" tIns="0" rIns="0" bIns="0" rtlCol="0" anchor="ctr"/>
          <a:lstStyle/>
          <a:p>
            <a:pPr algn="ctr" indent="0" marL="0">
              <a:buNone/>
            </a:pPr>
            <a:r>
              <a:rPr lang="en-US" sz="3400" b="1" dirty="0">
                <a:solidFill>
                  <a:srgbClr val="21295C"/>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9144000" y="2788920"/>
            <a:ext cx="2331720" cy="640080"/>
          </a:xfrm>
          <a:prstGeom prst="rect">
            <a:avLst/>
          </a:prstGeom>
          <a:noFill/>
          <a:ln/>
        </p:spPr>
        <p:txBody>
          <a:bodyPr wrap="square" lIns="0" tIns="0" rIns="0" bIns="0" rtlCol="0" anchor="ctr"/>
          <a:lstStyle/>
          <a:p>
            <a:pPr algn="ctr" indent="0" marL="0">
              <a:buNone/>
            </a:pPr>
            <a:r>
              <a:rPr lang="en-US" sz="1200" dirty="0">
                <a:solidFill>
                  <a:srgbClr val="7B8A9C"/>
                </a:solidFill>
                <a:latin typeface="Calibri" pitchFamily="34" charset="0"/>
                <a:ea typeface="Calibri" pitchFamily="34" charset="-122"/>
                <a:cs typeface="Calibri" pitchFamily="34" charset="-120"/>
              </a:rPr>
              <a:t>goodput cost</a:t>
            </a:r>
            <a:endParaRPr lang="en-US" sz="1200" dirty="0"/>
          </a:p>
        </p:txBody>
      </p:sp>
      <p:sp>
        <p:nvSpPr>
          <p:cNvPr id="16" name="Shape 14"/>
          <p:cNvSpPr/>
          <p:nvPr/>
        </p:nvSpPr>
        <p:spPr>
          <a:xfrm>
            <a:off x="640080" y="3886200"/>
            <a:ext cx="10881360" cy="1691640"/>
          </a:xfrm>
          <a:prstGeom prst="roundRect">
            <a:avLst>
              <a:gd name="adj" fmla="val 4324"/>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7" name="Text 15"/>
          <p:cNvSpPr txBox="1"/>
          <p:nvPr/>
        </p:nvSpPr>
        <p:spPr>
          <a:xfrm>
            <a:off x="960120" y="4069080"/>
            <a:ext cx="10241280" cy="41148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Two orders of magnitude, at no throughput or fairness cost.</a:t>
            </a:r>
            <a:endParaRPr lang="en-US" sz="1900" dirty="0"/>
          </a:p>
        </p:txBody>
      </p:sp>
      <p:sp>
        <p:nvSpPr>
          <p:cNvPr id="18" name="Text 16"/>
          <p:cNvSpPr txBox="1"/>
          <p:nvPr/>
        </p:nvSpPr>
        <p:spPr>
          <a:xfrm>
            <a:off x="960120" y="4526280"/>
            <a:ext cx="10241280" cy="914400"/>
          </a:xfrm>
          <a:prstGeom prst="rect">
            <a:avLst/>
          </a:prstGeom>
          <a:noFill/>
          <a:ln/>
        </p:spPr>
        <p:txBody>
          <a:bodyPr wrap="square" lIns="0" tIns="0" rIns="0" bIns="0" rtlCol="0" anchor="ctr"/>
          <a:lstStyle/>
          <a:p>
            <a:pPr indent="0" marL="0">
              <a:buNone/>
            </a:pPr>
            <a:r>
              <a:rPr lang="en-US" sz="1400" dirty="0">
                <a:solidFill>
                  <a:srgbClr val="3A4A5F"/>
                </a:solidFill>
                <a:latin typeface="Calibri" pitchFamily="34" charset="0"/>
                <a:ea typeface="Calibri" pitchFamily="34" charset="-122"/>
                <a:cs typeface="Calibri" pitchFamily="34" charset="-120"/>
              </a:rPr>
              <a:t>Every flow-queueing discipline with a delay target (fq_codel, FQ-PIE, CAKE) lands near 23 ms. Single-queue AQMs (CoDel, PIE) land near 45 ms. SFQ, which has fair queueing but no AQM, bloats to 115 packets. The AQM and the scheduler each do a distinct job, and both matter far more than parameter choice.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Does adapting the parameters help?</a:t>
            </a:r>
            <a:endParaRPr lang="en-US" sz="3200" dirty="0"/>
          </a:p>
        </p:txBody>
      </p:sp>
      <p:sp>
        <p:nvSpPr>
          <p:cNvPr id="3" name="Shape 1"/>
          <p:cNvSpPr/>
          <p:nvPr/>
        </p:nvSpPr>
        <p:spPr>
          <a:xfrm>
            <a:off x="640080" y="1097280"/>
            <a:ext cx="10881360" cy="868680"/>
          </a:xfrm>
          <a:prstGeom prst="roundRect">
            <a:avLst>
              <a:gd name="adj" fmla="val 8421"/>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4" name="Text 2"/>
          <p:cNvSpPr txBox="1"/>
          <p:nvPr/>
        </p:nvSpPr>
        <p:spPr>
          <a:xfrm>
            <a:off x="960120" y="1280160"/>
            <a:ext cx="10241280" cy="502920"/>
          </a:xfrm>
          <a:prstGeom prst="rect">
            <a:avLst/>
          </a:prstGeom>
          <a:noFill/>
          <a:ln/>
        </p:spPr>
        <p:txBody>
          <a:bodyPr wrap="square" lIns="0" tIns="0" rIns="0" bIns="0" rtlCol="0" anchor="ctr"/>
          <a:lstStyle/>
          <a:p>
            <a:pPr indent="0" marL="0">
              <a:buNone/>
            </a:pPr>
            <a:r>
              <a:rPr lang="en-US" sz="1800" b="1" dirty="0">
                <a:solidFill>
                  <a:srgbClr val="065A82"/>
                </a:solidFill>
                <a:latin typeface="Cambria" pitchFamily="34" charset="0"/>
                <a:ea typeface="Cambria" pitchFamily="34" charset="-122"/>
                <a:cs typeface="Cambria" pitchFamily="34" charset="-120"/>
              </a:rPr>
              <a:t>Nothing separates from zero, under either load.</a:t>
            </a:r>
            <a:endParaRPr lang="en-US" sz="1800" dirty="0"/>
          </a:p>
        </p:txBody>
      </p:sp>
      <p:sp>
        <p:nvSpPr>
          <p:cNvPr id="5" name="Text 3"/>
          <p:cNvSpPr txBox="1"/>
          <p:nvPr/>
        </p:nvSpPr>
        <p:spPr>
          <a:xfrm>
            <a:off x="914400" y="21031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Metric</a:t>
            </a:r>
            <a:endParaRPr lang="en-US" sz="1150" dirty="0"/>
          </a:p>
        </p:txBody>
      </p:sp>
      <p:sp>
        <p:nvSpPr>
          <p:cNvPr id="6" name="Text 4"/>
          <p:cNvSpPr txBox="1"/>
          <p:nvPr/>
        </p:nvSpPr>
        <p:spPr>
          <a:xfrm>
            <a:off x="5212080" y="21031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Steady workload</a:t>
            </a:r>
            <a:endParaRPr lang="en-US" sz="1150" dirty="0"/>
          </a:p>
        </p:txBody>
      </p:sp>
      <p:sp>
        <p:nvSpPr>
          <p:cNvPr id="7" name="Text 5"/>
          <p:cNvSpPr txBox="1"/>
          <p:nvPr/>
        </p:nvSpPr>
        <p:spPr>
          <a:xfrm>
            <a:off x="8778240" y="21031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Staged workload</a:t>
            </a:r>
            <a:endParaRPr lang="en-US" sz="1150" dirty="0"/>
          </a:p>
        </p:txBody>
      </p:sp>
      <p:sp>
        <p:nvSpPr>
          <p:cNvPr id="8" name="Shape 6"/>
          <p:cNvSpPr/>
          <p:nvPr/>
        </p:nvSpPr>
        <p:spPr>
          <a:xfrm>
            <a:off x="640080" y="2423160"/>
            <a:ext cx="10881360" cy="493776"/>
          </a:xfrm>
          <a:prstGeom prst="roundRect">
            <a:avLst>
              <a:gd name="adj" fmla="val 9259"/>
            </a:avLst>
          </a:prstGeom>
          <a:solidFill>
            <a:srgbClr val="EEF4F8"/>
          </a:solidFill>
          <a:ln w="6350">
            <a:solidFill>
              <a:srgbClr val="E2ECF2"/>
            </a:solidFill>
            <a:prstDash val="solid"/>
          </a:ln>
        </p:spPr>
      </p:sp>
      <p:sp>
        <p:nvSpPr>
          <p:cNvPr id="9" name="Text 7"/>
          <p:cNvSpPr txBox="1"/>
          <p:nvPr/>
        </p:nvSpPr>
        <p:spPr>
          <a:xfrm>
            <a:off x="914400" y="2542032"/>
            <a:ext cx="402336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Mean backlog</a:t>
            </a:r>
            <a:endParaRPr lang="en-US" sz="1350" dirty="0"/>
          </a:p>
        </p:txBody>
      </p:sp>
      <p:sp>
        <p:nvSpPr>
          <p:cNvPr id="10" name="Text 8"/>
          <p:cNvSpPr txBox="1"/>
          <p:nvPr/>
        </p:nvSpPr>
        <p:spPr>
          <a:xfrm>
            <a:off x="5212080" y="2542032"/>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-9.6%  CI +-1.00 pkt</a:t>
            </a:r>
            <a:endParaRPr lang="en-US" sz="1300" dirty="0"/>
          </a:p>
        </p:txBody>
      </p:sp>
      <p:sp>
        <p:nvSpPr>
          <p:cNvPr id="11" name="Text 9"/>
          <p:cNvSpPr txBox="1"/>
          <p:nvPr/>
        </p:nvSpPr>
        <p:spPr>
          <a:xfrm>
            <a:off x="8778240" y="2542032"/>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+2.2%   n.s.</a:t>
            </a:r>
            <a:endParaRPr lang="en-US" sz="1300" dirty="0"/>
          </a:p>
        </p:txBody>
      </p:sp>
      <p:sp>
        <p:nvSpPr>
          <p:cNvPr id="12" name="Shape 10"/>
          <p:cNvSpPr/>
          <p:nvPr/>
        </p:nvSpPr>
        <p:spPr>
          <a:xfrm>
            <a:off x="640080" y="2990088"/>
            <a:ext cx="10881360" cy="493776"/>
          </a:xfrm>
          <a:prstGeom prst="roundRect">
            <a:avLst>
              <a:gd name="adj" fmla="val 9259"/>
            </a:avLst>
          </a:prstGeom>
          <a:solidFill>
            <a:srgbClr val="F6FAFC"/>
          </a:solidFill>
          <a:ln w="6350">
            <a:solidFill>
              <a:srgbClr val="E2ECF2"/>
            </a:solidFill>
            <a:prstDash val="solid"/>
          </a:ln>
        </p:spPr>
      </p:sp>
      <p:sp>
        <p:nvSpPr>
          <p:cNvPr id="13" name="Text 11"/>
          <p:cNvSpPr txBox="1"/>
          <p:nvPr/>
        </p:nvSpPr>
        <p:spPr>
          <a:xfrm>
            <a:off x="914400" y="3108960"/>
            <a:ext cx="402336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p95 RTT (probe)</a:t>
            </a:r>
            <a:endParaRPr lang="en-US" sz="1350" dirty="0"/>
          </a:p>
        </p:txBody>
      </p:sp>
      <p:sp>
        <p:nvSpPr>
          <p:cNvPr id="14" name="Text 12"/>
          <p:cNvSpPr txBox="1"/>
          <p:nvPr/>
        </p:nvSpPr>
        <p:spPr>
          <a:xfrm>
            <a:off x="5212080" y="3108960"/>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-0.5%  n.s.</a:t>
            </a:r>
            <a:endParaRPr lang="en-US" sz="1300" dirty="0"/>
          </a:p>
        </p:txBody>
      </p:sp>
      <p:sp>
        <p:nvSpPr>
          <p:cNvPr id="15" name="Text 13"/>
          <p:cNvSpPr txBox="1"/>
          <p:nvPr/>
        </p:nvSpPr>
        <p:spPr>
          <a:xfrm>
            <a:off x="8778240" y="3108960"/>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+3.2%   n.s.</a:t>
            </a:r>
            <a:endParaRPr lang="en-US" sz="1300" dirty="0"/>
          </a:p>
        </p:txBody>
      </p:sp>
      <p:sp>
        <p:nvSpPr>
          <p:cNvPr id="16" name="Shape 14"/>
          <p:cNvSpPr/>
          <p:nvPr/>
        </p:nvSpPr>
        <p:spPr>
          <a:xfrm>
            <a:off x="640080" y="3557016"/>
            <a:ext cx="10881360" cy="493776"/>
          </a:xfrm>
          <a:prstGeom prst="roundRect">
            <a:avLst>
              <a:gd name="adj" fmla="val 9259"/>
            </a:avLst>
          </a:prstGeom>
          <a:solidFill>
            <a:srgbClr val="EEF4F8"/>
          </a:solidFill>
          <a:ln w="6350">
            <a:solidFill>
              <a:srgbClr val="E2ECF2"/>
            </a:solidFill>
            <a:prstDash val="solid"/>
          </a:ln>
        </p:spPr>
      </p:sp>
      <p:sp>
        <p:nvSpPr>
          <p:cNvPr id="17" name="Text 15"/>
          <p:cNvSpPr txBox="1"/>
          <p:nvPr/>
        </p:nvSpPr>
        <p:spPr>
          <a:xfrm>
            <a:off x="914400" y="3675888"/>
            <a:ext cx="402336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Mean RTT (probe)</a:t>
            </a:r>
            <a:endParaRPr lang="en-US" sz="1350" dirty="0"/>
          </a:p>
        </p:txBody>
      </p:sp>
      <p:sp>
        <p:nvSpPr>
          <p:cNvPr id="18" name="Text 16"/>
          <p:cNvSpPr txBox="1"/>
          <p:nvPr/>
        </p:nvSpPr>
        <p:spPr>
          <a:xfrm>
            <a:off x="5212080" y="3675888"/>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+0.4%  n.s.</a:t>
            </a:r>
            <a:endParaRPr lang="en-US" sz="1300" dirty="0"/>
          </a:p>
        </p:txBody>
      </p:sp>
      <p:sp>
        <p:nvSpPr>
          <p:cNvPr id="19" name="Text 17"/>
          <p:cNvSpPr txBox="1"/>
          <p:nvPr/>
        </p:nvSpPr>
        <p:spPr>
          <a:xfrm>
            <a:off x="8778240" y="3675888"/>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+1.6%   n.s.</a:t>
            </a:r>
            <a:endParaRPr lang="en-US" sz="1300" dirty="0"/>
          </a:p>
        </p:txBody>
      </p:sp>
      <p:sp>
        <p:nvSpPr>
          <p:cNvPr id="20" name="Shape 18"/>
          <p:cNvSpPr/>
          <p:nvPr/>
        </p:nvSpPr>
        <p:spPr>
          <a:xfrm>
            <a:off x="640080" y="4123944"/>
            <a:ext cx="10881360" cy="493776"/>
          </a:xfrm>
          <a:prstGeom prst="roundRect">
            <a:avLst>
              <a:gd name="adj" fmla="val 9259"/>
            </a:avLst>
          </a:prstGeom>
          <a:solidFill>
            <a:srgbClr val="F6FAFC"/>
          </a:solidFill>
          <a:ln w="6350">
            <a:solidFill>
              <a:srgbClr val="E2ECF2"/>
            </a:solidFill>
            <a:prstDash val="solid"/>
          </a:ln>
        </p:spPr>
      </p:sp>
      <p:sp>
        <p:nvSpPr>
          <p:cNvPr id="21" name="Text 19"/>
          <p:cNvSpPr txBox="1"/>
          <p:nvPr/>
        </p:nvSpPr>
        <p:spPr>
          <a:xfrm>
            <a:off x="914400" y="4242816"/>
            <a:ext cx="402336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Mean RTT (bulk)</a:t>
            </a:r>
            <a:endParaRPr lang="en-US" sz="1350" dirty="0"/>
          </a:p>
        </p:txBody>
      </p:sp>
      <p:sp>
        <p:nvSpPr>
          <p:cNvPr id="22" name="Text 20"/>
          <p:cNvSpPr txBox="1"/>
          <p:nvPr/>
        </p:nvSpPr>
        <p:spPr>
          <a:xfrm>
            <a:off x="5212080" y="4242816"/>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-1.4%  n.s.</a:t>
            </a:r>
            <a:endParaRPr lang="en-US" sz="1300" dirty="0"/>
          </a:p>
        </p:txBody>
      </p:sp>
      <p:sp>
        <p:nvSpPr>
          <p:cNvPr id="23" name="Text 21"/>
          <p:cNvSpPr txBox="1"/>
          <p:nvPr/>
        </p:nvSpPr>
        <p:spPr>
          <a:xfrm>
            <a:off x="8778240" y="4242816"/>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-0.5%   n.s.</a:t>
            </a:r>
            <a:endParaRPr lang="en-US" sz="1300" dirty="0"/>
          </a:p>
        </p:txBody>
      </p:sp>
      <p:sp>
        <p:nvSpPr>
          <p:cNvPr id="24" name="Shape 22"/>
          <p:cNvSpPr/>
          <p:nvPr/>
        </p:nvSpPr>
        <p:spPr>
          <a:xfrm>
            <a:off x="640080" y="4690872"/>
            <a:ext cx="10881360" cy="493776"/>
          </a:xfrm>
          <a:prstGeom prst="roundRect">
            <a:avLst>
              <a:gd name="adj" fmla="val 9259"/>
            </a:avLst>
          </a:prstGeom>
          <a:solidFill>
            <a:srgbClr val="EEF4F8"/>
          </a:solidFill>
          <a:ln w="6350">
            <a:solidFill>
              <a:srgbClr val="E2ECF2"/>
            </a:solidFill>
            <a:prstDash val="solid"/>
          </a:ln>
        </p:spPr>
      </p:sp>
      <p:sp>
        <p:nvSpPr>
          <p:cNvPr id="25" name="Text 23"/>
          <p:cNvSpPr txBox="1"/>
          <p:nvPr/>
        </p:nvSpPr>
        <p:spPr>
          <a:xfrm>
            <a:off x="914400" y="4809744"/>
            <a:ext cx="402336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Goodput / fairness</a:t>
            </a:r>
            <a:endParaRPr lang="en-US" sz="1350" dirty="0"/>
          </a:p>
        </p:txBody>
      </p:sp>
      <p:sp>
        <p:nvSpPr>
          <p:cNvPr id="26" name="Text 24"/>
          <p:cNvSpPr txBox="1"/>
          <p:nvPr/>
        </p:nvSpPr>
        <p:spPr>
          <a:xfrm>
            <a:off x="5212080" y="4809744"/>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unchanged</a:t>
            </a:r>
            <a:endParaRPr lang="en-US" sz="1300" dirty="0"/>
          </a:p>
        </p:txBody>
      </p:sp>
      <p:sp>
        <p:nvSpPr>
          <p:cNvPr id="27" name="Text 25"/>
          <p:cNvSpPr txBox="1"/>
          <p:nvPr/>
        </p:nvSpPr>
        <p:spPr>
          <a:xfrm>
            <a:off x="8778240" y="4809744"/>
            <a:ext cx="3291840" cy="292608"/>
          </a:xfrm>
          <a:prstGeom prst="rect">
            <a:avLst/>
          </a:prstGeom>
          <a:noFill/>
          <a:ln/>
        </p:spPr>
        <p:txBody>
          <a:bodyPr wrap="square" lIns="0" tIns="0" rIns="0" bIns="0" rtlCol="0" anchor="ctr"/>
          <a:lstStyle/>
          <a:p>
            <a:pPr indent="0" marL="0">
              <a:buNone/>
            </a:pPr>
            <a:r>
              <a:rPr lang="en-US" sz="1300" b="1" dirty="0">
                <a:solidFill>
                  <a:srgbClr val="7B8A9C"/>
                </a:solidFill>
                <a:latin typeface="Calibri" pitchFamily="34" charset="0"/>
                <a:ea typeface="Calibri" pitchFamily="34" charset="-122"/>
                <a:cs typeface="Calibri" pitchFamily="34" charset="-120"/>
              </a:rPr>
              <a:t>unchanged</a:t>
            </a:r>
            <a:endParaRPr lang="en-US" sz="1300" dirty="0"/>
          </a:p>
        </p:txBody>
      </p:sp>
      <p:sp>
        <p:nvSpPr>
          <p:cNvPr id="28" name="Text 26"/>
          <p:cNvSpPr txBox="1"/>
          <p:nvPr/>
        </p:nvSpPr>
        <p:spPr>
          <a:xfrm>
            <a:off x="640080" y="5349240"/>
            <a:ext cx="10881360" cy="548640"/>
          </a:xfrm>
          <a:prstGeom prst="rect">
            <a:avLst/>
          </a:prstGeom>
          <a:noFill/>
          <a:ln/>
        </p:spPr>
        <p:txBody>
          <a:bodyPr wrap="square" rtlCol="0" anchor="ctr"/>
          <a:lstStyle/>
          <a:p>
            <a:pPr indent="0" marL="0">
              <a:buNone/>
            </a:pPr>
            <a:r>
              <a:rPr lang="en-US" sz="1300" i="1" dirty="0">
                <a:solidFill>
                  <a:srgbClr val="13233B"/>
                </a:solidFill>
                <a:latin typeface="Calibri" pitchFamily="34" charset="0"/>
                <a:ea typeface="Calibri" pitchFamily="34" charset="-122"/>
                <a:cs typeface="Calibri" pitchFamily="34" charset="-120"/>
              </a:rPr>
              <a:t>The largest movement, backlog, has an interval of +-1.00 packets and covers zero. At three repetitions the design resolves about 3.5%, so these bound the effect rather than disprove it. The sham arm shows the controller's processor cost is not detectable either, so this is not a cost masking a benefit. The law explains it: these runs sit at r = 0.25.</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CAKE beats the adapted system</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No controller. One configuration argument. Lower latency than tuned fq_codel.</a:t>
            </a:r>
            <a:endParaRPr lang="en-US" sz="1500" dirty="0"/>
          </a:p>
        </p:txBody>
      </p:sp>
      <p:sp>
        <p:nvSpPr>
          <p:cNvPr id="4" name="Text 2"/>
          <p:cNvSpPr txBox="1"/>
          <p:nvPr/>
        </p:nvSpPr>
        <p:spPr>
          <a:xfrm>
            <a:off x="5486400" y="1600200"/>
            <a:ext cx="274320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p95 probe RTT</a:t>
            </a:r>
            <a:endParaRPr lang="en-US" sz="1150" dirty="0"/>
          </a:p>
        </p:txBody>
      </p:sp>
      <p:sp>
        <p:nvSpPr>
          <p:cNvPr id="5" name="Text 3"/>
          <p:cNvSpPr txBox="1"/>
          <p:nvPr/>
        </p:nvSpPr>
        <p:spPr>
          <a:xfrm>
            <a:off x="8412480" y="1600200"/>
            <a:ext cx="274320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mean bulk RTT</a:t>
            </a:r>
            <a:endParaRPr lang="en-US" sz="1150" dirty="0"/>
          </a:p>
        </p:txBody>
      </p:sp>
      <p:sp>
        <p:nvSpPr>
          <p:cNvPr id="6" name="Shape 4"/>
          <p:cNvSpPr/>
          <p:nvPr/>
        </p:nvSpPr>
        <p:spPr>
          <a:xfrm>
            <a:off x="640080" y="1920240"/>
            <a:ext cx="10881360" cy="658368"/>
          </a:xfrm>
          <a:prstGeom prst="roundRect">
            <a:avLst>
              <a:gd name="adj" fmla="val 11111"/>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7" name="Text 5"/>
          <p:cNvSpPr txBox="1"/>
          <p:nvPr/>
        </p:nvSpPr>
        <p:spPr>
          <a:xfrm>
            <a:off x="960120" y="2103120"/>
            <a:ext cx="4297680" cy="320040"/>
          </a:xfrm>
          <a:prstGeom prst="rect">
            <a:avLst/>
          </a:prstGeom>
          <a:noFill/>
          <a:ln/>
        </p:spPr>
        <p:txBody>
          <a:bodyPr wrap="square" lIns="0" tIns="0" rIns="0" bIns="0" rtlCol="0" anchor="ctr"/>
          <a:lstStyle/>
          <a:p>
            <a:pPr indent="0" marL="0">
              <a:buNone/>
            </a:pPr>
            <a:r>
              <a:rPr lang="en-US" sz="1500" dirty="0">
                <a:solidFill>
                  <a:srgbClr val="13233B"/>
                </a:solidFill>
                <a:latin typeface="Calibri" pitchFamily="34" charset="0"/>
                <a:ea typeface="Calibri" pitchFamily="34" charset="-122"/>
                <a:cs typeface="Calibri" pitchFamily="34" charset="-120"/>
              </a:rPr>
              <a:t>fq_codel (static)</a:t>
            </a:r>
            <a:endParaRPr lang="en-US" sz="1500" dirty="0"/>
          </a:p>
        </p:txBody>
      </p:sp>
      <p:sp>
        <p:nvSpPr>
          <p:cNvPr id="8" name="Text 6"/>
          <p:cNvSpPr txBox="1"/>
          <p:nvPr/>
        </p:nvSpPr>
        <p:spPr>
          <a:xfrm>
            <a:off x="5486400" y="2057400"/>
            <a:ext cx="2743200" cy="384048"/>
          </a:xfrm>
          <a:prstGeom prst="rect">
            <a:avLst/>
          </a:prstGeom>
          <a:noFill/>
          <a:ln/>
        </p:spPr>
        <p:txBody>
          <a:bodyPr wrap="square" lIns="0" tIns="0" rIns="0" bIns="0" rtlCol="0" anchor="ctr"/>
          <a:lstStyle/>
          <a:p>
            <a:pPr indent="0" marL="0">
              <a:buNone/>
            </a:pPr>
            <a:r>
              <a:rPr lang="en-US" sz="1900" b="1" dirty="0">
                <a:solidFill>
                  <a:srgbClr val="7B8A9C"/>
                </a:solidFill>
                <a:latin typeface="Cambria" pitchFamily="34" charset="0"/>
                <a:ea typeface="Cambria" pitchFamily="34" charset="-122"/>
                <a:cs typeface="Cambria" pitchFamily="34" charset="-120"/>
              </a:rPr>
              <a:t>24.6 ms</a:t>
            </a:r>
            <a:endParaRPr lang="en-US" sz="1900" dirty="0"/>
          </a:p>
        </p:txBody>
      </p:sp>
      <p:sp>
        <p:nvSpPr>
          <p:cNvPr id="9" name="Text 7"/>
          <p:cNvSpPr txBox="1"/>
          <p:nvPr/>
        </p:nvSpPr>
        <p:spPr>
          <a:xfrm>
            <a:off x="8412480" y="2057400"/>
            <a:ext cx="2743200" cy="384048"/>
          </a:xfrm>
          <a:prstGeom prst="rect">
            <a:avLst/>
          </a:prstGeom>
          <a:noFill/>
          <a:ln/>
        </p:spPr>
        <p:txBody>
          <a:bodyPr wrap="square" lIns="0" tIns="0" rIns="0" bIns="0" rtlCol="0" anchor="ctr"/>
          <a:lstStyle/>
          <a:p>
            <a:pPr indent="0" marL="0">
              <a:buNone/>
            </a:pPr>
            <a:r>
              <a:rPr lang="en-US" sz="1900" b="1" dirty="0">
                <a:solidFill>
                  <a:srgbClr val="7B8A9C"/>
                </a:solidFill>
                <a:latin typeface="Cambria" pitchFamily="34" charset="0"/>
                <a:ea typeface="Cambria" pitchFamily="34" charset="-122"/>
                <a:cs typeface="Cambria" pitchFamily="34" charset="-120"/>
              </a:rPr>
              <a:t>36.4 ms</a:t>
            </a:r>
            <a:endParaRPr lang="en-US" sz="1900" dirty="0"/>
          </a:p>
        </p:txBody>
      </p:sp>
      <p:sp>
        <p:nvSpPr>
          <p:cNvPr id="10" name="Shape 8"/>
          <p:cNvSpPr/>
          <p:nvPr/>
        </p:nvSpPr>
        <p:spPr>
          <a:xfrm>
            <a:off x="640080" y="2697480"/>
            <a:ext cx="10881360" cy="658368"/>
          </a:xfrm>
          <a:prstGeom prst="roundRect">
            <a:avLst>
              <a:gd name="adj" fmla="val 11111"/>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1" name="Text 9"/>
          <p:cNvSpPr txBox="1"/>
          <p:nvPr/>
        </p:nvSpPr>
        <p:spPr>
          <a:xfrm>
            <a:off x="960120" y="2880360"/>
            <a:ext cx="4297680" cy="320040"/>
          </a:xfrm>
          <a:prstGeom prst="rect">
            <a:avLst/>
          </a:prstGeom>
          <a:noFill/>
          <a:ln/>
        </p:spPr>
        <p:txBody>
          <a:bodyPr wrap="square" lIns="0" tIns="0" rIns="0" bIns="0" rtlCol="0" anchor="ctr"/>
          <a:lstStyle/>
          <a:p>
            <a:pPr indent="0" marL="0">
              <a:buNone/>
            </a:pPr>
            <a:r>
              <a:rPr lang="en-US" sz="1500" dirty="0">
                <a:solidFill>
                  <a:srgbClr val="13233B"/>
                </a:solidFill>
                <a:latin typeface="Calibri" pitchFamily="34" charset="0"/>
                <a:ea typeface="Calibri" pitchFamily="34" charset="-122"/>
                <a:cs typeface="Calibri" pitchFamily="34" charset="-120"/>
              </a:rPr>
              <a:t>fq_codel + ACAPE</a:t>
            </a:r>
            <a:endParaRPr lang="en-US" sz="1500" dirty="0"/>
          </a:p>
        </p:txBody>
      </p:sp>
      <p:sp>
        <p:nvSpPr>
          <p:cNvPr id="12" name="Text 10"/>
          <p:cNvSpPr txBox="1"/>
          <p:nvPr/>
        </p:nvSpPr>
        <p:spPr>
          <a:xfrm>
            <a:off x="5486400" y="2834640"/>
            <a:ext cx="2743200" cy="384048"/>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24.4 ms</a:t>
            </a:r>
            <a:endParaRPr lang="en-US" sz="1900" dirty="0"/>
          </a:p>
        </p:txBody>
      </p:sp>
      <p:sp>
        <p:nvSpPr>
          <p:cNvPr id="13" name="Text 11"/>
          <p:cNvSpPr txBox="1"/>
          <p:nvPr/>
        </p:nvSpPr>
        <p:spPr>
          <a:xfrm>
            <a:off x="8412480" y="2834640"/>
            <a:ext cx="2743200" cy="384048"/>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35.9 ms</a:t>
            </a:r>
            <a:endParaRPr lang="en-US" sz="1900" dirty="0"/>
          </a:p>
        </p:txBody>
      </p:sp>
      <p:sp>
        <p:nvSpPr>
          <p:cNvPr id="14" name="Shape 12"/>
          <p:cNvSpPr/>
          <p:nvPr/>
        </p:nvSpPr>
        <p:spPr>
          <a:xfrm>
            <a:off x="640080" y="3474720"/>
            <a:ext cx="10881360" cy="658368"/>
          </a:xfrm>
          <a:prstGeom prst="roundRect">
            <a:avLst>
              <a:gd name="adj" fmla="val 11111"/>
            </a:avLst>
          </a:prstGeom>
          <a:solidFill>
            <a:srgbClr val="EAF4EE"/>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5" name="Text 13"/>
          <p:cNvSpPr txBox="1"/>
          <p:nvPr/>
        </p:nvSpPr>
        <p:spPr>
          <a:xfrm>
            <a:off x="960120" y="3657600"/>
            <a:ext cx="4297680" cy="320040"/>
          </a:xfrm>
          <a:prstGeom prst="rect">
            <a:avLst/>
          </a:prstGeom>
          <a:noFill/>
          <a:ln/>
        </p:spPr>
        <p:txBody>
          <a:bodyPr wrap="square" lIns="0" tIns="0" rIns="0" bIns="0" rtlCol="0" anchor="ctr"/>
          <a:lstStyle/>
          <a:p>
            <a:pPr indent="0" marL="0">
              <a:buNone/>
            </a:pPr>
            <a:r>
              <a:rPr lang="en-US" sz="1500" b="1" dirty="0">
                <a:solidFill>
                  <a:srgbClr val="13233B"/>
                </a:solidFill>
                <a:latin typeface="Calibri" pitchFamily="34" charset="0"/>
                <a:ea typeface="Calibri" pitchFamily="34" charset="-122"/>
                <a:cs typeface="Calibri" pitchFamily="34" charset="-120"/>
              </a:rPr>
              <a:t>CAKE</a:t>
            </a:r>
            <a:endParaRPr lang="en-US" sz="1500" dirty="0"/>
          </a:p>
        </p:txBody>
      </p:sp>
      <p:sp>
        <p:nvSpPr>
          <p:cNvPr id="16" name="Text 14"/>
          <p:cNvSpPr txBox="1"/>
          <p:nvPr/>
        </p:nvSpPr>
        <p:spPr>
          <a:xfrm>
            <a:off x="5486400" y="3611880"/>
            <a:ext cx="2743200" cy="384048"/>
          </a:xfrm>
          <a:prstGeom prst="rect">
            <a:avLst/>
          </a:prstGeom>
          <a:noFill/>
          <a:ln/>
        </p:spPr>
        <p:txBody>
          <a:bodyPr wrap="square" lIns="0" tIns="0" rIns="0" bIns="0" rtlCol="0" anchor="ctr"/>
          <a:lstStyle/>
          <a:p>
            <a:pPr indent="0" marL="0">
              <a:buNone/>
            </a:pPr>
            <a:r>
              <a:rPr lang="en-US" sz="1900" b="1" dirty="0">
                <a:solidFill>
                  <a:srgbClr val="2C7A5A"/>
                </a:solidFill>
                <a:latin typeface="Cambria" pitchFamily="34" charset="0"/>
                <a:ea typeface="Cambria" pitchFamily="34" charset="-122"/>
                <a:cs typeface="Cambria" pitchFamily="34" charset="-120"/>
              </a:rPr>
              <a:t>22.9 ms</a:t>
            </a:r>
            <a:endParaRPr lang="en-US" sz="1900" dirty="0"/>
          </a:p>
        </p:txBody>
      </p:sp>
      <p:sp>
        <p:nvSpPr>
          <p:cNvPr id="17" name="Text 15"/>
          <p:cNvSpPr txBox="1"/>
          <p:nvPr/>
        </p:nvSpPr>
        <p:spPr>
          <a:xfrm>
            <a:off x="8412480" y="3611880"/>
            <a:ext cx="2743200" cy="384048"/>
          </a:xfrm>
          <a:prstGeom prst="rect">
            <a:avLst/>
          </a:prstGeom>
          <a:noFill/>
          <a:ln/>
        </p:spPr>
        <p:txBody>
          <a:bodyPr wrap="square" lIns="0" tIns="0" rIns="0" bIns="0" rtlCol="0" anchor="ctr"/>
          <a:lstStyle/>
          <a:p>
            <a:pPr indent="0" marL="0">
              <a:buNone/>
            </a:pPr>
            <a:r>
              <a:rPr lang="en-US" sz="1900" b="1" dirty="0">
                <a:solidFill>
                  <a:srgbClr val="2C7A5A"/>
                </a:solidFill>
                <a:latin typeface="Cambria" pitchFamily="34" charset="0"/>
                <a:ea typeface="Cambria" pitchFamily="34" charset="-122"/>
                <a:cs typeface="Cambria" pitchFamily="34" charset="-120"/>
              </a:rPr>
              <a:t>33.6 ms</a:t>
            </a:r>
            <a:endParaRPr lang="en-US" sz="1900" dirty="0"/>
          </a:p>
        </p:txBody>
      </p:sp>
      <p:sp>
        <p:nvSpPr>
          <p:cNvPr id="18" name="Shape 16"/>
          <p:cNvSpPr/>
          <p:nvPr/>
        </p:nvSpPr>
        <p:spPr>
          <a:xfrm>
            <a:off x="640080" y="4343400"/>
            <a:ext cx="10881360" cy="1234440"/>
          </a:xfrm>
          <a:prstGeom prst="roundRect">
            <a:avLst>
              <a:gd name="adj" fmla="val 5926"/>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9" name="Text 17"/>
          <p:cNvSpPr txBox="1"/>
          <p:nvPr/>
        </p:nvSpPr>
        <p:spPr>
          <a:xfrm>
            <a:off x="960120" y="4526280"/>
            <a:ext cx="1024128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CAKE beats the adapted system by more than the adaptation beats the defaults  (p &lt; 0.001).</a:t>
            </a:r>
            <a:endParaRPr lang="en-US" sz="1600" dirty="0"/>
          </a:p>
        </p:txBody>
      </p:sp>
      <p:sp>
        <p:nvSpPr>
          <p:cNvPr id="20" name="Text 18"/>
          <p:cNvSpPr txBox="1"/>
          <p:nvPr/>
        </p:nvSpPr>
        <p:spPr>
          <a:xfrm>
            <a:off x="960120" y="4892040"/>
            <a:ext cx="10241280" cy="59436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For a practitioner wanting lower latency on this class of link, changing queue discipline is a larger and far simpler win than tuning fq_codel's parameters. We report this because it is the most useful thing a reader can take away.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THE SCALING LAW</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When does adapting pay?</a:t>
            </a:r>
            <a:endParaRPr lang="en-US" sz="4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The answer is a ratio, not a delay</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Sweeping path RTT from 2 to 200 ms showed the benefit is not a function of RTT at all.</a:t>
            </a:r>
            <a:endParaRPr lang="en-US" sz="1500" dirty="0"/>
          </a:p>
        </p:txBody>
      </p:sp>
      <p:sp>
        <p:nvSpPr>
          <p:cNvPr id="4" name="Shape 2"/>
          <p:cNvSpPr/>
          <p:nvPr/>
        </p:nvSpPr>
        <p:spPr>
          <a:xfrm>
            <a:off x="640080" y="1600200"/>
            <a:ext cx="10881360" cy="1051560"/>
          </a:xfrm>
          <a:prstGeom prst="roundRect">
            <a:avLst>
              <a:gd name="adj" fmla="val 6957"/>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960120" y="1783080"/>
            <a:ext cx="3840480" cy="68580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r  =  target / RTT</a:t>
            </a:r>
            <a:endParaRPr lang="en-US" sz="3000" dirty="0"/>
          </a:p>
        </p:txBody>
      </p:sp>
      <p:sp>
        <p:nvSpPr>
          <p:cNvPr id="6" name="Text 4"/>
          <p:cNvSpPr txBox="1"/>
          <p:nvPr/>
        </p:nvSpPr>
        <p:spPr>
          <a:xfrm>
            <a:off x="5212080" y="1874520"/>
            <a:ext cx="6035040" cy="640080"/>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A dimensionless number an operator already has: the configured target, and an estimate of the path.</a:t>
            </a:r>
            <a:endParaRPr lang="en-US" sz="1350" dirty="0"/>
          </a:p>
        </p:txBody>
      </p:sp>
      <p:pic>
        <p:nvPicPr>
          <p:cNvPr id="7" name="Image 0" descr="figures/comparison/fig16_scaling_law.png">    </p:cNvPr>
          <p:cNvPicPr>
            <a:picLocks noChangeAspect="1"/>
          </p:cNvPicPr>
          <p:nvPr/>
        </p:nvPicPr>
        <p:blipFill>
          <a:blip r:embed="rId1"/>
          <a:srcRect l="0" r="0" t="0" b="0"/>
          <a:stretch/>
        </p:blipFill>
        <p:spPr>
          <a:xfrm>
            <a:off x="640080" y="2788920"/>
            <a:ext cx="10881360" cy="3108960"/>
          </a:xfrm>
          <a:prstGeom prst="rect">
            <a:avLst/>
          </a:prstGeom>
        </p:spPr>
      </p:pic>
      <p:sp>
        <p:nvSpPr>
          <p:cNvPr id="8" name="Text 5"/>
          <p:cNvSpPr txBox="1"/>
          <p:nvPr/>
        </p:nvSpPr>
        <p:spPr>
          <a:xfrm>
            <a:off x="640080" y="5989320"/>
            <a:ext cx="10881360" cy="365760"/>
          </a:xfrm>
          <a:prstGeom prst="rect">
            <a:avLst/>
          </a:prstGeom>
          <a:noFill/>
          <a:ln/>
        </p:spPr>
        <p:txBody>
          <a:bodyPr wrap="square" rtlCol="0" anchor="ctr"/>
          <a:lstStyle/>
          <a:p>
            <a:pPr indent="0" marL="0">
              <a:buNone/>
            </a:pPr>
            <a:r>
              <a:rPr lang="en-US" sz="1200" dirty="0">
                <a:solidFill>
                  <a:srgbClr val="7B8A9C"/>
                </a:solidFill>
                <a:latin typeface="Calibri" pitchFamily="34" charset="0"/>
                <a:ea typeface="Calibri" pitchFamily="34" charset="-122"/>
                <a:cs typeface="Calibri" pitchFamily="34" charset="-120"/>
              </a:rPr>
              <a:t>Left: benefit against the ratio, collapsing onto one curve. Right: the same runs against RTT alone, scattered.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b(r) = B / (1 + (r0/r)^k)</a:t>
            </a:r>
            <a:endParaRPr lang="en-US" sz="3200" dirty="0"/>
          </a:p>
        </p:txBody>
      </p:sp>
      <p:sp>
        <p:nvSpPr>
          <p:cNvPr id="3" name="Shape 1"/>
          <p:cNvSpPr/>
          <p:nvPr/>
        </p:nvSpPr>
        <p:spPr>
          <a:xfrm>
            <a:off x="640080" y="1143000"/>
            <a:ext cx="5303520" cy="822960"/>
          </a:xfrm>
          <a:prstGeom prst="roundRect">
            <a:avLst>
              <a:gd name="adj" fmla="val 8889"/>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4" name="Text 2"/>
          <p:cNvSpPr txBox="1"/>
          <p:nvPr/>
        </p:nvSpPr>
        <p:spPr>
          <a:xfrm>
            <a:off x="914400" y="1234440"/>
            <a:ext cx="2743200" cy="36576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B  =  20.5 %</a:t>
            </a:r>
            <a:endParaRPr lang="en-US" sz="1900" dirty="0"/>
          </a:p>
        </p:txBody>
      </p:sp>
      <p:sp>
        <p:nvSpPr>
          <p:cNvPr id="5" name="Text 3"/>
          <p:cNvSpPr txBox="1"/>
          <p:nvPr/>
        </p:nvSpPr>
        <p:spPr>
          <a:xfrm>
            <a:off x="914400" y="1618488"/>
            <a:ext cx="4754880" cy="274320"/>
          </a:xfrm>
          <a:prstGeom prst="rect">
            <a:avLst/>
          </a:prstGeom>
          <a:noFill/>
          <a:ln/>
        </p:spPr>
        <p:txBody>
          <a:bodyPr wrap="square" lIns="0" tIns="0" rIns="0" bIns="0" rtlCol="0" anchor="ctr"/>
          <a:lstStyle/>
          <a:p>
            <a:pPr indent="0" marL="0">
              <a:buNone/>
            </a:pPr>
            <a:r>
              <a:rPr lang="en-US" sz="1200" dirty="0">
                <a:solidFill>
                  <a:srgbClr val="3A4A5F"/>
                </a:solidFill>
                <a:latin typeface="Calibri" pitchFamily="34" charset="0"/>
                <a:ea typeface="Calibri" pitchFamily="34" charset="-122"/>
                <a:cs typeface="Calibri" pitchFamily="34" charset="-120"/>
              </a:rPr>
              <a:t>the ceiling</a:t>
            </a:r>
            <a:endParaRPr lang="en-US" sz="1200" dirty="0"/>
          </a:p>
        </p:txBody>
      </p:sp>
      <p:sp>
        <p:nvSpPr>
          <p:cNvPr id="6" name="Shape 4"/>
          <p:cNvSpPr/>
          <p:nvPr/>
        </p:nvSpPr>
        <p:spPr>
          <a:xfrm>
            <a:off x="6217920" y="1143000"/>
            <a:ext cx="5303520" cy="822960"/>
          </a:xfrm>
          <a:prstGeom prst="roundRect">
            <a:avLst>
              <a:gd name="adj" fmla="val 8889"/>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7" name="Text 5"/>
          <p:cNvSpPr txBox="1"/>
          <p:nvPr/>
        </p:nvSpPr>
        <p:spPr>
          <a:xfrm>
            <a:off x="6492240" y="1234440"/>
            <a:ext cx="2743200" cy="36576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r0  =  0.50</a:t>
            </a:r>
            <a:endParaRPr lang="en-US" sz="1900" dirty="0"/>
          </a:p>
        </p:txBody>
      </p:sp>
      <p:sp>
        <p:nvSpPr>
          <p:cNvPr id="8" name="Text 6"/>
          <p:cNvSpPr txBox="1"/>
          <p:nvPr/>
        </p:nvSpPr>
        <p:spPr>
          <a:xfrm>
            <a:off x="6492240" y="1618488"/>
            <a:ext cx="4754880" cy="274320"/>
          </a:xfrm>
          <a:prstGeom prst="rect">
            <a:avLst/>
          </a:prstGeom>
          <a:noFill/>
          <a:ln/>
        </p:spPr>
        <p:txBody>
          <a:bodyPr wrap="square" lIns="0" tIns="0" rIns="0" bIns="0" rtlCol="0" anchor="ctr"/>
          <a:lstStyle/>
          <a:p>
            <a:pPr indent="0" marL="0">
              <a:buNone/>
            </a:pPr>
            <a:r>
              <a:rPr lang="en-US" sz="1200" dirty="0">
                <a:solidFill>
                  <a:srgbClr val="3A4A5F"/>
                </a:solidFill>
                <a:latin typeface="Calibri" pitchFamily="34" charset="0"/>
                <a:ea typeface="Calibri" pitchFamily="34" charset="-122"/>
                <a:cs typeface="Calibri" pitchFamily="34" charset="-120"/>
              </a:rPr>
              <a:t>half the benefit is reached here</a:t>
            </a:r>
            <a:endParaRPr lang="en-US" sz="1200" dirty="0"/>
          </a:p>
        </p:txBody>
      </p:sp>
      <p:sp>
        <p:nvSpPr>
          <p:cNvPr id="9" name="Shape 7"/>
          <p:cNvSpPr/>
          <p:nvPr/>
        </p:nvSpPr>
        <p:spPr>
          <a:xfrm>
            <a:off x="640080" y="2103120"/>
            <a:ext cx="5303520" cy="822960"/>
          </a:xfrm>
          <a:prstGeom prst="roundRect">
            <a:avLst>
              <a:gd name="adj" fmla="val 8889"/>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0" name="Text 8"/>
          <p:cNvSpPr txBox="1"/>
          <p:nvPr/>
        </p:nvSpPr>
        <p:spPr>
          <a:xfrm>
            <a:off x="914400" y="2194560"/>
            <a:ext cx="2743200" cy="36576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k  =  2.6</a:t>
            </a:r>
            <a:endParaRPr lang="en-US" sz="1900" dirty="0"/>
          </a:p>
        </p:txBody>
      </p:sp>
      <p:sp>
        <p:nvSpPr>
          <p:cNvPr id="11" name="Text 9"/>
          <p:cNvSpPr txBox="1"/>
          <p:nvPr/>
        </p:nvSpPr>
        <p:spPr>
          <a:xfrm>
            <a:off x="914400" y="2578608"/>
            <a:ext cx="4754880" cy="274320"/>
          </a:xfrm>
          <a:prstGeom prst="rect">
            <a:avLst/>
          </a:prstGeom>
          <a:noFill/>
          <a:ln/>
        </p:spPr>
        <p:txBody>
          <a:bodyPr wrap="square" lIns="0" tIns="0" rIns="0" bIns="0" rtlCol="0" anchor="ctr"/>
          <a:lstStyle/>
          <a:p>
            <a:pPr indent="0" marL="0">
              <a:buNone/>
            </a:pPr>
            <a:r>
              <a:rPr lang="en-US" sz="1200" dirty="0">
                <a:solidFill>
                  <a:srgbClr val="3A4A5F"/>
                </a:solidFill>
                <a:latin typeface="Calibri" pitchFamily="34" charset="0"/>
                <a:ea typeface="Calibri" pitchFamily="34" charset="-122"/>
                <a:cs typeface="Calibri" pitchFamily="34" charset="-120"/>
              </a:rPr>
              <a:t>how sharp the transition is</a:t>
            </a:r>
            <a:endParaRPr lang="en-US" sz="1200" dirty="0"/>
          </a:p>
        </p:txBody>
      </p:sp>
      <p:sp>
        <p:nvSpPr>
          <p:cNvPr id="12" name="Shape 10"/>
          <p:cNvSpPr/>
          <p:nvPr/>
        </p:nvSpPr>
        <p:spPr>
          <a:xfrm>
            <a:off x="6217920" y="2103120"/>
            <a:ext cx="5303520" cy="822960"/>
          </a:xfrm>
          <a:prstGeom prst="roundRect">
            <a:avLst>
              <a:gd name="adj" fmla="val 8889"/>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3" name="Text 11"/>
          <p:cNvSpPr txBox="1"/>
          <p:nvPr/>
        </p:nvSpPr>
        <p:spPr>
          <a:xfrm>
            <a:off x="6492240" y="2194560"/>
            <a:ext cx="2743200" cy="365760"/>
          </a:xfrm>
          <a:prstGeom prst="rect">
            <a:avLst/>
          </a:prstGeom>
          <a:noFill/>
          <a:ln/>
        </p:spPr>
        <p:txBody>
          <a:bodyPr wrap="square" lIns="0" tIns="0" rIns="0" bIns="0" rtlCol="0" anchor="ctr"/>
          <a:lstStyle/>
          <a:p>
            <a:pPr indent="0" marL="0">
              <a:buNone/>
            </a:pPr>
            <a:r>
              <a:rPr lang="en-US" sz="1900" b="1" dirty="0">
                <a:solidFill>
                  <a:srgbClr val="065A82"/>
                </a:solidFill>
                <a:latin typeface="Cambria" pitchFamily="34" charset="0"/>
                <a:ea typeface="Cambria" pitchFamily="34" charset="-122"/>
                <a:cs typeface="Cambria" pitchFamily="34" charset="-120"/>
              </a:rPr>
              <a:t>R2  =  0.986</a:t>
            </a:r>
            <a:endParaRPr lang="en-US" sz="1900" dirty="0"/>
          </a:p>
        </p:txBody>
      </p:sp>
      <p:sp>
        <p:nvSpPr>
          <p:cNvPr id="14" name="Text 12"/>
          <p:cNvSpPr txBox="1"/>
          <p:nvPr/>
        </p:nvSpPr>
        <p:spPr>
          <a:xfrm>
            <a:off x="6492240" y="2578608"/>
            <a:ext cx="4754880" cy="274320"/>
          </a:xfrm>
          <a:prstGeom prst="rect">
            <a:avLst/>
          </a:prstGeom>
          <a:noFill/>
          <a:ln/>
        </p:spPr>
        <p:txBody>
          <a:bodyPr wrap="square" lIns="0" tIns="0" rIns="0" bIns="0" rtlCol="0" anchor="ctr"/>
          <a:lstStyle/>
          <a:p>
            <a:pPr indent="0" marL="0">
              <a:buNone/>
            </a:pPr>
            <a:r>
              <a:rPr lang="en-US" sz="1200" dirty="0">
                <a:solidFill>
                  <a:srgbClr val="3A4A5F"/>
                </a:solidFill>
                <a:latin typeface="Calibri" pitchFamily="34" charset="0"/>
                <a:ea typeface="Calibri" pitchFamily="34" charset="-122"/>
                <a:cs typeface="Calibri" pitchFamily="34" charset="-120"/>
              </a:rPr>
              <a:t>over 10 cells</a:t>
            </a:r>
            <a:endParaRPr lang="en-US" sz="1200" dirty="0"/>
          </a:p>
        </p:txBody>
      </p:sp>
      <p:sp>
        <p:nvSpPr>
          <p:cNvPr id="15" name="Shape 13"/>
          <p:cNvSpPr/>
          <p:nvPr/>
        </p:nvSpPr>
        <p:spPr>
          <a:xfrm>
            <a:off x="640080" y="3200400"/>
            <a:ext cx="10881360" cy="1371600"/>
          </a:xfrm>
          <a:prstGeom prst="roundRect">
            <a:avLst>
              <a:gd name="adj" fmla="val 5333"/>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6" name="Text 14"/>
          <p:cNvSpPr txBox="1"/>
          <p:nvPr/>
        </p:nvSpPr>
        <p:spPr>
          <a:xfrm>
            <a:off x="960120" y="3364992"/>
            <a:ext cx="10515600" cy="320040"/>
          </a:xfrm>
          <a:prstGeom prst="rect">
            <a:avLst/>
          </a:prstGeom>
          <a:noFill/>
          <a:ln/>
        </p:spPr>
        <p:txBody>
          <a:bodyPr wrap="square" lIns="0" tIns="0" rIns="0" bIns="0"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Registered before the data existed. Three of four held.</a:t>
            </a:r>
            <a:endParaRPr lang="en-US" sz="1400" dirty="0"/>
          </a:p>
        </p:txBody>
      </p:sp>
      <p:sp>
        <p:nvSpPr>
          <p:cNvPr id="17" name="Text 15"/>
          <p:cNvSpPr txBox="1"/>
          <p:nvPr/>
        </p:nvSpPr>
        <p:spPr>
          <a:xfrm>
            <a:off x="960120" y="3703320"/>
            <a:ext cx="10515600" cy="777240"/>
          </a:xfrm>
          <a:prstGeom prst="rect">
            <a:avLst/>
          </a:prstGeom>
          <a:noFill/>
          <a:ln/>
        </p:spPr>
        <p:txBody>
          <a:bodyPr wrap="square" lIns="0" tIns="0" rIns="0" bIns="0" rtlCol="0" anchor="ctr"/>
          <a:lstStyle/>
          <a:p>
            <a:pPr indent="0" marL="0">
              <a:buNone/>
            </a:pPr>
            <a:r>
              <a:rPr lang="en-US" sz="1300" dirty="0">
                <a:solidFill>
                  <a:srgbClr val="3A4A5F"/>
                </a:solidFill>
                <a:latin typeface="Calibri" pitchFamily="34" charset="0"/>
                <a:ea typeface="Calibri" pitchFamily="34" charset="-122"/>
                <a:cs typeface="Calibri" pitchFamily="34" charset="-120"/>
              </a:rPr>
              <a:t>A crossover exists. The curve is invariant across a 16-fold change in RTT, 2.0 points against a 5-point threshold. Leave-one-out predicts held-out cells to 1.4 points. The form transfers to codel and PIE; the constant does not, and that fourth test failed.</a:t>
            </a:r>
            <a:endParaRPr lang="en-US" sz="1300" dirty="0"/>
          </a:p>
        </p:txBody>
      </p:sp>
      <p:sp>
        <p:nvSpPr>
          <p:cNvPr id="18" name="Shape 16"/>
          <p:cNvSpPr/>
          <p:nvPr/>
        </p:nvSpPr>
        <p:spPr>
          <a:xfrm>
            <a:off x="640080" y="4800600"/>
            <a:ext cx="10881360" cy="1234440"/>
          </a:xfrm>
          <a:prstGeom prst="roundRect">
            <a:avLst>
              <a:gd name="adj" fmla="val 5926"/>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9" name="Text 17"/>
          <p:cNvSpPr txBox="1"/>
          <p:nvPr/>
        </p:nvSpPr>
        <p:spPr>
          <a:xfrm>
            <a:off x="960120" y="4956048"/>
            <a:ext cx="10515600" cy="292608"/>
          </a:xfrm>
          <a:prstGeom prst="rect">
            <a:avLst/>
          </a:prstGeom>
          <a:noFill/>
          <a:ln/>
        </p:spPr>
        <p:txBody>
          <a:bodyPr wrap="square" lIns="0" tIns="0" rIns="0" bIns="0" rtlCol="0" anchor="ctr"/>
          <a:lstStyle/>
          <a:p>
            <a:pPr indent="0" marL="0">
              <a:buNone/>
            </a:pPr>
            <a:r>
              <a:rPr lang="en-US" sz="1300" b="1" spc="100" kern="0" dirty="0">
                <a:solidFill>
                  <a:srgbClr val="B23A48"/>
                </a:solidFill>
                <a:latin typeface="Calibri" pitchFamily="34" charset="0"/>
                <a:ea typeface="Calibri" pitchFamily="34" charset="-122"/>
                <a:cs typeface="Calibri" pitchFamily="34" charset="-120"/>
              </a:rPr>
              <a:t>What it means</a:t>
            </a:r>
            <a:endParaRPr lang="en-US" sz="1300" dirty="0"/>
          </a:p>
        </p:txBody>
      </p:sp>
      <p:sp>
        <p:nvSpPr>
          <p:cNvPr id="20" name="Text 18"/>
          <p:cNvSpPr txBox="1"/>
          <p:nvPr/>
        </p:nvSpPr>
        <p:spPr>
          <a:xfrm>
            <a:off x="960120" y="5285232"/>
            <a:ext cx="10515600" cy="685800"/>
          </a:xfrm>
          <a:prstGeom prst="rect">
            <a:avLst/>
          </a:prstGeom>
          <a:noFill/>
          <a:ln/>
        </p:spPr>
        <p:txBody>
          <a:bodyPr wrap="square" lIns="0" tIns="0" rIns="0" bIns="0" rtlCol="0" anchor="ctr"/>
          <a:lstStyle/>
          <a:p>
            <a:pPr indent="0" marL="0">
              <a:buNone/>
            </a:pPr>
            <a:r>
              <a:rPr lang="en-US" sz="1350" dirty="0">
                <a:solidFill>
                  <a:srgbClr val="13233B"/>
                </a:solidFill>
                <a:latin typeface="Calibri" pitchFamily="34" charset="0"/>
                <a:ea typeface="Calibri" pitchFamily="34" charset="-122"/>
                <a:cs typeface="Calibri" pitchFamily="34" charset="-120"/>
              </a:rPr>
              <a:t>Correct configuration sits at r between 0.05 and 0.10. Half the available benefit arrives only at r = 0.50, five to ten times outside that. Adaptation repairs misconfiguration; it does not improve a correctly configured link.</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The ratio fixes the shape, not the ceiling</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Holding r = 1 and sweeping the link rate 25-fold. Only the rate changes.</a:t>
            </a:r>
            <a:endParaRPr lang="en-US" sz="1500" dirty="0"/>
          </a:p>
        </p:txBody>
      </p:sp>
      <p:sp>
        <p:nvSpPr>
          <p:cNvPr id="4" name="Text 2"/>
          <p:cNvSpPr txBox="1"/>
          <p:nvPr/>
        </p:nvSpPr>
        <p:spPr>
          <a:xfrm>
            <a:off x="914400" y="16459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Link rate</a:t>
            </a:r>
            <a:endParaRPr lang="en-US" sz="1150" dirty="0"/>
          </a:p>
        </p:txBody>
      </p:sp>
      <p:sp>
        <p:nvSpPr>
          <p:cNvPr id="5" name="Text 3"/>
          <p:cNvSpPr txBox="1"/>
          <p:nvPr/>
        </p:nvSpPr>
        <p:spPr>
          <a:xfrm>
            <a:off x="4846320" y="16459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Benefit at r = 1</a:t>
            </a:r>
            <a:endParaRPr lang="en-US" sz="1150" dirty="0"/>
          </a:p>
        </p:txBody>
      </p:sp>
      <p:sp>
        <p:nvSpPr>
          <p:cNvPr id="6" name="Text 4"/>
          <p:cNvSpPr txBox="1"/>
          <p:nvPr/>
        </p:nvSpPr>
        <p:spPr>
          <a:xfrm>
            <a:off x="8686800" y="1645920"/>
            <a:ext cx="3291840" cy="274320"/>
          </a:xfrm>
          <a:prstGeom prst="rect">
            <a:avLst/>
          </a:prstGeom>
          <a:noFill/>
          <a:ln/>
        </p:spPr>
        <p:txBody>
          <a:bodyPr wrap="square" lIns="0" tIns="0" rIns="0" bIns="0" rtlCol="0" anchor="ctr"/>
          <a:lstStyle/>
          <a:p>
            <a:pPr indent="0" marL="0">
              <a:buNone/>
            </a:pPr>
            <a:r>
              <a:rPr lang="en-US" sz="1150" b="1" spc="100" kern="0" dirty="0">
                <a:solidFill>
                  <a:srgbClr val="7B8A9C"/>
                </a:solidFill>
                <a:latin typeface="Calibri" pitchFamily="34" charset="0"/>
                <a:ea typeface="Calibri" pitchFamily="34" charset="-122"/>
                <a:cs typeface="Calibri" pitchFamily="34" charset="-120"/>
              </a:rPr>
              <a:t>p</a:t>
            </a:r>
            <a:endParaRPr lang="en-US" sz="1150" dirty="0"/>
          </a:p>
        </p:txBody>
      </p:sp>
      <p:sp>
        <p:nvSpPr>
          <p:cNvPr id="7" name="Shape 5"/>
          <p:cNvSpPr/>
          <p:nvPr/>
        </p:nvSpPr>
        <p:spPr>
          <a:xfrm>
            <a:off x="640080" y="1965960"/>
            <a:ext cx="10881360" cy="475488"/>
          </a:xfrm>
          <a:prstGeom prst="roundRect">
            <a:avLst>
              <a:gd name="adj" fmla="val 9615"/>
            </a:avLst>
          </a:prstGeom>
          <a:solidFill>
            <a:srgbClr val="EEF4F8"/>
          </a:solidFill>
          <a:ln w="6350">
            <a:solidFill>
              <a:srgbClr val="E2ECF2"/>
            </a:solidFill>
            <a:prstDash val="solid"/>
          </a:ln>
        </p:spPr>
      </p:sp>
      <p:sp>
        <p:nvSpPr>
          <p:cNvPr id="8" name="Text 6"/>
          <p:cNvSpPr txBox="1"/>
          <p:nvPr/>
        </p:nvSpPr>
        <p:spPr>
          <a:xfrm>
            <a:off x="914400" y="2075688"/>
            <a:ext cx="365760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2 Mbit/s</a:t>
            </a:r>
            <a:endParaRPr lang="en-US" sz="1350" dirty="0"/>
          </a:p>
        </p:txBody>
      </p:sp>
      <p:sp>
        <p:nvSpPr>
          <p:cNvPr id="9" name="Text 7"/>
          <p:cNvSpPr txBox="1"/>
          <p:nvPr/>
        </p:nvSpPr>
        <p:spPr>
          <a:xfrm>
            <a:off x="4846320" y="2075688"/>
            <a:ext cx="3657600" cy="292608"/>
          </a:xfrm>
          <a:prstGeom prst="rect">
            <a:avLst/>
          </a:prstGeom>
          <a:noFill/>
          <a:ln/>
        </p:spPr>
        <p:txBody>
          <a:bodyPr wrap="square" lIns="0" tIns="0" rIns="0" bIns="0" rtlCol="0" anchor="ctr"/>
          <a:lstStyle/>
          <a:p>
            <a:pPr indent="0" marL="0">
              <a:buNone/>
            </a:pPr>
            <a:r>
              <a:rPr lang="en-US" sz="1350" b="1" dirty="0">
                <a:solidFill>
                  <a:srgbClr val="2C7A5A"/>
                </a:solidFill>
                <a:latin typeface="Calibri" pitchFamily="34" charset="0"/>
                <a:ea typeface="Calibri" pitchFamily="34" charset="-122"/>
                <a:cs typeface="Calibri" pitchFamily="34" charset="-120"/>
              </a:rPr>
              <a:t>+13.2 %</a:t>
            </a:r>
            <a:endParaRPr lang="en-US" sz="1350" dirty="0"/>
          </a:p>
        </p:txBody>
      </p:sp>
      <p:sp>
        <p:nvSpPr>
          <p:cNvPr id="10" name="Text 8"/>
          <p:cNvSpPr txBox="1"/>
          <p:nvPr/>
        </p:nvSpPr>
        <p:spPr>
          <a:xfrm>
            <a:off x="8686800" y="2075688"/>
            <a:ext cx="3657600" cy="292608"/>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0.0005</a:t>
            </a:r>
            <a:endParaRPr lang="en-US" sz="1350" dirty="0"/>
          </a:p>
        </p:txBody>
      </p:sp>
      <p:sp>
        <p:nvSpPr>
          <p:cNvPr id="11" name="Shape 9"/>
          <p:cNvSpPr/>
          <p:nvPr/>
        </p:nvSpPr>
        <p:spPr>
          <a:xfrm>
            <a:off x="640080" y="2514600"/>
            <a:ext cx="10881360" cy="475488"/>
          </a:xfrm>
          <a:prstGeom prst="roundRect">
            <a:avLst>
              <a:gd name="adj" fmla="val 9615"/>
            </a:avLst>
          </a:prstGeom>
          <a:solidFill>
            <a:srgbClr val="F6FAFC"/>
          </a:solidFill>
          <a:ln w="6350">
            <a:solidFill>
              <a:srgbClr val="E2ECF2"/>
            </a:solidFill>
            <a:prstDash val="solid"/>
          </a:ln>
        </p:spPr>
      </p:sp>
      <p:sp>
        <p:nvSpPr>
          <p:cNvPr id="12" name="Text 10"/>
          <p:cNvSpPr txBox="1"/>
          <p:nvPr/>
        </p:nvSpPr>
        <p:spPr>
          <a:xfrm>
            <a:off x="914400" y="2624328"/>
            <a:ext cx="365760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5 Mbit/s</a:t>
            </a:r>
            <a:endParaRPr lang="en-US" sz="1350" dirty="0"/>
          </a:p>
        </p:txBody>
      </p:sp>
      <p:sp>
        <p:nvSpPr>
          <p:cNvPr id="13" name="Text 11"/>
          <p:cNvSpPr txBox="1"/>
          <p:nvPr/>
        </p:nvSpPr>
        <p:spPr>
          <a:xfrm>
            <a:off x="4846320" y="2624328"/>
            <a:ext cx="3657600" cy="292608"/>
          </a:xfrm>
          <a:prstGeom prst="rect">
            <a:avLst/>
          </a:prstGeom>
          <a:noFill/>
          <a:ln/>
        </p:spPr>
        <p:txBody>
          <a:bodyPr wrap="square" lIns="0" tIns="0" rIns="0" bIns="0" rtlCol="0" anchor="ctr"/>
          <a:lstStyle/>
          <a:p>
            <a:pPr indent="0" marL="0">
              <a:buNone/>
            </a:pPr>
            <a:r>
              <a:rPr lang="en-US" sz="1350" b="1" dirty="0">
                <a:solidFill>
                  <a:srgbClr val="2C7A5A"/>
                </a:solidFill>
                <a:latin typeface="Calibri" pitchFamily="34" charset="0"/>
                <a:ea typeface="Calibri" pitchFamily="34" charset="-122"/>
                <a:cs typeface="Calibri" pitchFamily="34" charset="-120"/>
              </a:rPr>
              <a:t>+18.2 %</a:t>
            </a:r>
            <a:endParaRPr lang="en-US" sz="1350" dirty="0"/>
          </a:p>
        </p:txBody>
      </p:sp>
      <p:sp>
        <p:nvSpPr>
          <p:cNvPr id="14" name="Text 12"/>
          <p:cNvSpPr txBox="1"/>
          <p:nvPr/>
        </p:nvSpPr>
        <p:spPr>
          <a:xfrm>
            <a:off x="8686800" y="2624328"/>
            <a:ext cx="3657600" cy="292608"/>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&lt; 0.0001</a:t>
            </a:r>
            <a:endParaRPr lang="en-US" sz="1350" dirty="0"/>
          </a:p>
        </p:txBody>
      </p:sp>
      <p:sp>
        <p:nvSpPr>
          <p:cNvPr id="15" name="Shape 13"/>
          <p:cNvSpPr/>
          <p:nvPr/>
        </p:nvSpPr>
        <p:spPr>
          <a:xfrm>
            <a:off x="640080" y="3063240"/>
            <a:ext cx="10881360" cy="475488"/>
          </a:xfrm>
          <a:prstGeom prst="roundRect">
            <a:avLst>
              <a:gd name="adj" fmla="val 9615"/>
            </a:avLst>
          </a:prstGeom>
          <a:solidFill>
            <a:srgbClr val="EEF4F8"/>
          </a:solidFill>
          <a:ln w="6350">
            <a:solidFill>
              <a:srgbClr val="E2ECF2"/>
            </a:solidFill>
            <a:prstDash val="solid"/>
          </a:ln>
        </p:spPr>
      </p:sp>
      <p:sp>
        <p:nvSpPr>
          <p:cNvPr id="16" name="Text 14"/>
          <p:cNvSpPr txBox="1"/>
          <p:nvPr/>
        </p:nvSpPr>
        <p:spPr>
          <a:xfrm>
            <a:off x="914400" y="3172968"/>
            <a:ext cx="365760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10 Mbit/s</a:t>
            </a:r>
            <a:endParaRPr lang="en-US" sz="1350" dirty="0"/>
          </a:p>
        </p:txBody>
      </p:sp>
      <p:sp>
        <p:nvSpPr>
          <p:cNvPr id="17" name="Text 15"/>
          <p:cNvSpPr txBox="1"/>
          <p:nvPr/>
        </p:nvSpPr>
        <p:spPr>
          <a:xfrm>
            <a:off x="4846320" y="3172968"/>
            <a:ext cx="3657600" cy="292608"/>
          </a:xfrm>
          <a:prstGeom prst="rect">
            <a:avLst/>
          </a:prstGeom>
          <a:noFill/>
          <a:ln/>
        </p:spPr>
        <p:txBody>
          <a:bodyPr wrap="square" lIns="0" tIns="0" rIns="0" bIns="0" rtlCol="0" anchor="ctr"/>
          <a:lstStyle/>
          <a:p>
            <a:pPr indent="0" marL="0">
              <a:buNone/>
            </a:pPr>
            <a:r>
              <a:rPr lang="en-US" sz="1350" b="1" dirty="0">
                <a:solidFill>
                  <a:srgbClr val="2C7A5A"/>
                </a:solidFill>
                <a:latin typeface="Calibri" pitchFamily="34" charset="0"/>
                <a:ea typeface="Calibri" pitchFamily="34" charset="-122"/>
                <a:cs typeface="Calibri" pitchFamily="34" charset="-120"/>
              </a:rPr>
              <a:t>+18.0 %</a:t>
            </a:r>
            <a:endParaRPr lang="en-US" sz="1350" dirty="0"/>
          </a:p>
        </p:txBody>
      </p:sp>
      <p:sp>
        <p:nvSpPr>
          <p:cNvPr id="18" name="Text 16"/>
          <p:cNvSpPr txBox="1"/>
          <p:nvPr/>
        </p:nvSpPr>
        <p:spPr>
          <a:xfrm>
            <a:off x="8686800" y="3172968"/>
            <a:ext cx="3657600" cy="292608"/>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&lt; 0.0001</a:t>
            </a:r>
            <a:endParaRPr lang="en-US" sz="1350" dirty="0"/>
          </a:p>
        </p:txBody>
      </p:sp>
      <p:sp>
        <p:nvSpPr>
          <p:cNvPr id="19" name="Shape 17"/>
          <p:cNvSpPr/>
          <p:nvPr/>
        </p:nvSpPr>
        <p:spPr>
          <a:xfrm>
            <a:off x="640080" y="3611880"/>
            <a:ext cx="10881360" cy="475488"/>
          </a:xfrm>
          <a:prstGeom prst="roundRect">
            <a:avLst>
              <a:gd name="adj" fmla="val 9615"/>
            </a:avLst>
          </a:prstGeom>
          <a:solidFill>
            <a:srgbClr val="F6FAFC"/>
          </a:solidFill>
          <a:ln w="6350">
            <a:solidFill>
              <a:srgbClr val="E2ECF2"/>
            </a:solidFill>
            <a:prstDash val="solid"/>
          </a:ln>
        </p:spPr>
      </p:sp>
      <p:sp>
        <p:nvSpPr>
          <p:cNvPr id="20" name="Text 18"/>
          <p:cNvSpPr txBox="1"/>
          <p:nvPr/>
        </p:nvSpPr>
        <p:spPr>
          <a:xfrm>
            <a:off x="914400" y="3721608"/>
            <a:ext cx="365760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20 Mbit/s</a:t>
            </a:r>
            <a:endParaRPr lang="en-US" sz="1350" dirty="0"/>
          </a:p>
        </p:txBody>
      </p:sp>
      <p:sp>
        <p:nvSpPr>
          <p:cNvPr id="21" name="Text 19"/>
          <p:cNvSpPr txBox="1"/>
          <p:nvPr/>
        </p:nvSpPr>
        <p:spPr>
          <a:xfrm>
            <a:off x="4846320" y="3721608"/>
            <a:ext cx="3657600" cy="292608"/>
          </a:xfrm>
          <a:prstGeom prst="rect">
            <a:avLst/>
          </a:prstGeom>
          <a:noFill/>
          <a:ln/>
        </p:spPr>
        <p:txBody>
          <a:bodyPr wrap="square" lIns="0" tIns="0" rIns="0" bIns="0" rtlCol="0" anchor="ctr"/>
          <a:lstStyle/>
          <a:p>
            <a:pPr indent="0" marL="0">
              <a:buNone/>
            </a:pPr>
            <a:r>
              <a:rPr lang="en-US" sz="1350" b="1" dirty="0">
                <a:solidFill>
                  <a:srgbClr val="2C7A5A"/>
                </a:solidFill>
                <a:latin typeface="Calibri" pitchFamily="34" charset="0"/>
                <a:ea typeface="Calibri" pitchFamily="34" charset="-122"/>
                <a:cs typeface="Calibri" pitchFamily="34" charset="-120"/>
              </a:rPr>
              <a:t>+14.1 %</a:t>
            </a:r>
            <a:endParaRPr lang="en-US" sz="1350" dirty="0"/>
          </a:p>
        </p:txBody>
      </p:sp>
      <p:sp>
        <p:nvSpPr>
          <p:cNvPr id="22" name="Text 20"/>
          <p:cNvSpPr txBox="1"/>
          <p:nvPr/>
        </p:nvSpPr>
        <p:spPr>
          <a:xfrm>
            <a:off x="8686800" y="3721608"/>
            <a:ext cx="3657600" cy="292608"/>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0.0004</a:t>
            </a:r>
            <a:endParaRPr lang="en-US" sz="1350" dirty="0"/>
          </a:p>
        </p:txBody>
      </p:sp>
      <p:sp>
        <p:nvSpPr>
          <p:cNvPr id="23" name="Shape 21"/>
          <p:cNvSpPr/>
          <p:nvPr/>
        </p:nvSpPr>
        <p:spPr>
          <a:xfrm>
            <a:off x="640080" y="4160520"/>
            <a:ext cx="10881360" cy="475488"/>
          </a:xfrm>
          <a:prstGeom prst="roundRect">
            <a:avLst>
              <a:gd name="adj" fmla="val 9615"/>
            </a:avLst>
          </a:prstGeom>
          <a:solidFill>
            <a:srgbClr val="EEF4F8"/>
          </a:solidFill>
          <a:ln w="6350">
            <a:solidFill>
              <a:srgbClr val="E2ECF2"/>
            </a:solidFill>
            <a:prstDash val="solid"/>
          </a:ln>
        </p:spPr>
      </p:sp>
      <p:sp>
        <p:nvSpPr>
          <p:cNvPr id="24" name="Text 22"/>
          <p:cNvSpPr txBox="1"/>
          <p:nvPr/>
        </p:nvSpPr>
        <p:spPr>
          <a:xfrm>
            <a:off x="914400" y="4270248"/>
            <a:ext cx="3657600" cy="292608"/>
          </a:xfrm>
          <a:prstGeom prst="rect">
            <a:avLst/>
          </a:prstGeom>
          <a:noFill/>
          <a:ln/>
        </p:spPr>
        <p:txBody>
          <a:bodyPr wrap="square" lIns="0" tIns="0" rIns="0" bIns="0" rtlCol="0" anchor="ctr"/>
          <a:lstStyle/>
          <a:p>
            <a:pPr indent="0" marL="0">
              <a:buNone/>
            </a:pPr>
            <a:r>
              <a:rPr lang="en-US" sz="1350" b="1" dirty="0">
                <a:solidFill>
                  <a:srgbClr val="13233B"/>
                </a:solidFill>
                <a:latin typeface="Calibri" pitchFamily="34" charset="0"/>
                <a:ea typeface="Calibri" pitchFamily="34" charset="-122"/>
                <a:cs typeface="Calibri" pitchFamily="34" charset="-120"/>
              </a:rPr>
              <a:t>50 Mbit/s</a:t>
            </a:r>
            <a:endParaRPr lang="en-US" sz="1350" dirty="0"/>
          </a:p>
        </p:txBody>
      </p:sp>
      <p:sp>
        <p:nvSpPr>
          <p:cNvPr id="25" name="Text 23"/>
          <p:cNvSpPr txBox="1"/>
          <p:nvPr/>
        </p:nvSpPr>
        <p:spPr>
          <a:xfrm>
            <a:off x="4846320" y="4270248"/>
            <a:ext cx="3657600" cy="292608"/>
          </a:xfrm>
          <a:prstGeom prst="rect">
            <a:avLst/>
          </a:prstGeom>
          <a:noFill/>
          <a:ln/>
        </p:spPr>
        <p:txBody>
          <a:bodyPr wrap="square" lIns="0" tIns="0" rIns="0" bIns="0" rtlCol="0" anchor="ctr"/>
          <a:lstStyle/>
          <a:p>
            <a:pPr indent="0" marL="0">
              <a:buNone/>
            </a:pPr>
            <a:r>
              <a:rPr lang="en-US" sz="1350" b="1" dirty="0">
                <a:solidFill>
                  <a:srgbClr val="2C7A5A"/>
                </a:solidFill>
                <a:latin typeface="Calibri" pitchFamily="34" charset="0"/>
                <a:ea typeface="Calibri" pitchFamily="34" charset="-122"/>
                <a:cs typeface="Calibri" pitchFamily="34" charset="-120"/>
              </a:rPr>
              <a:t>+7.1 %</a:t>
            </a:r>
            <a:endParaRPr lang="en-US" sz="1350" dirty="0"/>
          </a:p>
        </p:txBody>
      </p:sp>
      <p:sp>
        <p:nvSpPr>
          <p:cNvPr id="26" name="Text 24"/>
          <p:cNvSpPr txBox="1"/>
          <p:nvPr/>
        </p:nvSpPr>
        <p:spPr>
          <a:xfrm>
            <a:off x="8686800" y="4270248"/>
            <a:ext cx="3657600" cy="292608"/>
          </a:xfrm>
          <a:prstGeom prst="rect">
            <a:avLst/>
          </a:prstGeom>
          <a:noFill/>
          <a:ln/>
        </p:spPr>
        <p:txBody>
          <a:bodyPr wrap="square" lIns="0" tIns="0" rIns="0" bIns="0" rtlCol="0" anchor="ctr"/>
          <a:lstStyle/>
          <a:p>
            <a:pPr indent="0" marL="0">
              <a:buNone/>
            </a:pPr>
            <a:r>
              <a:rPr lang="en-US" sz="1350" dirty="0">
                <a:solidFill>
                  <a:srgbClr val="3A4A5F"/>
                </a:solidFill>
                <a:latin typeface="Calibri" pitchFamily="34" charset="0"/>
                <a:ea typeface="Calibri" pitchFamily="34" charset="-122"/>
                <a:cs typeface="Calibri" pitchFamily="34" charset="-120"/>
              </a:rPr>
              <a:t>0.0172</a:t>
            </a:r>
            <a:endParaRPr lang="en-US" sz="1350" dirty="0"/>
          </a:p>
        </p:txBody>
      </p:sp>
      <p:sp>
        <p:nvSpPr>
          <p:cNvPr id="27" name="Shape 25"/>
          <p:cNvSpPr/>
          <p:nvPr/>
        </p:nvSpPr>
        <p:spPr>
          <a:xfrm>
            <a:off x="640080" y="4846320"/>
            <a:ext cx="10881360" cy="1280160"/>
          </a:xfrm>
          <a:prstGeom prst="roundRect">
            <a:avLst>
              <a:gd name="adj" fmla="val 5714"/>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28" name="Text 26"/>
          <p:cNvSpPr txBox="1"/>
          <p:nvPr/>
        </p:nvSpPr>
        <p:spPr>
          <a:xfrm>
            <a:off x="960120" y="5029200"/>
            <a:ext cx="10515600" cy="914400"/>
          </a:xfrm>
          <a:prstGeom prst="rect">
            <a:avLst/>
          </a:prstGeom>
          <a:noFill/>
          <a:ln/>
        </p:spPr>
        <p:txBody>
          <a:bodyPr wrap="square" lIns="0" tIns="0" rIns="0" bIns="0" rtlCol="0" anchor="ctr"/>
          <a:lstStyle/>
          <a:p>
            <a:pPr indent="0" marL="0">
              <a:buNone/>
            </a:pPr>
            <a:r>
              <a:rPr lang="en-US" sz="1400" dirty="0">
                <a:solidFill>
                  <a:srgbClr val="13233B"/>
                </a:solidFill>
                <a:latin typeface="Calibri" pitchFamily="34" charset="0"/>
                <a:ea typeface="Calibri" pitchFamily="34" charset="-122"/>
                <a:cs typeface="Calibri" pitchFamily="34" charset="-120"/>
              </a:rPr>
              <a:t>An 11-point spread, against the 5-point threshold we used to call the RTT comparison consistent. Every cell is significant, so this is real. The fitted ceiling of 20.5 % is the ceiling at 10 Mbit/s, not a constant of the mechanism.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INTEGRITY</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did not survive verification</a:t>
            </a:r>
            <a:endParaRPr lang="en-US" sz="4200" dirty="0"/>
          </a:p>
        </p:txBody>
      </p:sp>
      <p:sp>
        <p:nvSpPr>
          <p:cNvPr id="4" name="Text 2"/>
          <p:cNvSpPr txBox="1"/>
          <p:nvPr/>
        </p:nvSpPr>
        <p:spPr>
          <a:xfrm>
            <a:off x="640080" y="3931920"/>
            <a:ext cx="10881360" cy="640080"/>
          </a:xfrm>
          <a:prstGeom prst="rect">
            <a:avLst/>
          </a:prstGeom>
          <a:noFill/>
          <a:ln/>
        </p:spPr>
        <p:txBody>
          <a:bodyPr wrap="square" rtlCol="0" anchor="ctr"/>
          <a:lstStyle/>
          <a:p>
            <a:pPr indent="0" marL="0">
              <a:buNone/>
            </a:pPr>
            <a:r>
              <a:rPr lang="en-US" sz="1600" i="1" dirty="0">
                <a:solidFill>
                  <a:srgbClr val="A9C3DE"/>
                </a:solidFill>
                <a:latin typeface="Calibri" pitchFamily="34" charset="0"/>
                <a:ea typeface="Calibri" pitchFamily="34" charset="-122"/>
                <a:cs typeface="Calibri" pitchFamily="34" charset="-120"/>
              </a:rPr>
              <a:t>Seven classes of silent failure. Each produced results that were confident, internally consistent, and wrong.</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The seven defects</a:t>
            </a:r>
            <a:endParaRPr lang="en-US" sz="3200" dirty="0"/>
          </a:p>
        </p:txBody>
      </p:sp>
      <p:sp>
        <p:nvSpPr>
          <p:cNvPr id="3" name="Shape 1"/>
          <p:cNvSpPr/>
          <p:nvPr/>
        </p:nvSpPr>
        <p:spPr>
          <a:xfrm>
            <a:off x="640080" y="1143000"/>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4" name="Shape 2"/>
          <p:cNvSpPr/>
          <p:nvPr/>
        </p:nvSpPr>
        <p:spPr>
          <a:xfrm>
            <a:off x="868680" y="1389888"/>
            <a:ext cx="420624" cy="420624"/>
          </a:xfrm>
          <a:prstGeom prst="ellipse">
            <a:avLst/>
          </a:prstGeom>
          <a:solidFill>
            <a:srgbClr val="065A82"/>
          </a:solidFill>
          <a:ln w="12700">
            <a:solidFill>
              <a:srgbClr val="333333"/>
            </a:solidFill>
            <a:prstDash val="solid"/>
          </a:ln>
        </p:spPr>
      </p:sp>
      <p:sp>
        <p:nvSpPr>
          <p:cNvPr id="5" name="Text 3"/>
          <p:cNvSpPr txBox="1"/>
          <p:nvPr/>
        </p:nvSpPr>
        <p:spPr>
          <a:xfrm>
            <a:off x="868680" y="1389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417320" y="1234440"/>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Loopback traffic</a:t>
            </a:r>
            <a:endParaRPr lang="en-US" sz="1400" dirty="0"/>
          </a:p>
        </p:txBody>
      </p:sp>
      <p:sp>
        <p:nvSpPr>
          <p:cNvPr id="7" name="Text 5"/>
          <p:cNvSpPr txBox="1"/>
          <p:nvPr/>
        </p:nvSpPr>
        <p:spPr>
          <a:xfrm>
            <a:off x="1417320" y="1545336"/>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Parts 1–3 ran iperf3 to 127.0.0.1 at 93–219 Gbit/s. No qdisc was ever in the path.</a:t>
            </a:r>
            <a:endParaRPr lang="en-US" sz="1150" dirty="0"/>
          </a:p>
        </p:txBody>
      </p:sp>
      <p:sp>
        <p:nvSpPr>
          <p:cNvPr id="8" name="Shape 6"/>
          <p:cNvSpPr/>
          <p:nvPr/>
        </p:nvSpPr>
        <p:spPr>
          <a:xfrm>
            <a:off x="6217920" y="1143000"/>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9" name="Shape 7"/>
          <p:cNvSpPr/>
          <p:nvPr/>
        </p:nvSpPr>
        <p:spPr>
          <a:xfrm>
            <a:off x="6446520" y="1389888"/>
            <a:ext cx="420624" cy="420624"/>
          </a:xfrm>
          <a:prstGeom prst="ellipse">
            <a:avLst/>
          </a:prstGeom>
          <a:solidFill>
            <a:srgbClr val="065A82"/>
          </a:solidFill>
          <a:ln w="12700">
            <a:solidFill>
              <a:srgbClr val="333333"/>
            </a:solidFill>
            <a:prstDash val="solid"/>
          </a:ln>
        </p:spPr>
      </p:sp>
      <p:sp>
        <p:nvSpPr>
          <p:cNvPr id="10" name="Text 8"/>
          <p:cNvSpPr txBox="1"/>
          <p:nvPr/>
        </p:nvSpPr>
        <p:spPr>
          <a:xfrm>
            <a:off x="6446520" y="13898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995160" y="1234440"/>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ACK-path bottleneck</a:t>
            </a:r>
            <a:endParaRPr lang="en-US" sz="1400" dirty="0"/>
          </a:p>
        </p:txBody>
      </p:sp>
      <p:sp>
        <p:nvSpPr>
          <p:cNvPr id="12" name="Text 10"/>
          <p:cNvSpPr txBox="1"/>
          <p:nvPr/>
        </p:nvSpPr>
        <p:spPr>
          <a:xfrm>
            <a:off x="6995160" y="1545336"/>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Parts 2–4 shaped the acknowledgement direction. 66 bytes/packet.</a:t>
            </a:r>
            <a:endParaRPr lang="en-US" sz="1150" dirty="0"/>
          </a:p>
        </p:txBody>
      </p:sp>
      <p:sp>
        <p:nvSpPr>
          <p:cNvPr id="13" name="Shape 11"/>
          <p:cNvSpPr/>
          <p:nvPr/>
        </p:nvSpPr>
        <p:spPr>
          <a:xfrm>
            <a:off x="640080" y="2203704"/>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4" name="Shape 12"/>
          <p:cNvSpPr/>
          <p:nvPr/>
        </p:nvSpPr>
        <p:spPr>
          <a:xfrm>
            <a:off x="868680" y="2450592"/>
            <a:ext cx="420624" cy="420624"/>
          </a:xfrm>
          <a:prstGeom prst="ellipse">
            <a:avLst/>
          </a:prstGeom>
          <a:solidFill>
            <a:srgbClr val="065A82"/>
          </a:solidFill>
          <a:ln w="12700">
            <a:solidFill>
              <a:srgbClr val="333333"/>
            </a:solidFill>
            <a:prstDash val="solid"/>
          </a:ln>
        </p:spPr>
      </p:sp>
      <p:sp>
        <p:nvSpPr>
          <p:cNvPr id="15" name="Text 13"/>
          <p:cNvSpPr txBox="1"/>
          <p:nvPr/>
        </p:nvSpPr>
        <p:spPr>
          <a:xfrm>
            <a:off x="868680" y="24505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417320" y="2295144"/>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No RTT ever measured</a:t>
            </a:r>
            <a:endParaRPr lang="en-US" sz="1400" dirty="0"/>
          </a:p>
        </p:txBody>
      </p:sp>
      <p:sp>
        <p:nvSpPr>
          <p:cNvPr id="17" name="Text 15"/>
          <p:cNvSpPr txBox="1"/>
          <p:nvPr/>
        </p:nvSpPr>
        <p:spPr>
          <a:xfrm>
            <a:off x="1417320" y="2606040"/>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The reported 0.541 / 2.200 / 2.445 ms have no source anywhere in the repository.</a:t>
            </a:r>
            <a:endParaRPr lang="en-US" sz="1150" dirty="0"/>
          </a:p>
        </p:txBody>
      </p:sp>
      <p:sp>
        <p:nvSpPr>
          <p:cNvPr id="18" name="Shape 16"/>
          <p:cNvSpPr/>
          <p:nvPr/>
        </p:nvSpPr>
        <p:spPr>
          <a:xfrm>
            <a:off x="6217920" y="2203704"/>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9" name="Shape 17"/>
          <p:cNvSpPr/>
          <p:nvPr/>
        </p:nvSpPr>
        <p:spPr>
          <a:xfrm>
            <a:off x="6446520" y="2450592"/>
            <a:ext cx="420624" cy="420624"/>
          </a:xfrm>
          <a:prstGeom prst="ellipse">
            <a:avLst/>
          </a:prstGeom>
          <a:solidFill>
            <a:srgbClr val="065A82"/>
          </a:solidFill>
          <a:ln w="12700">
            <a:solidFill>
              <a:srgbClr val="333333"/>
            </a:solidFill>
            <a:prstDash val="solid"/>
          </a:ln>
        </p:spPr>
      </p:sp>
      <p:sp>
        <p:nvSpPr>
          <p:cNvPr id="20" name="Text 18"/>
          <p:cNvSpPr txBox="1"/>
          <p:nvPr/>
        </p:nvSpPr>
        <p:spPr>
          <a:xfrm>
            <a:off x="6446520" y="24505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995160" y="2295144"/>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eBPF telemetry read zero</a:t>
            </a:r>
            <a:endParaRPr lang="en-US" sz="1400" dirty="0"/>
          </a:p>
        </p:txBody>
      </p:sp>
      <p:sp>
        <p:nvSpPr>
          <p:cNvPr id="22" name="Text 20"/>
          <p:cNvSpPr txBox="1"/>
          <p:nvPr/>
        </p:nvSpPr>
        <p:spPr>
          <a:xfrm>
            <a:off x="6995160" y="2606040"/>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Three decode bugs: hex strings into a bare except, wrong struct offsets, CLOCK_REALTIME vs CLOCK_MONOTONIC (age = 56.8 years).</a:t>
            </a:r>
            <a:endParaRPr lang="en-US" sz="1150" dirty="0"/>
          </a:p>
        </p:txBody>
      </p:sp>
      <p:sp>
        <p:nvSpPr>
          <p:cNvPr id="23" name="Shape 21"/>
          <p:cNvSpPr/>
          <p:nvPr/>
        </p:nvSpPr>
        <p:spPr>
          <a:xfrm>
            <a:off x="640080" y="3264408"/>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24" name="Shape 22"/>
          <p:cNvSpPr/>
          <p:nvPr/>
        </p:nvSpPr>
        <p:spPr>
          <a:xfrm>
            <a:off x="868680" y="3511296"/>
            <a:ext cx="420624" cy="420624"/>
          </a:xfrm>
          <a:prstGeom prst="ellipse">
            <a:avLst/>
          </a:prstGeom>
          <a:solidFill>
            <a:srgbClr val="065A82"/>
          </a:solidFill>
          <a:ln w="12700">
            <a:solidFill>
              <a:srgbClr val="333333"/>
            </a:solidFill>
            <a:prstDash val="solid"/>
          </a:ln>
        </p:spPr>
      </p:sp>
      <p:sp>
        <p:nvSpPr>
          <p:cNvPr id="25" name="Text 23"/>
          <p:cNvSpPr txBox="1"/>
          <p:nvPr/>
        </p:nvSpPr>
        <p:spPr>
          <a:xfrm>
            <a:off x="868680" y="35112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417320" y="3355848"/>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Elephant threshold unreachable</a:t>
            </a:r>
            <a:endParaRPr lang="en-US" sz="1400" dirty="0"/>
          </a:p>
        </p:txBody>
      </p:sp>
      <p:sp>
        <p:nvSpPr>
          <p:cNvPr id="27" name="Text 25"/>
          <p:cNvSpPr txBox="1"/>
          <p:nvPr/>
        </p:nvSpPr>
        <p:spPr>
          <a:xfrm>
            <a:off x="1417320" y="3666744"/>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10 MB threshold, 9.38 MB maximum possible flow share. The classifier could never fire.</a:t>
            </a:r>
            <a:endParaRPr lang="en-US" sz="1150" dirty="0"/>
          </a:p>
        </p:txBody>
      </p:sp>
      <p:sp>
        <p:nvSpPr>
          <p:cNvPr id="28" name="Shape 26"/>
          <p:cNvSpPr/>
          <p:nvPr/>
        </p:nvSpPr>
        <p:spPr>
          <a:xfrm>
            <a:off x="6217920" y="3264408"/>
            <a:ext cx="5349240" cy="932688"/>
          </a:xfrm>
          <a:prstGeom prst="roundRect">
            <a:avLst>
              <a:gd name="adj" fmla="val 7843"/>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29" name="Shape 27"/>
          <p:cNvSpPr/>
          <p:nvPr/>
        </p:nvSpPr>
        <p:spPr>
          <a:xfrm>
            <a:off x="6446520" y="3511296"/>
            <a:ext cx="420624" cy="420624"/>
          </a:xfrm>
          <a:prstGeom prst="ellipse">
            <a:avLst/>
          </a:prstGeom>
          <a:solidFill>
            <a:srgbClr val="065A82"/>
          </a:solidFill>
          <a:ln w="12700">
            <a:solidFill>
              <a:srgbClr val="333333"/>
            </a:solidFill>
            <a:prstDash val="solid"/>
          </a:ln>
        </p:spPr>
      </p:sp>
      <p:sp>
        <p:nvSpPr>
          <p:cNvPr id="30" name="Text 28"/>
          <p:cNvSpPr txBox="1"/>
          <p:nvPr/>
        </p:nvSpPr>
        <p:spPr>
          <a:xfrm>
            <a:off x="6446520" y="35112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6995160" y="3355848"/>
            <a:ext cx="4434840" cy="301752"/>
          </a:xfrm>
          <a:prstGeom prst="rect">
            <a:avLst/>
          </a:prstGeom>
          <a:noFill/>
          <a:ln/>
        </p:spPr>
        <p:txBody>
          <a:bodyPr wrap="square" lIns="0" tIns="0" rIns="0" bIns="0" rtlCol="0" anchor="ctr"/>
          <a:lstStyle/>
          <a:p>
            <a:pPr indent="0" marL="0">
              <a:buNone/>
            </a:pPr>
            <a:r>
              <a:rPr lang="en-US" sz="1400" b="1" dirty="0">
                <a:solidFill>
                  <a:srgbClr val="13233B"/>
                </a:solidFill>
                <a:latin typeface="Calibri" pitchFamily="34" charset="0"/>
                <a:ea typeface="Calibri" pitchFamily="34" charset="-122"/>
                <a:cs typeface="Calibri" pitchFamily="34" charset="-120"/>
              </a:rPr>
              <a:t>Prediction had no effect</a:t>
            </a:r>
            <a:endParaRPr lang="en-US" sz="1400" dirty="0"/>
          </a:p>
        </p:txBody>
      </p:sp>
      <p:sp>
        <p:nvSpPr>
          <p:cNvPr id="32" name="Text 30"/>
          <p:cNvSpPr txBox="1"/>
          <p:nvPr/>
        </p:nvSpPr>
        <p:spPr>
          <a:xfrm>
            <a:off x="6995160" y="3666744"/>
            <a:ext cx="4434840" cy="475488"/>
          </a:xfrm>
          <a:prstGeom prst="rect">
            <a:avLst/>
          </a:prstGeom>
          <a:noFill/>
          <a:ln/>
        </p:spPr>
        <p:txBody>
          <a:bodyPr wrap="square" lIns="0" tIns="0" rIns="0" bIns="0" rtlCol="0" anchor="ctr"/>
          <a:lstStyle/>
          <a:p>
            <a:pPr indent="0" marL="0">
              <a:buNone/>
            </a:pPr>
            <a:r>
              <a:rPr lang="en-US" sz="1150" dirty="0">
                <a:solidFill>
                  <a:srgbClr val="3A4A5F"/>
                </a:solidFill>
                <a:latin typeface="Calibri" pitchFamily="34" charset="0"/>
                <a:ea typeface="Calibri" pitchFamily="34" charset="-122"/>
                <a:cs typeface="Calibri" pitchFamily="34" charset="-120"/>
              </a:rPr>
              <a:t>All 375 logged adjustments applied the identical action.</a:t>
            </a:r>
            <a:endParaRPr lang="en-US" sz="1150" dirty="0"/>
          </a:p>
        </p:txBody>
      </p:sp>
      <p:sp>
        <p:nvSpPr>
          <p:cNvPr id="33" name="Shape 31"/>
          <p:cNvSpPr/>
          <p:nvPr/>
        </p:nvSpPr>
        <p:spPr>
          <a:xfrm>
            <a:off x="640080" y="4325112"/>
            <a:ext cx="10881360" cy="932688"/>
          </a:xfrm>
          <a:prstGeom prst="roundRect">
            <a:avLst>
              <a:gd name="adj" fmla="val 7843"/>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34" name="Shape 32"/>
          <p:cNvSpPr/>
          <p:nvPr/>
        </p:nvSpPr>
        <p:spPr>
          <a:xfrm>
            <a:off x="896112" y="4572000"/>
            <a:ext cx="420624" cy="420624"/>
          </a:xfrm>
          <a:prstGeom prst="ellipse">
            <a:avLst/>
          </a:prstGeom>
          <a:solidFill>
            <a:srgbClr val="B23A48"/>
          </a:solidFill>
          <a:ln w="12700">
            <a:solidFill>
              <a:srgbClr val="333333"/>
            </a:solidFill>
            <a:prstDash val="solid"/>
          </a:ln>
        </p:spPr>
      </p:sp>
      <p:sp>
        <p:nvSpPr>
          <p:cNvPr id="35" name="Text 33"/>
          <p:cNvSpPr txBox="1"/>
          <p:nvPr/>
        </p:nvSpPr>
        <p:spPr>
          <a:xfrm>
            <a:off x="896112" y="45720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6" name="Text 34"/>
          <p:cNvSpPr txBox="1"/>
          <p:nvPr/>
        </p:nvSpPr>
        <p:spPr>
          <a:xfrm>
            <a:off x="1481328" y="4416552"/>
            <a:ext cx="9966960" cy="301752"/>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Headline figures hardcoded</a:t>
            </a:r>
            <a:endParaRPr lang="en-US" sz="1400" dirty="0"/>
          </a:p>
        </p:txBody>
      </p:sp>
      <p:sp>
        <p:nvSpPr>
          <p:cNvPr id="37" name="Text 35"/>
          <p:cNvSpPr txBox="1"/>
          <p:nvPr/>
        </p:nvSpPr>
        <p:spPr>
          <a:xfrm>
            <a:off x="1481328" y="4727448"/>
            <a:ext cx="9966960" cy="457200"/>
          </a:xfrm>
          <a:prstGeom prst="rect">
            <a:avLst/>
          </a:prstGeom>
          <a:noFill/>
          <a:ln/>
        </p:spPr>
        <p:txBody>
          <a:bodyPr wrap="square" lIns="0" tIns="0" rIns="0" bIns="0" rtlCol="0" anchor="ctr"/>
          <a:lstStyle/>
          <a:p>
            <a:pPr indent="0" marL="0">
              <a:buNone/>
            </a:pPr>
            <a:r>
              <a:rPr lang="en-US" sz="1200" dirty="0">
                <a:solidFill>
                  <a:srgbClr val="3A4A5F"/>
                </a:solidFill>
                <a:latin typeface="Calibri" pitchFamily="34" charset="0"/>
                <a:ea typeface="Calibri" pitchFamily="34" charset="-122"/>
                <a:cs typeface="Calibri" pitchFamily="34" charset="-120"/>
              </a:rPr>
              <a:t>"12× faster" is the literal array [120, 70, 60, 5]. No stabilisation time was ever measured.</a:t>
            </a:r>
            <a:endParaRPr lang="en-US" sz="1200" dirty="0"/>
          </a:p>
        </p:txBody>
      </p:sp>
      <p:sp>
        <p:nvSpPr>
          <p:cNvPr id="38" name="Text 36"/>
          <p:cNvSpPr txBox="1"/>
          <p:nvPr/>
        </p:nvSpPr>
        <p:spPr>
          <a:xfrm>
            <a:off x="640080" y="5852160"/>
            <a:ext cx="10881360" cy="365760"/>
          </a:xfrm>
          <a:prstGeom prst="rect">
            <a:avLst/>
          </a:prstGeom>
          <a:noFill/>
          <a:ln/>
        </p:spPr>
        <p:txBody>
          <a:bodyPr wrap="square" rtlCol="0" anchor="ctr"/>
          <a:lstStyle/>
          <a:p>
            <a:pPr indent="0" marL="0">
              <a:buNone/>
            </a:pPr>
            <a:r>
              <a:rPr lang="en-US" sz="1300" i="1" dirty="0">
                <a:solidFill>
                  <a:srgbClr val="7B8A9C"/>
                </a:solidFill>
                <a:latin typeface="Calibri" pitchFamily="34" charset="0"/>
                <a:ea typeface="Calibri" pitchFamily="34" charset="-122"/>
                <a:cs typeface="Calibri" pitchFamily="34" charset="-120"/>
              </a:rPr>
              <a:t>All seven are pinned by regression tests that fail against the original behaviour.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How each was caught</a:t>
            </a:r>
            <a:endParaRPr lang="en-US" sz="3200" dirty="0"/>
          </a:p>
        </p:txBody>
      </p:sp>
      <p:sp>
        <p:nvSpPr>
          <p:cNvPr id="3" name="Text 1"/>
          <p:cNvSpPr txBox="1"/>
          <p:nvPr/>
        </p:nvSpPr>
        <p:spPr>
          <a:xfrm>
            <a:off x="640080" y="1097280"/>
            <a:ext cx="10881360" cy="41148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Not one was visible from a summary statistic. Every one was found by checking a physical invariant.</a:t>
            </a:r>
            <a:endParaRPr lang="en-US" sz="1500" dirty="0"/>
          </a:p>
        </p:txBody>
      </p:sp>
      <p:sp>
        <p:nvSpPr>
          <p:cNvPr id="4" name="Shape 2"/>
          <p:cNvSpPr/>
          <p:nvPr/>
        </p:nvSpPr>
        <p:spPr>
          <a:xfrm>
            <a:off x="640080" y="1691640"/>
            <a:ext cx="10881360" cy="749808"/>
          </a:xfrm>
          <a:prstGeom prst="roundRect">
            <a:avLst>
              <a:gd name="adj" fmla="val 9756"/>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960120" y="1764792"/>
            <a:ext cx="539496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Bytes ÷ packets on the monitored queue</a:t>
            </a:r>
            <a:endParaRPr lang="en-US" sz="1400" dirty="0"/>
          </a:p>
        </p:txBody>
      </p:sp>
      <p:sp>
        <p:nvSpPr>
          <p:cNvPr id="6" name="Text 4"/>
          <p:cNvSpPr txBox="1"/>
          <p:nvPr/>
        </p:nvSpPr>
        <p:spPr>
          <a:xfrm>
            <a:off x="960120" y="2093976"/>
            <a:ext cx="10241280" cy="310896"/>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66 B means you are queueing ACKs, not data</a:t>
            </a:r>
            <a:endParaRPr lang="en-US" sz="1250" dirty="0"/>
          </a:p>
        </p:txBody>
      </p:sp>
      <p:sp>
        <p:nvSpPr>
          <p:cNvPr id="7" name="Shape 5"/>
          <p:cNvSpPr/>
          <p:nvPr/>
        </p:nvSpPr>
        <p:spPr>
          <a:xfrm>
            <a:off x="640080" y="2560320"/>
            <a:ext cx="10881360" cy="749808"/>
          </a:xfrm>
          <a:prstGeom prst="roundRect">
            <a:avLst>
              <a:gd name="adj" fmla="val 9756"/>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8" name="Text 6"/>
          <p:cNvSpPr txBox="1"/>
          <p:nvPr/>
        </p:nvSpPr>
        <p:spPr>
          <a:xfrm>
            <a:off x="960120" y="2633472"/>
            <a:ext cx="539496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Drop rate vs the link's packet rate</a:t>
            </a:r>
            <a:endParaRPr lang="en-US" sz="1400" dirty="0"/>
          </a:p>
        </p:txBody>
      </p:sp>
      <p:sp>
        <p:nvSpPr>
          <p:cNvPr id="9" name="Text 7"/>
          <p:cNvSpPr txBox="1"/>
          <p:nvPr/>
        </p:nvSpPr>
        <p:spPr>
          <a:xfrm>
            <a:off x="960120" y="2962656"/>
            <a:ext cx="10241280" cy="310896"/>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A 10 Mbit link passes 826 pkt/s; 130,000 drops/s is impossible</a:t>
            </a:r>
            <a:endParaRPr lang="en-US" sz="1250" dirty="0"/>
          </a:p>
        </p:txBody>
      </p:sp>
      <p:sp>
        <p:nvSpPr>
          <p:cNvPr id="10" name="Shape 8"/>
          <p:cNvSpPr/>
          <p:nvPr/>
        </p:nvSpPr>
        <p:spPr>
          <a:xfrm>
            <a:off x="640080" y="3429000"/>
            <a:ext cx="10881360" cy="749808"/>
          </a:xfrm>
          <a:prstGeom prst="roundRect">
            <a:avLst>
              <a:gd name="adj" fmla="val 9756"/>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1" name="Text 9"/>
          <p:cNvSpPr txBox="1"/>
          <p:nvPr/>
        </p:nvSpPr>
        <p:spPr>
          <a:xfrm>
            <a:off x="960120" y="3502152"/>
            <a:ext cx="539496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Does varying a control input change the output?</a:t>
            </a:r>
            <a:endParaRPr lang="en-US" sz="1400" dirty="0"/>
          </a:p>
        </p:txBody>
      </p:sp>
      <p:sp>
        <p:nvSpPr>
          <p:cNvPr id="12" name="Text 10"/>
          <p:cNvSpPr txBox="1"/>
          <p:nvPr/>
        </p:nvSpPr>
        <p:spPr>
          <a:xfrm>
            <a:off x="960120" y="3831336"/>
            <a:ext cx="10241280" cy="310896"/>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If not, the control path is inert however it is labelled</a:t>
            </a:r>
            <a:endParaRPr lang="en-US" sz="1250" dirty="0"/>
          </a:p>
        </p:txBody>
      </p:sp>
      <p:sp>
        <p:nvSpPr>
          <p:cNvPr id="13" name="Shape 11"/>
          <p:cNvSpPr/>
          <p:nvPr/>
        </p:nvSpPr>
        <p:spPr>
          <a:xfrm>
            <a:off x="640080" y="4297680"/>
            <a:ext cx="10881360" cy="749808"/>
          </a:xfrm>
          <a:prstGeom prst="roundRect">
            <a:avLst>
              <a:gd name="adj" fmla="val 9756"/>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4" name="Text 12"/>
          <p:cNvSpPr txBox="1"/>
          <p:nvPr/>
        </p:nvSpPr>
        <p:spPr>
          <a:xfrm>
            <a:off x="960120" y="4370832"/>
            <a:ext cx="539496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Is the threshold reachable at all?</a:t>
            </a:r>
            <a:endParaRPr lang="en-US" sz="1400" dirty="0"/>
          </a:p>
        </p:txBody>
      </p:sp>
      <p:sp>
        <p:nvSpPr>
          <p:cNvPr id="15" name="Text 13"/>
          <p:cNvSpPr txBox="1"/>
          <p:nvPr/>
        </p:nvSpPr>
        <p:spPr>
          <a:xfrm>
            <a:off x="960120" y="4700016"/>
            <a:ext cx="10241280" cy="310896"/>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10 MB elephant threshold, 9.38 MB maximum flow share</a:t>
            </a:r>
            <a:endParaRPr lang="en-US" sz="1250" dirty="0"/>
          </a:p>
        </p:txBody>
      </p:sp>
      <p:sp>
        <p:nvSpPr>
          <p:cNvPr id="16" name="Shape 14"/>
          <p:cNvSpPr/>
          <p:nvPr/>
        </p:nvSpPr>
        <p:spPr>
          <a:xfrm>
            <a:off x="640080" y="5166360"/>
            <a:ext cx="10881360" cy="749808"/>
          </a:xfrm>
          <a:prstGeom prst="roundRect">
            <a:avLst>
              <a:gd name="adj" fmla="val 9756"/>
            </a:avLst>
          </a:prstGeom>
          <a:solidFill>
            <a:srgbClr val="EEF4F8"/>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7" name="Text 15"/>
          <p:cNvSpPr txBox="1"/>
          <p:nvPr/>
        </p:nvSpPr>
        <p:spPr>
          <a:xfrm>
            <a:off x="960120" y="5239512"/>
            <a:ext cx="5394960"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Does the reported value reach the kernel?</a:t>
            </a:r>
            <a:endParaRPr lang="en-US" sz="1400" dirty="0"/>
          </a:p>
        </p:txBody>
      </p:sp>
      <p:sp>
        <p:nvSpPr>
          <p:cNvPr id="18" name="Text 16"/>
          <p:cNvSpPr txBox="1"/>
          <p:nvPr/>
        </p:nvSpPr>
        <p:spPr>
          <a:xfrm>
            <a:off x="960120" y="5568696"/>
            <a:ext cx="10241280" cy="310896"/>
          </a:xfrm>
          <a:prstGeom prst="rect">
            <a:avLst/>
          </a:prstGeom>
          <a:noFill/>
          <a:ln/>
        </p:spPr>
        <p:txBody>
          <a:bodyPr wrap="square" lIns="0" tIns="0" rIns="0" bIns="0" rtlCol="0" anchor="ctr"/>
          <a:lstStyle/>
          <a:p>
            <a:pPr indent="0" marL="0">
              <a:buNone/>
            </a:pPr>
            <a:r>
              <a:rPr lang="en-US" sz="1250" dirty="0">
                <a:solidFill>
                  <a:srgbClr val="3A4A5F"/>
                </a:solidFill>
                <a:latin typeface="Calibri" pitchFamily="34" charset="0"/>
                <a:ea typeface="Calibri" pitchFamily="34" charset="-122"/>
                <a:cs typeface="Calibri" pitchFamily="34" charset="-120"/>
              </a:rPr>
              <a:t>A float in userspace is not the qdisc parameter</a:t>
            </a:r>
            <a:endParaRPr lang="en-US" sz="1250" dirty="0"/>
          </a:p>
        </p:txBody>
      </p:sp>
      <p:sp>
        <p:nvSpPr>
          <p:cNvPr id="19" name="Text 17"/>
          <p:cNvSpPr txBox="1"/>
          <p:nvPr/>
        </p:nvSpPr>
        <p:spPr>
          <a:xfrm>
            <a:off x="640080" y="6080760"/>
            <a:ext cx="10881360" cy="365760"/>
          </a:xfrm>
          <a:prstGeom prst="rect">
            <a:avLst/>
          </a:prstGeom>
          <a:noFill/>
          <a:ln/>
        </p:spPr>
        <p:txBody>
          <a:bodyPr wrap="square" rtlCol="0" anchor="ctr"/>
          <a:lstStyle/>
          <a:p>
            <a:pPr indent="0" marL="0">
              <a:buNone/>
            </a:pPr>
            <a:r>
              <a:rPr lang="en-US" sz="1400" i="1" dirty="0">
                <a:solidFill>
                  <a:srgbClr val="13233B"/>
                </a:solidFill>
                <a:latin typeface="Calibri" pitchFamily="34" charset="0"/>
                <a:ea typeface="Calibri" pitchFamily="34" charset="-122"/>
                <a:cs typeface="Calibri" pitchFamily="34" charset="-120"/>
              </a:rPr>
              <a:t>We think this is the most transferable part of the work.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3233B"/>
                </a:solidFill>
                <a:latin typeface="Cambria" pitchFamily="34" charset="0"/>
                <a:ea typeface="Cambria" pitchFamily="34" charset="-122"/>
                <a:cs typeface="Cambria" pitchFamily="34" charset="-120"/>
              </a:rPr>
              <a:t>Where this sits against recent work</a:t>
            </a:r>
            <a:endParaRPr lang="en-US" sz="3200" dirty="0"/>
          </a:p>
        </p:txBody>
      </p:sp>
      <p:sp>
        <p:nvSpPr>
          <p:cNvPr id="3" name="Text 1"/>
          <p:cNvSpPr txBox="1"/>
          <p:nvPr/>
        </p:nvSpPr>
        <p:spPr>
          <a:xfrm>
            <a:off x="640080" y="1097280"/>
            <a:ext cx="10881360" cy="365760"/>
          </a:xfrm>
          <a:prstGeom prst="rect">
            <a:avLst/>
          </a:prstGeom>
          <a:noFill/>
          <a:ln/>
        </p:spPr>
        <p:txBody>
          <a:bodyPr wrap="square" rtlCol="0" anchor="ctr"/>
          <a:lstStyle/>
          <a:p>
            <a:pPr indent="0" marL="0">
              <a:buNone/>
            </a:pPr>
            <a:r>
              <a:rPr lang="en-US" sz="1500" dirty="0">
                <a:solidFill>
                  <a:srgbClr val="3A4A5F"/>
                </a:solidFill>
                <a:latin typeface="Calibri" pitchFamily="34" charset="0"/>
                <a:ea typeface="Calibri" pitchFamily="34" charset="-122"/>
                <a:cs typeface="Calibri" pitchFamily="34" charset="-120"/>
              </a:rPr>
              <a:t>2023–2026 · what is taken, and what is not</a:t>
            </a:r>
            <a:endParaRPr lang="en-US" sz="1500" dirty="0"/>
          </a:p>
        </p:txBody>
      </p:sp>
      <p:sp>
        <p:nvSpPr>
          <p:cNvPr id="4" name="Shape 2"/>
          <p:cNvSpPr/>
          <p:nvPr/>
        </p:nvSpPr>
        <p:spPr>
          <a:xfrm>
            <a:off x="640080" y="1600200"/>
            <a:ext cx="5349240" cy="2240280"/>
          </a:xfrm>
          <a:prstGeom prst="roundRect">
            <a:avLst>
              <a:gd name="adj" fmla="val 3265"/>
            </a:avLst>
          </a:prstGeom>
          <a:solidFill>
            <a:srgbClr val="FBEEF0"/>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5" name="Text 3"/>
          <p:cNvSpPr txBox="1"/>
          <p:nvPr/>
        </p:nvSpPr>
        <p:spPr>
          <a:xfrm>
            <a:off x="914400" y="1783080"/>
            <a:ext cx="4800600" cy="347472"/>
          </a:xfrm>
          <a:prstGeom prst="rect">
            <a:avLst/>
          </a:prstGeom>
          <a:noFill/>
          <a:ln/>
        </p:spPr>
        <p:txBody>
          <a:bodyPr wrap="square" lIns="0" tIns="0" rIns="0" bIns="0" rtlCol="0" anchor="ctr"/>
          <a:lstStyle/>
          <a:p>
            <a:pPr indent="0" marL="0">
              <a:buNone/>
            </a:pPr>
            <a:r>
              <a:rPr lang="en-US" sz="1500" b="1" dirty="0">
                <a:solidFill>
                  <a:srgbClr val="B23A48"/>
                </a:solidFill>
                <a:latin typeface="Cambria" pitchFamily="34" charset="0"/>
                <a:ea typeface="Cambria" pitchFamily="34" charset="-122"/>
                <a:cs typeface="Cambria" pitchFamily="34" charset="-120"/>
              </a:rPr>
              <a:t>Already done: cannot claim</a:t>
            </a:r>
            <a:endParaRPr lang="en-US" sz="1500" dirty="0"/>
          </a:p>
        </p:txBody>
      </p:sp>
      <p:sp>
        <p:nvSpPr>
          <p:cNvPr id="6" name="Text 4"/>
          <p:cNvSpPr txBox="1"/>
          <p:nvPr/>
        </p:nvSpPr>
        <p:spPr>
          <a:xfrm>
            <a:off x="914400" y="2194560"/>
            <a:ext cx="480060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DESiRED (2024) adapts an AQM target at runtime with DRL + INT on P4</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Adaptive RED (2001) is the AIMD rule we borrow</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ACoDel (2020) adapts CoDel's interval, with a stability proof we lack</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QueuePilot (2023), AQM-LLM (2026) learn AQM policies</a:t>
            </a:r>
            <a:endParaRPr lang="en-US" sz="1200" dirty="0"/>
          </a:p>
        </p:txBody>
      </p:sp>
      <p:sp>
        <p:nvSpPr>
          <p:cNvPr id="7" name="Shape 5"/>
          <p:cNvSpPr/>
          <p:nvPr/>
        </p:nvSpPr>
        <p:spPr>
          <a:xfrm>
            <a:off x="6263640" y="1600200"/>
            <a:ext cx="5257800" cy="2240280"/>
          </a:xfrm>
          <a:prstGeom prst="roundRect">
            <a:avLst>
              <a:gd name="adj" fmla="val 3265"/>
            </a:avLst>
          </a:prstGeom>
          <a:solidFill>
            <a:srgbClr val="EAF4EE"/>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8" name="Text 6"/>
          <p:cNvSpPr txBox="1"/>
          <p:nvPr/>
        </p:nvSpPr>
        <p:spPr>
          <a:xfrm>
            <a:off x="6537960" y="1783080"/>
            <a:ext cx="4709160" cy="347472"/>
          </a:xfrm>
          <a:prstGeom prst="rect">
            <a:avLst/>
          </a:prstGeom>
          <a:noFill/>
          <a:ln/>
        </p:spPr>
        <p:txBody>
          <a:bodyPr wrap="square" lIns="0" tIns="0" rIns="0" bIns="0" rtlCol="0" anchor="ctr"/>
          <a:lstStyle/>
          <a:p>
            <a:pPr indent="0" marL="0">
              <a:buNone/>
            </a:pPr>
            <a:r>
              <a:rPr lang="en-US" sz="1500" b="1" dirty="0">
                <a:solidFill>
                  <a:srgbClr val="2C7A5A"/>
                </a:solidFill>
                <a:latin typeface="Cambria" pitchFamily="34" charset="0"/>
                <a:ea typeface="Cambria" pitchFamily="34" charset="-122"/>
                <a:cs typeface="Cambria" pitchFamily="34" charset="-120"/>
              </a:rPr>
              <a:t>Not done by anyone: our claim</a:t>
            </a:r>
            <a:endParaRPr lang="en-US" sz="1500" dirty="0"/>
          </a:p>
        </p:txBody>
      </p:sp>
      <p:sp>
        <p:nvSpPr>
          <p:cNvPr id="9" name="Text 7"/>
          <p:cNvSpPr txBox="1"/>
          <p:nvPr/>
        </p:nvSpPr>
        <p:spPr>
          <a:xfrm>
            <a:off x="6537960" y="2194560"/>
            <a:ext cx="4709160" cy="15544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A sham-controller condition separating CPU cost from decisions</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Sparse-probe and bulk-flow latency reported separately</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Comparison against eight alternative disciplines</a:t>
            </a:r>
            <a:endParaRPr lang="en-US" sz="1200" dirty="0"/>
          </a:p>
          <a:p>
            <a:pPr marL="342900" indent="-342900">
              <a:spcAft>
                <a:spcPts val="600"/>
              </a:spcAft>
              <a:buSzPct val="100000"/>
              <a:buChar char="•"/>
            </a:pPr>
            <a:r>
              <a:rPr lang="en-US" sz="1200" dirty="0">
                <a:solidFill>
                  <a:srgbClr val="3A4A5F"/>
                </a:solidFill>
                <a:latin typeface="Calibri" pitchFamily="34" charset="0"/>
                <a:ea typeface="Calibri" pitchFamily="34" charset="-122"/>
                <a:cs typeface="Calibri" pitchFamily="34" charset="-120"/>
              </a:rPr>
              <a:t>A published null result for the adaptation itself</a:t>
            </a:r>
            <a:endParaRPr lang="en-US" sz="1200" dirty="0"/>
          </a:p>
        </p:txBody>
      </p:sp>
      <p:sp>
        <p:nvSpPr>
          <p:cNvPr id="10" name="Shape 8"/>
          <p:cNvSpPr/>
          <p:nvPr/>
        </p:nvSpPr>
        <p:spPr>
          <a:xfrm>
            <a:off x="640080" y="4114800"/>
            <a:ext cx="10881360" cy="1554480"/>
          </a:xfrm>
          <a:prstGeom prst="roundRect">
            <a:avLst>
              <a:gd name="adj" fmla="val 4706"/>
            </a:avLst>
          </a:prstGeom>
          <a:solidFill>
            <a:srgbClr val="E8F1F6"/>
          </a:solidFill>
          <a:ln w="9525">
            <a:solidFill>
              <a:srgbClr val="D8E4EC"/>
            </a:solidFill>
            <a:prstDash val="solid"/>
          </a:ln>
          <a:effectLst>
            <a:outerShdw sx="100000" sy="100000" kx="0" ky="0" algn="bl" rotWithShape="0" blurRad="50800" dist="12700" dir="5400000">
              <a:srgbClr val="BFCEDA">
                <a:alpha val="35000"/>
              </a:srgbClr>
            </a:outerShdw>
          </a:effectLst>
        </p:spPr>
      </p:sp>
      <p:sp>
        <p:nvSpPr>
          <p:cNvPr id="11" name="Text 9"/>
          <p:cNvSpPr txBox="1"/>
          <p:nvPr/>
        </p:nvSpPr>
        <p:spPr>
          <a:xfrm>
            <a:off x="960120" y="4279392"/>
            <a:ext cx="10515600" cy="320040"/>
          </a:xfrm>
          <a:prstGeom prst="rect">
            <a:avLst/>
          </a:prstGeom>
          <a:noFill/>
          <a:ln/>
        </p:spPr>
        <p:txBody>
          <a:bodyPr wrap="square" lIns="0" tIns="0" rIns="0" bIns="0" rtlCol="0" anchor="ctr"/>
          <a:lstStyle/>
          <a:p>
            <a:pPr indent="0" marL="0">
              <a:buNone/>
            </a:pPr>
            <a:r>
              <a:rPr lang="en-US" sz="1400" b="1" spc="100" kern="0" dirty="0">
                <a:solidFill>
                  <a:srgbClr val="065A82"/>
                </a:solidFill>
                <a:latin typeface="Calibri" pitchFamily="34" charset="0"/>
                <a:ea typeface="Calibri" pitchFamily="34" charset="-122"/>
                <a:cs typeface="Calibri" pitchFamily="34" charset="-120"/>
              </a:rPr>
              <a:t>The claim we can defend</a:t>
            </a:r>
            <a:endParaRPr lang="en-US" sz="1400" dirty="0"/>
          </a:p>
        </p:txBody>
      </p:sp>
      <p:sp>
        <p:nvSpPr>
          <p:cNvPr id="12" name="Text 10"/>
          <p:cNvSpPr txBox="1"/>
          <p:nvPr/>
        </p:nvSpPr>
        <p:spPr>
          <a:xfrm>
            <a:off x="960120" y="4617720"/>
            <a:ext cx="10515600" cy="914400"/>
          </a:xfrm>
          <a:prstGeom prst="rect">
            <a:avLst/>
          </a:prstGeom>
          <a:noFill/>
          <a:ln/>
        </p:spPr>
        <p:txBody>
          <a:bodyPr wrap="square" lIns="0" tIns="0" rIns="0" bIns="0" rtlCol="0" anchor="ctr"/>
          <a:lstStyle/>
          <a:p>
            <a:pPr indent="0" marL="0">
              <a:buNone/>
            </a:pPr>
            <a:r>
              <a:rPr lang="en-US" sz="1700" b="1" dirty="0">
                <a:solidFill>
                  <a:srgbClr val="13233B"/>
                </a:solidFill>
                <a:latin typeface="Cambria" pitchFamily="34" charset="0"/>
                <a:ea typeface="Cambria" pitchFamily="34" charset="-122"/>
                <a:cs typeface="Cambria" pitchFamily="34" charset="-120"/>
              </a:rPr>
              <a:t>A falsifiable predicate for when adapting an AQM's parameters pays, pre-registered and tested to destruction, with the controlled apparatus needed to establish it.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40080" y="1737360"/>
            <a:ext cx="10881360" cy="365760"/>
          </a:xfrm>
          <a:prstGeom prst="rect">
            <a:avLst/>
          </a:prstGeom>
          <a:noFill/>
          <a:ln/>
        </p:spPr>
        <p:txBody>
          <a:bodyPr wrap="square" rtlCol="0" anchor="ctr"/>
          <a:lstStyle/>
          <a:p>
            <a:pPr indent="0" marL="0">
              <a:buNone/>
            </a:pPr>
            <a:r>
              <a:rPr lang="en-US" sz="1500" spc="200" kern="0" dirty="0">
                <a:solidFill>
                  <a:srgbClr val="9DB8D6"/>
                </a:solidFill>
                <a:latin typeface="Calibri" pitchFamily="34" charset="0"/>
                <a:ea typeface="Calibri" pitchFamily="34" charset="-122"/>
                <a:cs typeface="Calibri" pitchFamily="34" charset="-120"/>
              </a:rPr>
              <a:t>CONCLUSION</a:t>
            </a:r>
            <a:endParaRPr lang="en-US" sz="1500" dirty="0"/>
          </a:p>
        </p:txBody>
      </p:sp>
      <p:sp>
        <p:nvSpPr>
          <p:cNvPr id="3" name="Text 1"/>
          <p:cNvSpPr txBox="1"/>
          <p:nvPr/>
        </p:nvSpPr>
        <p:spPr>
          <a:xfrm>
            <a:off x="640080" y="2194560"/>
            <a:ext cx="10881360" cy="16459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we are left with</a:t>
            </a:r>
            <a:endParaRPr lang="en-US" sz="4200" dirty="0"/>
          </a:p>
        </p:txBody>
      </p:sp>
      <p:sp>
        <p:nvSpPr>
          <p:cNvPr id="4" name="Shape 2"/>
          <p:cNvSpPr/>
          <p:nvPr/>
        </p:nvSpPr>
        <p:spPr>
          <a:xfrm>
            <a:off x="640080" y="3456432"/>
            <a:ext cx="10881360" cy="658368"/>
          </a:xfrm>
          <a:prstGeom prst="roundRect">
            <a:avLst>
              <a:gd name="adj" fmla="val 9722"/>
            </a:avLst>
          </a:prstGeom>
          <a:solidFill>
            <a:srgbClr val="2C3568"/>
          </a:solidFill>
          <a:ln w="12700">
            <a:solidFill>
              <a:srgbClr val="333333"/>
            </a:solidFill>
            <a:prstDash val="solid"/>
          </a:ln>
        </p:spPr>
      </p:sp>
      <p:sp>
        <p:nvSpPr>
          <p:cNvPr id="5" name="Shape 3"/>
          <p:cNvSpPr/>
          <p:nvPr/>
        </p:nvSpPr>
        <p:spPr>
          <a:xfrm>
            <a:off x="914400" y="3602736"/>
            <a:ext cx="365760" cy="365760"/>
          </a:xfrm>
          <a:prstGeom prst="ellipse">
            <a:avLst/>
          </a:prstGeom>
          <a:solidFill>
            <a:srgbClr val="1C7293"/>
          </a:solidFill>
          <a:ln w="12700">
            <a:solidFill>
              <a:srgbClr val="333333"/>
            </a:solidFill>
            <a:prstDash val="solid"/>
          </a:ln>
        </p:spPr>
      </p:sp>
      <p:sp>
        <p:nvSpPr>
          <p:cNvPr id="6" name="Text 4"/>
          <p:cNvSpPr txBox="1"/>
          <p:nvPr/>
        </p:nvSpPr>
        <p:spPr>
          <a:xfrm>
            <a:off x="914400" y="36027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508760" y="3502152"/>
            <a:ext cx="10058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Flow queueing with a delay target is what matters</a:t>
            </a:r>
            <a:endParaRPr lang="en-US" sz="1400" dirty="0"/>
          </a:p>
        </p:txBody>
      </p:sp>
      <p:sp>
        <p:nvSpPr>
          <p:cNvPr id="8" name="Text 6"/>
          <p:cNvSpPr txBox="1"/>
          <p:nvPr/>
        </p:nvSpPr>
        <p:spPr>
          <a:xfrm>
            <a:off x="1508760" y="3803904"/>
            <a:ext cx="10058400" cy="283464"/>
          </a:xfrm>
          <a:prstGeom prst="rect">
            <a:avLst/>
          </a:prstGeom>
          <a:noFill/>
          <a:ln/>
        </p:spPr>
        <p:txBody>
          <a:bodyPr wrap="square" lIns="0" tIns="0" rIns="0" bIns="0" rtlCol="0" anchor="ctr"/>
          <a:lstStyle/>
          <a:p>
            <a:pPr indent="0" marL="0">
              <a:buNone/>
            </a:pPr>
            <a:r>
              <a:rPr lang="en-US" sz="1150" dirty="0">
                <a:solidFill>
                  <a:srgbClr val="A9C3DE"/>
                </a:solidFill>
                <a:latin typeface="Calibri" pitchFamily="34" charset="0"/>
                <a:ea typeface="Calibri" pitchFamily="34" charset="-122"/>
                <a:cs typeface="Calibri" pitchFamily="34" charset="-120"/>
              </a:rPr>
              <a:t>About 100x tail-latency reduction at no goodput cost</a:t>
            </a:r>
            <a:endParaRPr lang="en-US" sz="1150" dirty="0"/>
          </a:p>
        </p:txBody>
      </p:sp>
      <p:sp>
        <p:nvSpPr>
          <p:cNvPr id="9" name="Shape 7"/>
          <p:cNvSpPr/>
          <p:nvPr/>
        </p:nvSpPr>
        <p:spPr>
          <a:xfrm>
            <a:off x="640080" y="4187952"/>
            <a:ext cx="10881360" cy="658368"/>
          </a:xfrm>
          <a:prstGeom prst="roundRect">
            <a:avLst>
              <a:gd name="adj" fmla="val 9722"/>
            </a:avLst>
          </a:prstGeom>
          <a:solidFill>
            <a:srgbClr val="2C3568"/>
          </a:solidFill>
          <a:ln w="12700">
            <a:solidFill>
              <a:srgbClr val="333333"/>
            </a:solidFill>
            <a:prstDash val="solid"/>
          </a:ln>
        </p:spPr>
      </p:sp>
      <p:sp>
        <p:nvSpPr>
          <p:cNvPr id="10" name="Shape 8"/>
          <p:cNvSpPr/>
          <p:nvPr/>
        </p:nvSpPr>
        <p:spPr>
          <a:xfrm>
            <a:off x="914400" y="4334256"/>
            <a:ext cx="365760" cy="365760"/>
          </a:xfrm>
          <a:prstGeom prst="ellipse">
            <a:avLst/>
          </a:prstGeom>
          <a:solidFill>
            <a:srgbClr val="1C7293"/>
          </a:solidFill>
          <a:ln w="12700">
            <a:solidFill>
              <a:srgbClr val="333333"/>
            </a:solidFill>
            <a:prstDash val="solid"/>
          </a:ln>
        </p:spPr>
      </p:sp>
      <p:sp>
        <p:nvSpPr>
          <p:cNvPr id="11" name="Text 9"/>
          <p:cNvSpPr txBox="1"/>
          <p:nvPr/>
        </p:nvSpPr>
        <p:spPr>
          <a:xfrm>
            <a:off x="914400" y="4334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508760" y="4233672"/>
            <a:ext cx="10058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Whether tuning helps is decided by r = target/RTT</a:t>
            </a:r>
            <a:endParaRPr lang="en-US" sz="1400" dirty="0"/>
          </a:p>
        </p:txBody>
      </p:sp>
      <p:sp>
        <p:nvSpPr>
          <p:cNvPr id="13" name="Text 11"/>
          <p:cNvSpPr txBox="1"/>
          <p:nvPr/>
        </p:nvSpPr>
        <p:spPr>
          <a:xfrm>
            <a:off x="1508760" y="4535424"/>
            <a:ext cx="10058400" cy="283464"/>
          </a:xfrm>
          <a:prstGeom prst="rect">
            <a:avLst/>
          </a:prstGeom>
          <a:noFill/>
          <a:ln/>
        </p:spPr>
        <p:txBody>
          <a:bodyPr wrap="square" lIns="0" tIns="0" rIns="0" bIns="0" rtlCol="0" anchor="ctr"/>
          <a:lstStyle/>
          <a:p>
            <a:pPr indent="0" marL="0">
              <a:buNone/>
            </a:pPr>
            <a:r>
              <a:rPr lang="en-US" sz="1150" dirty="0">
                <a:solidFill>
                  <a:srgbClr val="A9C3DE"/>
                </a:solidFill>
                <a:latin typeface="Calibri" pitchFamily="34" charset="0"/>
                <a:ea typeface="Calibri" pitchFamily="34" charset="-122"/>
                <a:cs typeface="Calibri" pitchFamily="34" charset="-120"/>
              </a:rPr>
              <a:t>Half the benefit at r = 0.50; correct configuration sits five to ten times below that</a:t>
            </a:r>
            <a:endParaRPr lang="en-US" sz="1150" dirty="0"/>
          </a:p>
        </p:txBody>
      </p:sp>
      <p:sp>
        <p:nvSpPr>
          <p:cNvPr id="14" name="Shape 12"/>
          <p:cNvSpPr/>
          <p:nvPr/>
        </p:nvSpPr>
        <p:spPr>
          <a:xfrm>
            <a:off x="640080" y="4919472"/>
            <a:ext cx="10881360" cy="658368"/>
          </a:xfrm>
          <a:prstGeom prst="roundRect">
            <a:avLst>
              <a:gd name="adj" fmla="val 9722"/>
            </a:avLst>
          </a:prstGeom>
          <a:solidFill>
            <a:srgbClr val="2C3568"/>
          </a:solidFill>
          <a:ln w="12700">
            <a:solidFill>
              <a:srgbClr val="333333"/>
            </a:solidFill>
            <a:prstDash val="solid"/>
          </a:ln>
        </p:spPr>
      </p:sp>
      <p:sp>
        <p:nvSpPr>
          <p:cNvPr id="15" name="Shape 13"/>
          <p:cNvSpPr/>
          <p:nvPr/>
        </p:nvSpPr>
        <p:spPr>
          <a:xfrm>
            <a:off x="914400" y="5065776"/>
            <a:ext cx="365760" cy="365760"/>
          </a:xfrm>
          <a:prstGeom prst="ellipse">
            <a:avLst/>
          </a:prstGeom>
          <a:solidFill>
            <a:srgbClr val="1C7293"/>
          </a:solidFill>
          <a:ln w="12700">
            <a:solidFill>
              <a:srgbClr val="333333"/>
            </a:solidFill>
            <a:prstDash val="solid"/>
          </a:ln>
        </p:spPr>
      </p:sp>
      <p:sp>
        <p:nvSpPr>
          <p:cNvPr id="16" name="Text 14"/>
          <p:cNvSpPr txBox="1"/>
          <p:nvPr/>
        </p:nvSpPr>
        <p:spPr>
          <a:xfrm>
            <a:off x="914400" y="5065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508760" y="4965192"/>
            <a:ext cx="10058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ratio fixes the shape, not the ceiling</a:t>
            </a:r>
            <a:endParaRPr lang="en-US" sz="1400" dirty="0"/>
          </a:p>
        </p:txBody>
      </p:sp>
      <p:sp>
        <p:nvSpPr>
          <p:cNvPr id="18" name="Text 16"/>
          <p:cNvSpPr txBox="1"/>
          <p:nvPr/>
        </p:nvSpPr>
        <p:spPr>
          <a:xfrm>
            <a:off x="1508760" y="5266944"/>
            <a:ext cx="10058400" cy="283464"/>
          </a:xfrm>
          <a:prstGeom prst="rect">
            <a:avLst/>
          </a:prstGeom>
          <a:noFill/>
          <a:ln/>
        </p:spPr>
        <p:txBody>
          <a:bodyPr wrap="square" lIns="0" tIns="0" rIns="0" bIns="0" rtlCol="0" anchor="ctr"/>
          <a:lstStyle/>
          <a:p>
            <a:pPr indent="0" marL="0">
              <a:buNone/>
            </a:pPr>
            <a:r>
              <a:rPr lang="en-US" sz="1150" dirty="0">
                <a:solidFill>
                  <a:srgbClr val="A9C3DE"/>
                </a:solidFill>
                <a:latin typeface="Calibri" pitchFamily="34" charset="0"/>
                <a:ea typeface="Calibri" pitchFamily="34" charset="-122"/>
                <a:cs typeface="Calibri" pitchFamily="34" charset="-120"/>
              </a:rPr>
              <a:t>At r = 1 the benefit still runs 7.1 to 18.2% across a 25-fold change in link rate</a:t>
            </a:r>
            <a:endParaRPr lang="en-US" sz="1150" dirty="0"/>
          </a:p>
        </p:txBody>
      </p:sp>
      <p:sp>
        <p:nvSpPr>
          <p:cNvPr id="19" name="Shape 17"/>
          <p:cNvSpPr/>
          <p:nvPr/>
        </p:nvSpPr>
        <p:spPr>
          <a:xfrm>
            <a:off x="640080" y="5650992"/>
            <a:ext cx="10881360" cy="658368"/>
          </a:xfrm>
          <a:prstGeom prst="roundRect">
            <a:avLst>
              <a:gd name="adj" fmla="val 9722"/>
            </a:avLst>
          </a:prstGeom>
          <a:solidFill>
            <a:srgbClr val="2C3568"/>
          </a:solidFill>
          <a:ln w="12700">
            <a:solidFill>
              <a:srgbClr val="333333"/>
            </a:solidFill>
            <a:prstDash val="solid"/>
          </a:ln>
        </p:spPr>
      </p:sp>
      <p:sp>
        <p:nvSpPr>
          <p:cNvPr id="20" name="Shape 18"/>
          <p:cNvSpPr/>
          <p:nvPr/>
        </p:nvSpPr>
        <p:spPr>
          <a:xfrm>
            <a:off x="914400" y="5797296"/>
            <a:ext cx="365760" cy="365760"/>
          </a:xfrm>
          <a:prstGeom prst="ellipse">
            <a:avLst/>
          </a:prstGeom>
          <a:solidFill>
            <a:srgbClr val="1C7293"/>
          </a:solidFill>
          <a:ln w="12700">
            <a:solidFill>
              <a:srgbClr val="333333"/>
            </a:solidFill>
            <a:prstDash val="solid"/>
          </a:ln>
        </p:spPr>
      </p:sp>
      <p:sp>
        <p:nvSpPr>
          <p:cNvPr id="21" name="Text 19"/>
          <p:cNvSpPr txBox="1"/>
          <p:nvPr/>
        </p:nvSpPr>
        <p:spPr>
          <a:xfrm>
            <a:off x="914400" y="5797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508760" y="5696712"/>
            <a:ext cx="10058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Where r is small, switch discipline instead</a:t>
            </a:r>
            <a:endParaRPr lang="en-US" sz="1400" dirty="0"/>
          </a:p>
        </p:txBody>
      </p:sp>
      <p:sp>
        <p:nvSpPr>
          <p:cNvPr id="23" name="Text 21"/>
          <p:cNvSpPr txBox="1"/>
          <p:nvPr/>
        </p:nvSpPr>
        <p:spPr>
          <a:xfrm>
            <a:off x="1508760" y="5998464"/>
            <a:ext cx="10058400" cy="283464"/>
          </a:xfrm>
          <a:prstGeom prst="rect">
            <a:avLst/>
          </a:prstGeom>
          <a:noFill/>
          <a:ln/>
        </p:spPr>
        <p:txBody>
          <a:bodyPr wrap="square" lIns="0" tIns="0" rIns="0" bIns="0" rtlCol="0" anchor="ctr"/>
          <a:lstStyle/>
          <a:p>
            <a:pPr indent="0" marL="0">
              <a:buNone/>
            </a:pPr>
            <a:r>
              <a:rPr lang="en-US" sz="1150" dirty="0">
                <a:solidFill>
                  <a:srgbClr val="A9C3DE"/>
                </a:solidFill>
                <a:latin typeface="Calibri" pitchFamily="34" charset="0"/>
                <a:ea typeface="Calibri" pitchFamily="34" charset="-122"/>
                <a:cs typeface="Calibri" pitchFamily="34" charset="-120"/>
              </a:rPr>
              <a:t>CAKE needs no controller and beats the adapted system at every RTT tested</a:t>
            </a:r>
            <a:endParaRPr lang="en-US" sz="1150" dirty="0"/>
          </a:p>
        </p:txBody>
      </p:sp>
      <p:sp>
        <p:nvSpPr>
          <p:cNvPr id="24" name="Text 22"/>
          <p:cNvSpPr txBox="1"/>
          <p:nvPr/>
        </p:nvSpPr>
        <p:spPr>
          <a:xfrm>
            <a:off x="640080" y="6446520"/>
            <a:ext cx="10881360" cy="320040"/>
          </a:xfrm>
          <a:prstGeom prst="rect">
            <a:avLst/>
          </a:prstGeom>
          <a:noFill/>
          <a:ln/>
        </p:spPr>
        <p:txBody>
          <a:bodyPr wrap="square" rtlCol="0" anchor="ctr"/>
          <a:lstStyle/>
          <a:p>
            <a:pPr indent="0" marL="0">
              <a:buNone/>
            </a:pPr>
            <a:r>
              <a:rPr lang="en-US" sz="1200" dirty="0">
                <a:solidFill>
                  <a:srgbClr val="7F97B8"/>
                </a:solidFill>
                <a:latin typeface="Calibri" pitchFamily="34" charset="0"/>
                <a:ea typeface="Calibri" pitchFamily="34" charset="-122"/>
                <a:cs typeface="Calibri" pitchFamily="34" charset="-120"/>
              </a:rPr>
              <a:t>github.com/Amritha902/ccn-linux-qdisc-study   ·   every number in the paper generated from the logs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Runtime Parameter Adaptation for fq_codel</dc:title>
  <dc:subject>PptxGenJS Presentation</dc:subject>
  <dc:creator>Amritha S, Yugeshwaran P, Deepti Annuncia</dc:creator>
  <cp:lastModifiedBy>Amritha S, Yugeshwaran P, Deepti Annuncia</cp:lastModifiedBy>
  <cp:revision>1</cp:revision>
  <dcterms:created xsi:type="dcterms:W3CDTF">2026-10-08T04:52:44Z</dcterms:created>
  <dcterms:modified xsi:type="dcterms:W3CDTF">2026-10-08T04:52:44Z</dcterms:modified>
</cp:coreProperties>
</file>