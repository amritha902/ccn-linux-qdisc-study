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A9D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4-System AQM Parameter Comparison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2618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  ·  Adaptive RED  ·  PIE  ·  ACAPE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7190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· Backlog · Drop Rate · Sojourn Time · Target Adaptation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8412480" cy="36576"/>
          </a:xfrm>
          <a:prstGeom prst="rect">
            <a:avLst/>
          </a:prstGeom>
          <a:solidFill>
            <a:srgbClr val="2A9D4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240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Amritha S  ·  Yugeshwaran P  ·  Deepti Annuncia  ·  VIT Chennai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D6282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529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8346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28529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E08C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8529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28346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2A9D4E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8529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474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TCP CUBIC flows · 5 Mbit bottleneck · Router topology ns2→ns_router→ns1 · Ubuntu 24.04 LTS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2: Throughput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3: Queue Backlog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4: Drop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5: Sojourn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6: Target Adaptation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7: Summary Bars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4023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 — how much of the 5 Mbit link each system utilises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D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E08C0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2A9D4E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749808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F0F7FF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" y="822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Time-series: Throughput over 1 hour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1717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cmp_throughput_time.png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749808"/>
            <a:ext cx="3017520" cy="3063240"/>
          </a:xfrm>
          <a:prstGeom prst="roundRect">
            <a:avLst>
              <a:gd name="adj" fmla="val 2424"/>
            </a:avLst>
          </a:prstGeom>
          <a:solidFill>
            <a:srgbClr val="F0F7FF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989320" y="822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bar chart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21717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cmp_avg_throughput.png 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904488"/>
            <a:ext cx="8686800" cy="36576"/>
          </a:xfrm>
          <a:prstGeom prst="rect">
            <a:avLst/>
          </a:prstGeom>
          <a:solidFill>
            <a:srgbClr val="DD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977640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2A9D4E">
              <a:alpha val="12000"/>
            </a:srgbClr>
          </a:solidFill>
          <a:ln w="15240">
            <a:solidFill>
              <a:srgbClr val="2A9D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005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251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✓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0" y="3977640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C77DFF">
              <a:alpha val="12000"/>
            </a:srgbClr>
          </a:solidFill>
          <a:ln w="15240">
            <a:solidFill>
              <a:srgbClr val="C77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4005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4251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749040" y="3977640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E08C00">
              <a:alpha val="12000"/>
            </a:srgbClr>
          </a:solidFill>
          <a:ln w="15240">
            <a:solidFill>
              <a:srgbClr val="E08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4005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4251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0" y="3977640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0077B6">
              <a:alpha val="12000"/>
            </a:srgbClr>
          </a:solidFill>
          <a:ln w="1524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4005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251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23760" y="3977640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D62828">
              <a:alpha val="12000"/>
            </a:srgbClr>
          </a:solidFill>
          <a:ln w="15240">
            <a:solidFill>
              <a:srgbClr val="D62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0" y="40050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42519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466344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ACAPE achieves highest throughput because adaptive target tuning prevents queue overflow while keeping the link utilised. PIE and CAKE trade throughput for lower latency.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CCDDEE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919472"/>
            <a:ext cx="256032" cy="164592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51760" y="4919472"/>
            <a:ext cx="256032" cy="16459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7" name="Text 35"/>
          <p:cNvSpPr/>
          <p:nvPr/>
        </p:nvSpPr>
        <p:spPr>
          <a:xfrm>
            <a:off x="294436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919472"/>
            <a:ext cx="256032" cy="164592"/>
          </a:xfrm>
          <a:prstGeom prst="rect">
            <a:avLst/>
          </a:prstGeom>
          <a:solidFill>
            <a:srgbClr val="E08C00"/>
          </a:solidFill>
          <a:ln/>
        </p:spPr>
      </p:sp>
      <p:sp>
        <p:nvSpPr>
          <p:cNvPr id="39" name="Text 37"/>
          <p:cNvSpPr/>
          <p:nvPr/>
        </p:nvSpPr>
        <p:spPr>
          <a:xfrm>
            <a:off x="513892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40880" y="4919472"/>
            <a:ext cx="256032" cy="164592"/>
          </a:xfrm>
          <a:prstGeom prst="rect">
            <a:avLst/>
          </a:prstGeom>
          <a:solidFill>
            <a:srgbClr val="2A9D4E"/>
          </a:solidFill>
          <a:ln/>
        </p:spPr>
      </p:sp>
      <p:sp>
        <p:nvSpPr>
          <p:cNvPr id="41" name="Text 39"/>
          <p:cNvSpPr/>
          <p:nvPr/>
        </p:nvSpPr>
        <p:spPr>
          <a:xfrm>
            <a:off x="733348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Backlog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4023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 — bufferbloat metric. Each packet in queue adds ~1.2ms delay.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D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E08C0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2A9D4E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749808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F0F7FF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" y="822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Time-series: Backlog over 1 hour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1717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cmp_backlog_time.png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749808"/>
            <a:ext cx="3017520" cy="3063240"/>
          </a:xfrm>
          <a:prstGeom prst="roundRect">
            <a:avLst>
              <a:gd name="adj" fmla="val 2424"/>
            </a:avLst>
          </a:prstGeom>
          <a:solidFill>
            <a:srgbClr val="F0F7FF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989320" y="822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bar chart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21717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cmp_avg_backlog.png 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959352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E08C00">
              <a:alpha val="12000"/>
            </a:srgbClr>
          </a:solidFill>
          <a:ln w="15240">
            <a:solidFill>
              <a:srgbClr val="E0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986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PIE/CAKE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233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~5-8 pkts 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50592" y="3959352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2A9D4E">
              <a:alpha val="12000"/>
            </a:srgbClr>
          </a:solidFill>
          <a:ln w="15240">
            <a:solidFill>
              <a:srgbClr val="2A9D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3986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50592" y="4233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pkts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26864" y="3959352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0077B6">
              <a:alpha val="12000"/>
            </a:srgbClr>
          </a:solidFill>
          <a:ln w="1524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3986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26864" y="4233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pkts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03136" y="3959352"/>
            <a:ext cx="2011680" cy="658368"/>
          </a:xfrm>
          <a:prstGeom prst="roundRect">
            <a:avLst>
              <a:gd name="adj" fmla="val 11111"/>
            </a:avLst>
          </a:prstGeom>
          <a:solidFill>
            <a:srgbClr val="D62828">
              <a:alpha val="12000"/>
            </a:srgbClr>
          </a:solidFill>
          <a:ln w="15240">
            <a:solidFill>
              <a:srgbClr val="D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3986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3136" y="4233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 pkts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4617720"/>
            <a:ext cx="8686800" cy="292608"/>
          </a:xfrm>
          <a:prstGeom prst="roundRect">
            <a:avLst>
              <a:gd name="adj" fmla="val 21875"/>
            </a:avLst>
          </a:prstGeom>
          <a:solidFill>
            <a:srgbClr val="D62828">
              <a:alpha val="10000"/>
            </a:srgbClr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64515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ACAPE does NOT achieve the lowest backlog — PIE and CAKE do. ACAPE prioritises throughput and stability over minimum queue depth. This is a documented tradeoff.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CCDDEE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919472"/>
            <a:ext cx="256032" cy="164592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51760" y="4919472"/>
            <a:ext cx="256032" cy="16459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294436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919472"/>
            <a:ext cx="256032" cy="164592"/>
          </a:xfrm>
          <a:prstGeom prst="rect">
            <a:avLst/>
          </a:prstGeom>
          <a:solidFill>
            <a:srgbClr val="E08C00"/>
          </a:solidFill>
          <a:ln/>
        </p:spPr>
      </p:sp>
      <p:sp>
        <p:nvSpPr>
          <p:cNvPr id="36" name="Text 34"/>
          <p:cNvSpPr/>
          <p:nvPr/>
        </p:nvSpPr>
        <p:spPr>
          <a:xfrm>
            <a:off x="513892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40880" y="4919472"/>
            <a:ext cx="256032" cy="164592"/>
          </a:xfrm>
          <a:prstGeom prst="rect">
            <a:avLst/>
          </a:prstGeom>
          <a:solidFill>
            <a:srgbClr val="2A9D4E"/>
          </a:solidFill>
          <a:ln/>
        </p:spPr>
      </p:sp>
      <p:sp>
        <p:nvSpPr>
          <p:cNvPr id="38" name="Text 36"/>
          <p:cNvSpPr/>
          <p:nvPr/>
        </p:nvSpPr>
        <p:spPr>
          <a:xfrm>
            <a:off x="733348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Rate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4023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drops + low backlog = correct AQM. CoDel drops early to signal TCP.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D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E08C0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2A9D4E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749808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F0F7FF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" y="822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Time-series: Drop rate over 1 hour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1717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cmp_droprate_time.png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749808"/>
            <a:ext cx="3017520" cy="3063240"/>
          </a:xfrm>
          <a:prstGeom prst="roundRect">
            <a:avLst>
              <a:gd name="adj" fmla="val 2424"/>
            </a:avLst>
          </a:prstGeom>
          <a:solidFill>
            <a:srgbClr val="F0F7FF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989320" y="822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bar chart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21717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cmp_avg_droprate.png 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904488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9050">
            <a:solidFill>
              <a:srgbClr val="E0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502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high drop rate can be GOOD: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2245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Static fq_codel: low drops → queue grows to 22+ packets (bufferbloat)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ACAPE: higher drops → CoDel signals TCP early → TCP backs off → smaller queue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CAKE: very high drops → aggressive control → very low backlog but lower throughput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Conclusion: ACAPE's drop rate reflects CoDel working as designed — not a failure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CCDDEE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919472"/>
            <a:ext cx="256032" cy="164592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4919472"/>
            <a:ext cx="256032" cy="16459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3" name="Text 21"/>
          <p:cNvSpPr/>
          <p:nvPr/>
        </p:nvSpPr>
        <p:spPr>
          <a:xfrm>
            <a:off x="294436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4919472"/>
            <a:ext cx="256032" cy="164592"/>
          </a:xfrm>
          <a:prstGeom prst="rect">
            <a:avLst/>
          </a:prstGeom>
          <a:solidFill>
            <a:srgbClr val="E08C00"/>
          </a:solidFill>
          <a:ln/>
        </p:spPr>
      </p:sp>
      <p:sp>
        <p:nvSpPr>
          <p:cNvPr id="25" name="Text 23"/>
          <p:cNvSpPr/>
          <p:nvPr/>
        </p:nvSpPr>
        <p:spPr>
          <a:xfrm>
            <a:off x="513892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0" y="4919472"/>
            <a:ext cx="256032" cy="164592"/>
          </a:xfrm>
          <a:prstGeom prst="rect">
            <a:avLst/>
          </a:prstGeom>
          <a:solidFill>
            <a:srgbClr val="2A9D4E"/>
          </a:solidFill>
          <a:ln/>
        </p:spPr>
      </p:sp>
      <p:sp>
        <p:nvSpPr>
          <p:cNvPr id="27" name="Text 25"/>
          <p:cNvSpPr/>
          <p:nvPr/>
        </p:nvSpPr>
        <p:spPr>
          <a:xfrm>
            <a:off x="733348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Sojourn Time (Queue Latency)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4023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each packet waits in queue. Lower = less bufferbloat.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D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E08C0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2A9D4E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749808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F0F7FF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" y="822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Time-series: Sojourn over 1 hour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1717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cmp_sojourn_time.png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749808"/>
            <a:ext cx="3017520" cy="3063240"/>
          </a:xfrm>
          <a:prstGeom prst="roundRect">
            <a:avLst>
              <a:gd name="adj" fmla="val 2424"/>
            </a:avLst>
          </a:prstGeom>
          <a:solidFill>
            <a:srgbClr val="F0F7FF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989320" y="822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bar chart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21717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cmp_avg_sojourn.png 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959352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E08C00">
              <a:alpha val="12000"/>
            </a:srgbClr>
          </a:solidFill>
          <a:ln w="15240">
            <a:solidFill>
              <a:srgbClr val="E08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986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~6ms 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50592" y="3959352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C77DFF">
              <a:alpha val="12000"/>
            </a:srgbClr>
          </a:solidFill>
          <a:ln w="15240">
            <a:solidFill>
              <a:srgbClr val="C77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3986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50592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~17ms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26864" y="3959352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D62828">
              <a:alpha val="12000"/>
            </a:srgbClr>
          </a:solidFill>
          <a:ln w="15240">
            <a:solidFill>
              <a:srgbClr val="D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3986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26864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~50ms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03136" y="3959352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2A9D4E">
              <a:alpha val="12000"/>
            </a:srgbClr>
          </a:solidFill>
          <a:ln w="15240">
            <a:solidFill>
              <a:srgbClr val="2A9D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3986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3136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~63ms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4617720"/>
            <a:ext cx="8686800" cy="320040"/>
          </a:xfrm>
          <a:prstGeom prst="roundRect">
            <a:avLst>
              <a:gd name="adj" fmla="val 20000"/>
            </a:avLst>
          </a:prstGeom>
          <a:solidFill>
            <a:srgbClr val="D62828">
              <a:alpha val="10000"/>
            </a:srgbClr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6451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ACAPE has highest sojourn (~63ms). DEFENCE: ACAPE allows controlled queue depth to sustain throughput. If low latency is critical, use PIE. If high throughput + stability is needed, use ACAPE.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CCDDEE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919472"/>
            <a:ext cx="256032" cy="164592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51760" y="4919472"/>
            <a:ext cx="256032" cy="16459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4" name="Text 32"/>
          <p:cNvSpPr/>
          <p:nvPr/>
        </p:nvSpPr>
        <p:spPr>
          <a:xfrm>
            <a:off x="294436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919472"/>
            <a:ext cx="256032" cy="164592"/>
          </a:xfrm>
          <a:prstGeom prst="rect">
            <a:avLst/>
          </a:prstGeom>
          <a:solidFill>
            <a:srgbClr val="E08C00"/>
          </a:solidFill>
          <a:ln/>
        </p:spPr>
      </p:sp>
      <p:sp>
        <p:nvSpPr>
          <p:cNvPr id="36" name="Text 34"/>
          <p:cNvSpPr/>
          <p:nvPr/>
        </p:nvSpPr>
        <p:spPr>
          <a:xfrm>
            <a:off x="513892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40880" y="4919472"/>
            <a:ext cx="256032" cy="164592"/>
          </a:xfrm>
          <a:prstGeom prst="rect">
            <a:avLst/>
          </a:prstGeom>
          <a:solidFill>
            <a:srgbClr val="2A9D4E"/>
          </a:solidFill>
          <a:ln/>
        </p:spPr>
      </p:sp>
      <p:sp>
        <p:nvSpPr>
          <p:cNvPr id="38" name="Text 36"/>
          <p:cNvSpPr/>
          <p:nvPr/>
        </p:nvSpPr>
        <p:spPr>
          <a:xfrm>
            <a:off x="733348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fq_codel Target Adaptation — Proof of Adaptivity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4023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ACAPE reduces target. Every other system stays flat at 5ms.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D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E08C0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2A9D4E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749808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0F7FF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" y="822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Time-series: target parameter over 1 hour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1717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cmp_target_time.png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822960"/>
            <a:ext cx="3063240" cy="2926080"/>
          </a:xfrm>
          <a:prstGeom prst="rect">
            <a:avLst/>
          </a:prstGeom>
          <a:solidFill>
            <a:srgbClr val="F0F7FF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25312" y="868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target staircase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61888" y="3429000"/>
            <a:ext cx="150876" cy="0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888736" y="3227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31052" y="3185160"/>
            <a:ext cx="150876" cy="243840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300216" y="2965704"/>
            <a:ext cx="150876" cy="463296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69380" y="2770632"/>
            <a:ext cx="150876" cy="658368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38544" y="2590190"/>
            <a:ext cx="150876" cy="838810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807708" y="2429256"/>
            <a:ext cx="150876" cy="999744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976872" y="2287829"/>
            <a:ext cx="150876" cy="1141171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146036" y="2156155"/>
            <a:ext cx="150876" cy="1272845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2039112"/>
            <a:ext cx="150876" cy="1389888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484364" y="1936699"/>
            <a:ext cx="150876" cy="1492301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653528" y="1839163"/>
            <a:ext cx="150876" cy="1589837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822692" y="1756258"/>
            <a:ext cx="150876" cy="1672742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991856" y="1678229"/>
            <a:ext cx="150876" cy="1750771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161020" y="1609954"/>
            <a:ext cx="150876" cy="1819046"/>
          </a:xfrm>
          <a:prstGeom prst="rect">
            <a:avLst/>
          </a:prstGeom>
          <a:solidFill>
            <a:srgbClr val="2A9D4E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30184" y="1492910"/>
            <a:ext cx="150876" cy="1936090"/>
          </a:xfrm>
          <a:prstGeom prst="rect">
            <a:avLst/>
          </a:prstGeom>
          <a:solidFill>
            <a:srgbClr val="2A9D4E"/>
          </a:solidFill>
          <a:ln/>
        </p:spPr>
      </p:sp>
      <p:sp>
        <p:nvSpPr>
          <p:cNvPr id="30" name="Text 28"/>
          <p:cNvSpPr/>
          <p:nvPr/>
        </p:nvSpPr>
        <p:spPr>
          <a:xfrm>
            <a:off x="8257032" y="129174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1.03ms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25312" y="34930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5.00ms → 1.03ms · β=0.9 · 15 steps · &lt;5s stabilisation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904488"/>
            <a:ext cx="86868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9502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systems: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20624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D62828">
              <a:alpha val="10000"/>
            </a:srgbClr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2336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fq_codel: 5ms throughout — never changes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420624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0077B6">
              <a:alpha val="1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42336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RED: ~5ms — marginal variation via max_p mapping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0760" y="4206240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E08C00">
              <a:alpha val="10000"/>
            </a:srgbClr>
          </a:solidFill>
          <a:ln w="12700">
            <a:solidFill>
              <a:srgbClr val="E08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423367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PIE: target=15ms FIXED at setup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28600" y="46451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adaptation is the clearest visual proof that ACAPE is working. Every other system is a flat horizontal line.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CCDDEE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4919472"/>
            <a:ext cx="256032" cy="164592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44" name="Text 42"/>
          <p:cNvSpPr/>
          <p:nvPr/>
        </p:nvSpPr>
        <p:spPr>
          <a:xfrm>
            <a:off x="74980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651760" y="4919472"/>
            <a:ext cx="256032" cy="16459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6" name="Text 44"/>
          <p:cNvSpPr/>
          <p:nvPr/>
        </p:nvSpPr>
        <p:spPr>
          <a:xfrm>
            <a:off x="294436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4919472"/>
            <a:ext cx="256032" cy="164592"/>
          </a:xfrm>
          <a:prstGeom prst="rect">
            <a:avLst/>
          </a:prstGeom>
          <a:solidFill>
            <a:srgbClr val="E08C00"/>
          </a:solidFill>
          <a:ln/>
        </p:spPr>
      </p:sp>
      <p:sp>
        <p:nvSpPr>
          <p:cNvPr id="48" name="Text 46"/>
          <p:cNvSpPr/>
          <p:nvPr/>
        </p:nvSpPr>
        <p:spPr>
          <a:xfrm>
            <a:off x="513892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40880" y="4919472"/>
            <a:ext cx="256032" cy="164592"/>
          </a:xfrm>
          <a:prstGeom prst="rect">
            <a:avLst/>
          </a:prstGeom>
          <a:solidFill>
            <a:srgbClr val="2A9D4E"/>
          </a:solidFill>
          <a:ln/>
        </p:spPr>
      </p:sp>
      <p:sp>
        <p:nvSpPr>
          <p:cNvPr id="50" name="Text 48"/>
          <p:cNvSpPr/>
          <p:nvPr/>
        </p:nvSpPr>
        <p:spPr>
          <a:xfrm>
            <a:off x="733348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Metrics — All Parameters, All Systems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4023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per system per metric — the complete picture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D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E08C0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2A9D4E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749808"/>
            <a:ext cx="8686800" cy="2743200"/>
          </a:xfrm>
          <a:prstGeom prst="roundRect">
            <a:avLst>
              <a:gd name="adj" fmla="val 2667"/>
            </a:avLst>
          </a:prstGeom>
          <a:solidFill>
            <a:srgbClr val="F0F7FF"/>
          </a:solidFill>
          <a:ln w="19050">
            <a:solidFill>
              <a:srgbClr val="AACCE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6-panel summary — all parameters over 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011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cmp_all_6panel.png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3611880"/>
            <a:ext cx="1627632" cy="292608"/>
          </a:xfrm>
          <a:prstGeom prst="roundRect">
            <a:avLst>
              <a:gd name="adj" fmla="val 18750"/>
            </a:avLst>
          </a:prstGeom>
          <a:solidFill>
            <a:srgbClr val="0A2540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36301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↑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3931920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2A9D4E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39502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ACAPE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42245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D62828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424281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Static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45079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highest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65960" y="3611880"/>
            <a:ext cx="1627632" cy="292608"/>
          </a:xfrm>
          <a:prstGeom prst="roundRect">
            <a:avLst>
              <a:gd name="adj" fmla="val 18750"/>
            </a:avLst>
          </a:prstGeom>
          <a:solidFill>
            <a:srgbClr val="0A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1965960" y="36301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↓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65960" y="3931920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E08C00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965960" y="39502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PIE/CAKE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65960" y="42245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D62828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965960" y="424281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ACAPE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65960" y="45079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3rd — tradeoff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03320" y="3611880"/>
            <a:ext cx="1627632" cy="292608"/>
          </a:xfrm>
          <a:prstGeom prst="roundRect">
            <a:avLst>
              <a:gd name="adj" fmla="val 18750"/>
            </a:avLst>
          </a:prstGeom>
          <a:solidFill>
            <a:srgbClr val="0A2540"/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36301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03320" y="3931920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2A9D4E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39502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ACAPE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03320" y="42245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D62828">
              <a:alpha val="1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703320" y="424281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Static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03320" y="45079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controlled drops = good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40680" y="3611880"/>
            <a:ext cx="1627632" cy="292608"/>
          </a:xfrm>
          <a:prstGeom prst="roundRect">
            <a:avLst>
              <a:gd name="adj" fmla="val 18750"/>
            </a:avLst>
          </a:prstGeom>
          <a:solidFill>
            <a:srgbClr val="0A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36301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Sojourn ↓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40680" y="3931920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E08C00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440680" y="39502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PIE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42245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D62828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440680" y="424281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ACAPE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40680" y="45079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highest — tradeoff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78040" y="3611880"/>
            <a:ext cx="1627632" cy="292608"/>
          </a:xfrm>
          <a:prstGeom prst="roundRect">
            <a:avLst>
              <a:gd name="adj" fmla="val 18750"/>
            </a:avLst>
          </a:prstGeom>
          <a:solidFill>
            <a:srgbClr val="0A2540"/>
          </a:solidFill>
          <a:ln/>
        </p:spPr>
      </p:sp>
      <p:sp>
        <p:nvSpPr>
          <p:cNvPr id="41" name="Text 39"/>
          <p:cNvSpPr/>
          <p:nvPr/>
        </p:nvSpPr>
        <p:spPr>
          <a:xfrm>
            <a:off x="7178040" y="36301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Target ↓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178040" y="3931920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2A9D4E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178040" y="395020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ACAPE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78040" y="4224528"/>
            <a:ext cx="1627632" cy="256032"/>
          </a:xfrm>
          <a:prstGeom prst="roundRect">
            <a:avLst>
              <a:gd name="adj" fmla="val 17857"/>
            </a:avLst>
          </a:prstGeom>
          <a:solidFill>
            <a:srgbClr val="D62828">
              <a:alpha val="1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178040" y="4242816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Others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78040" y="4507992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ACAPE goes below 5ms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CCDDEE"/>
          </a:solidFill>
          <a:ln/>
        </p:spPr>
      </p:sp>
      <p:sp>
        <p:nvSpPr>
          <p:cNvPr id="49" name="Shape 47"/>
          <p:cNvSpPr/>
          <p:nvPr/>
        </p:nvSpPr>
        <p:spPr>
          <a:xfrm>
            <a:off x="457200" y="4919472"/>
            <a:ext cx="256032" cy="164592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0" name="Text 48"/>
          <p:cNvSpPr/>
          <p:nvPr/>
        </p:nvSpPr>
        <p:spPr>
          <a:xfrm>
            <a:off x="74980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651760" y="4919472"/>
            <a:ext cx="256032" cy="16459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2" name="Text 50"/>
          <p:cNvSpPr/>
          <p:nvPr/>
        </p:nvSpPr>
        <p:spPr>
          <a:xfrm>
            <a:off x="294436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4919472"/>
            <a:ext cx="256032" cy="164592"/>
          </a:xfrm>
          <a:prstGeom prst="rect">
            <a:avLst/>
          </a:prstGeom>
          <a:solidFill>
            <a:srgbClr val="E08C00"/>
          </a:solidFill>
          <a:ln/>
        </p:spPr>
      </p:sp>
      <p:sp>
        <p:nvSpPr>
          <p:cNvPr id="54" name="Text 52"/>
          <p:cNvSpPr/>
          <p:nvPr/>
        </p:nvSpPr>
        <p:spPr>
          <a:xfrm>
            <a:off x="513892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40880" y="4919472"/>
            <a:ext cx="256032" cy="164592"/>
          </a:xfrm>
          <a:prstGeom prst="rect">
            <a:avLst/>
          </a:prstGeom>
          <a:solidFill>
            <a:srgbClr val="2A9D4E"/>
          </a:solidFill>
          <a:ln/>
        </p:spPr>
      </p:sp>
      <p:sp>
        <p:nvSpPr>
          <p:cNvPr id="56" name="Text 54"/>
          <p:cNvSpPr/>
          <p:nvPr/>
        </p:nvSpPr>
        <p:spPr>
          <a:xfrm>
            <a:off x="733348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731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Verdict: ACAPE vs PIE vs ARED vs Static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4023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— where each system is better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D62828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E08C00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0"/>
            <a:ext cx="0" cy="0"/>
          </a:xfrm>
          <a:prstGeom prst="roundRect">
            <a:avLst/>
          </a:prstGeom>
          <a:solidFill>
            <a:srgbClr val="2A9D4E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777240"/>
            <a:ext cx="4160520" cy="3886200"/>
          </a:xfrm>
          <a:prstGeom prst="roundRect">
            <a:avLst>
              <a:gd name="adj" fmla="val 2353"/>
            </a:avLst>
          </a:prstGeom>
          <a:solidFill>
            <a:srgbClr val="2A9D4E">
              <a:alpha val="8000"/>
            </a:srgbClr>
          </a:solidFill>
          <a:ln w="25400">
            <a:solidFill>
              <a:srgbClr val="2A9D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77240"/>
            <a:ext cx="4160520" cy="438912"/>
          </a:xfrm>
          <a:prstGeom prst="roundRect">
            <a:avLst>
              <a:gd name="adj" fmla="val 20833"/>
            </a:avLst>
          </a:prstGeom>
          <a:solidFill>
            <a:srgbClr val="2A9D4E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804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ACAPE wins at...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12984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link utilisation of all 5 systems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16824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Adaptation: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2880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system to go below 5ms (1.03ms)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20665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19933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5s vs 70s for ARED — 12× faster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2450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Detection: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23408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if congestion is WORSENING/RECOVERING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Control: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28800" y="26883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before peak — [PREDICTIVE] tag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3218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Telemetry: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28800" y="3035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per-flow elephant/mice classification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3602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Params: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0" y="3383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target, interval, limit, quantum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3986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A9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Kernel Mods: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828800" y="3730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userspace + tc qdisc change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777240"/>
            <a:ext cx="4297680" cy="3886200"/>
          </a:xfrm>
          <a:prstGeom prst="roundRect">
            <a:avLst>
              <a:gd name="adj" fmla="val 2353"/>
            </a:avLst>
          </a:prstGeom>
          <a:solidFill>
            <a:srgbClr val="D62828">
              <a:alpha val="7000"/>
            </a:srgbClr>
          </a:solidFill>
          <a:ln w="25400">
            <a:solidFill>
              <a:srgbClr val="D628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777240"/>
            <a:ext cx="4297680" cy="438912"/>
          </a:xfrm>
          <a:prstGeom prst="roundRect">
            <a:avLst>
              <a:gd name="adj" fmla="val 20833"/>
            </a:avLst>
          </a:prstGeom>
          <a:solidFill>
            <a:srgbClr val="D62828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804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ACAPE loses at...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09160" y="1298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Sojourn Time: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72200" y="12984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~63ms vs PIE ~6ms — highest latency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1563624"/>
            <a:ext cx="4114800" cy="201168"/>
          </a:xfrm>
          <a:prstGeom prst="roundRect">
            <a:avLst>
              <a:gd name="adj" fmla="val 18182"/>
            </a:avLst>
          </a:prstGeom>
          <a:solidFill>
            <a:srgbClr val="D62828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158191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PIE wins here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1801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Depth: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72200" y="18013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~15p vs PIE ~5p — not lowest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2066544"/>
            <a:ext cx="4114800" cy="201168"/>
          </a:xfrm>
          <a:prstGeom prst="roundRect">
            <a:avLst>
              <a:gd name="adj" fmla="val 18182"/>
            </a:avLst>
          </a:prstGeom>
          <a:solidFill>
            <a:srgbClr val="D62828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20848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PIE/CAKE win here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2304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Gradient: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72200" y="2304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— namespace eBPF export bug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2569464"/>
            <a:ext cx="4114800" cy="201168"/>
          </a:xfrm>
          <a:prstGeom prst="roundRect">
            <a:avLst>
              <a:gd name="adj" fmla="val 18182"/>
            </a:avLst>
          </a:prstGeom>
          <a:solidFill>
            <a:srgbClr val="D62828">
              <a:alpha val="1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25877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Future fix needed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9160" y="2807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Fairness: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72200" y="28072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reduced under MICE profile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09160" y="3072384"/>
            <a:ext cx="4114800" cy="201168"/>
          </a:xfrm>
          <a:prstGeom prst="roundRect">
            <a:avLst>
              <a:gd name="adj" fmla="val 18182"/>
            </a:avLst>
          </a:prstGeom>
          <a:solidFill>
            <a:srgbClr val="D62828">
              <a:alpha val="1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3090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Tradeoff for C3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0916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172200" y="331012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components needed vs 1 tc command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09160" y="3575304"/>
            <a:ext cx="4114800" cy="201168"/>
          </a:xfrm>
          <a:prstGeom prst="roundRect">
            <a:avLst>
              <a:gd name="adj" fmla="val 18182"/>
            </a:avLst>
          </a:prstGeom>
          <a:solidFill>
            <a:srgbClr val="D62828">
              <a:alpha val="1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0" y="35935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Research prototype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28600" y="4681728"/>
            <a:ext cx="8686800" cy="274320"/>
          </a:xfrm>
          <a:prstGeom prst="roundRect">
            <a:avLst>
              <a:gd name="adj" fmla="val 23333"/>
            </a:avLst>
          </a:prstGeom>
          <a:solidFill>
            <a:srgbClr val="0A2540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470916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is the only system optimising throughput + adaptivity + prediction together. PIE is better for low latency. ACAPE is better for sustained high throughput.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4" name="Shape 52"/>
          <p:cNvSpPr/>
          <p:nvPr/>
        </p:nvSpPr>
        <p:spPr>
          <a:xfrm>
            <a:off x="0" y="4873752"/>
            <a:ext cx="9144000" cy="18288"/>
          </a:xfrm>
          <a:prstGeom prst="rect">
            <a:avLst/>
          </a:prstGeom>
          <a:solidFill>
            <a:srgbClr val="CCDDEE"/>
          </a:solidFill>
          <a:ln/>
        </p:spPr>
      </p:sp>
      <p:sp>
        <p:nvSpPr>
          <p:cNvPr id="55" name="Shape 53"/>
          <p:cNvSpPr/>
          <p:nvPr/>
        </p:nvSpPr>
        <p:spPr>
          <a:xfrm>
            <a:off x="457200" y="4919472"/>
            <a:ext cx="256032" cy="164592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56" name="Text 54"/>
          <p:cNvSpPr/>
          <p:nvPr/>
        </p:nvSpPr>
        <p:spPr>
          <a:xfrm>
            <a:off x="74980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651760" y="4919472"/>
            <a:ext cx="256032" cy="16459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58" name="Text 56"/>
          <p:cNvSpPr/>
          <p:nvPr/>
        </p:nvSpPr>
        <p:spPr>
          <a:xfrm>
            <a:off x="294436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46320" y="4919472"/>
            <a:ext cx="256032" cy="164592"/>
          </a:xfrm>
          <a:prstGeom prst="rect">
            <a:avLst/>
          </a:prstGeom>
          <a:solidFill>
            <a:srgbClr val="E08C00"/>
          </a:solidFill>
          <a:ln/>
        </p:spPr>
      </p:sp>
      <p:sp>
        <p:nvSpPr>
          <p:cNvPr id="60" name="Text 58"/>
          <p:cNvSpPr/>
          <p:nvPr/>
        </p:nvSpPr>
        <p:spPr>
          <a:xfrm>
            <a:off x="513892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040880" y="4919472"/>
            <a:ext cx="256032" cy="164592"/>
          </a:xfrm>
          <a:prstGeom prst="rect">
            <a:avLst/>
          </a:prstGeom>
          <a:solidFill>
            <a:srgbClr val="2A9D4E"/>
          </a:solidFill>
          <a:ln/>
        </p:spPr>
      </p:sp>
      <p:sp>
        <p:nvSpPr>
          <p:cNvPr id="62" name="Text 60"/>
          <p:cNvSpPr/>
          <p:nvPr/>
        </p:nvSpPr>
        <p:spPr>
          <a:xfrm>
            <a:off x="7333488" y="4910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(ours)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2026-04-09T11:56:37Z</dcterms:created>
  <dcterms:modified xsi:type="dcterms:W3CDTF">2026-04-09T11:56:37Z</dcterms:modified>
</cp:coreProperties>
</file>