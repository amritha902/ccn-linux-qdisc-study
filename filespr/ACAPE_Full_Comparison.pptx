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AQM System Comparison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 · ARED · PIE · CAKE · ACAPE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7373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Analysis of Active Queue Management Systems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Linux Router Namespace Testbed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468880"/>
            <a:ext cx="850392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5603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  ·  Yugeshwaran P  ·  Deepti Annuncia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ECE, SENSE  ·  VIT Chennai  · 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3840480"/>
            <a:ext cx="1325880" cy="237744"/>
          </a:xfrm>
          <a:prstGeom prst="roundRect">
            <a:avLst>
              <a:gd name="adj" fmla="val 26923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38587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39112" y="3840480"/>
            <a:ext cx="1325880" cy="237744"/>
          </a:xfrm>
          <a:prstGeom prst="roundRect">
            <a:avLst>
              <a:gd name="adj" fmla="val 26923"/>
            </a:avLst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2039112" y="38587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184" y="3840480"/>
            <a:ext cx="1325880" cy="237744"/>
          </a:xfrm>
          <a:prstGeom prst="roundRect">
            <a:avLst>
              <a:gd name="adj" fmla="val 26923"/>
            </a:avLst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3758184" y="38587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77256" y="3840480"/>
            <a:ext cx="1325880" cy="237744"/>
          </a:xfrm>
          <a:prstGeom prst="roundRect">
            <a:avLst>
              <a:gd name="adj" fmla="val 26923"/>
            </a:avLst>
          </a:prstGeom>
          <a:solidFill>
            <a:srgbClr val="E040FB"/>
          </a:solidFill>
          <a:ln/>
        </p:spPr>
      </p:sp>
      <p:sp>
        <p:nvSpPr>
          <p:cNvPr id="16" name="Text 14"/>
          <p:cNvSpPr/>
          <p:nvPr/>
        </p:nvSpPr>
        <p:spPr>
          <a:xfrm>
            <a:off x="5477256" y="38587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96328" y="3840480"/>
            <a:ext cx="1325880" cy="237744"/>
          </a:xfrm>
          <a:prstGeom prst="roundRect">
            <a:avLst>
              <a:gd name="adj" fmla="val 26923"/>
            </a:avLst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7196328" y="38587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459028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TCP CUBIC flows · 5 Mbit bottleneck · 4:1 oversubscription · Ubuntu 24.04 · Linux 6.8.x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System Comparison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across all five AQM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196596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69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051560"/>
            <a:ext cx="1261872" cy="320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1069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30168" y="1051560"/>
            <a:ext cx="1261872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1069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28616" y="1051560"/>
            <a:ext cx="1261872" cy="3200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4928616" y="1069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27064" y="1051560"/>
            <a:ext cx="1261872" cy="320040"/>
          </a:xfrm>
          <a:prstGeom prst="rect">
            <a:avLst/>
          </a:prstGeom>
          <a:solidFill>
            <a:srgbClr val="E040FB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1069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25512" y="1051560"/>
            <a:ext cx="1261872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7525512" y="10698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389888"/>
            <a:ext cx="1965960" cy="320040"/>
          </a:xfrm>
          <a:prstGeom prst="rect">
            <a:avLst/>
          </a:prstGeom>
          <a:solidFill>
            <a:srgbClr val="DDEEF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target param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31720" y="1389888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4081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30168" y="1389888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14081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28616" y="1389888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14081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27064" y="1389888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4081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25512" y="1389888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5512" y="140817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1737360"/>
            <a:ext cx="1965960" cy="320040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17556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interval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31720" y="1737360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30168" y="1737360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28616" y="1737360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27064" y="1737360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25512" y="1737360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25512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0040" y="2084832"/>
            <a:ext cx="1965960" cy="320040"/>
          </a:xfrm>
          <a:prstGeom prst="rect">
            <a:avLst/>
          </a:prstGeom>
          <a:solidFill>
            <a:srgbClr val="DDEEF5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limit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331720" y="2084832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30168" y="2084832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0168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928616" y="2084832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227064" y="2084832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27064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525512" y="2084832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25512" y="21031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20040" y="2432304"/>
            <a:ext cx="1965960" cy="320040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quantum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331720" y="2432304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2450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630168" y="2432304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30168" y="2450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928616" y="2432304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28616" y="2450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227064" y="2432304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27064" y="2450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525512" y="2432304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25512" y="2450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20040" y="2779776"/>
            <a:ext cx="1965960" cy="320040"/>
          </a:xfrm>
          <a:prstGeom prst="rect">
            <a:avLst/>
          </a:prstGeom>
          <a:solidFill>
            <a:srgbClr val="DDEEF5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27980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signals (C1)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331720" y="2779776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31720" y="27980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630168" y="2779776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30168" y="27980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28616" y="2779776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28616" y="27980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227064" y="2779776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27064" y="27980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525512" y="2779776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25512" y="27980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20040" y="3127248"/>
            <a:ext cx="1965960" cy="320040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31455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ctrl (C2)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331720" y="3127248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31720" y="3145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3630168" y="3127248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30168" y="3145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928616" y="3127248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28616" y="3145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227064" y="3127248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27064" y="3145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525512" y="3127248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25512" y="3145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20040" y="3474720"/>
            <a:ext cx="1965960" cy="320040"/>
          </a:xfrm>
          <a:prstGeom prst="rect">
            <a:avLst/>
          </a:prstGeom>
          <a:solidFill>
            <a:srgbClr val="DDEEF5"/>
          </a:solidFill>
          <a:ln/>
        </p:spPr>
      </p:sp>
      <p:sp>
        <p:nvSpPr>
          <p:cNvPr id="90" name="Text 88"/>
          <p:cNvSpPr/>
          <p:nvPr/>
        </p:nvSpPr>
        <p:spPr>
          <a:xfrm>
            <a:off x="365760" y="3493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telemetry (C3)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2331720" y="3474720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31720" y="34930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630168" y="3474720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30168" y="34930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928616" y="3474720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28616" y="34930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6227064" y="3474720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27064" y="34930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7525512" y="3474720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525512" y="34930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320040" y="3822192"/>
            <a:ext cx="1965960" cy="320040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102" name="Text 100"/>
          <p:cNvSpPr/>
          <p:nvPr/>
        </p:nvSpPr>
        <p:spPr>
          <a:xfrm>
            <a:off x="365760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Multi-timescale (C4)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2331720" y="3822192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331720" y="3840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630168" y="3822192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30168" y="3840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4928616" y="3822192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28616" y="3840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6227064" y="3822192"/>
            <a:ext cx="1261872" cy="320040"/>
          </a:xfrm>
          <a:prstGeom prst="rect">
            <a:avLst/>
          </a:prstGeom>
          <a:solidFill>
            <a:srgbClr val="EEF6F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227064" y="3840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7525512" y="3822192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525512" y="38404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320040" y="4169664"/>
            <a:ext cx="1965960" cy="320040"/>
          </a:xfrm>
          <a:prstGeom prst="rect">
            <a:avLst/>
          </a:prstGeom>
          <a:solidFill>
            <a:srgbClr val="DDEEF5"/>
          </a:solidFill>
          <a:ln/>
        </p:spPr>
      </p:sp>
      <p:sp>
        <p:nvSpPr>
          <p:cNvPr id="114" name="Text 112"/>
          <p:cNvSpPr/>
          <p:nvPr/>
        </p:nvSpPr>
        <p:spPr>
          <a:xfrm>
            <a:off x="365760" y="4187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mod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2331720" y="4169664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331720" y="41879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630168" y="4169664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630168" y="41879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4928616" y="4169664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28616" y="41879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6227064" y="4169664"/>
            <a:ext cx="1261872" cy="320040"/>
          </a:xfrm>
          <a:prstGeom prst="rect">
            <a:avLst/>
          </a:prstGeom>
          <a:solidFill>
            <a:srgbClr val="DDEE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227064" y="41879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7525512" y="4169664"/>
            <a:ext cx="1261872" cy="320040"/>
          </a:xfrm>
          <a:prstGeom prst="rect">
            <a:avLst/>
          </a:prstGeom>
          <a:solidFill>
            <a:srgbClr val="D0F0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525512" y="41879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5" name="Text 123"/>
          <p:cNvSpPr/>
          <p:nvPr/>
        </p:nvSpPr>
        <p:spPr>
          <a:xfrm>
            <a:off x="32004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is the only system combining gradient signals, predictive control, eBPF telemetry, multi-timescale architecture, and full four-parameter tuning in a unified framework.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Walk through row by row — note that ACAPE is the only column with all checkmarks. This is the fundamental novelty.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Latency CDF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of queue backlog and sojourn time across all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0096C7">
              <a:alpha val="15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of Queue Backlog (packets)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comparison_latency_cdf.png — left panel]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 — rightmost curve, widest spread, highest backlog tail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 — marginal improvement, moderate spread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and CAKE — leftward shift, aggressive backlog control (~5–10p)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— compact distribution, reduced extreme values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Left-shifted curve = lower backlog = better latency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ACAPE's steep CDF = predictable, stable queue behaviour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52B788">
              <a:alpha val="15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of Sojourn Time (milliseconds)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comparison_latency_cdf.png — right panel]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time = actual per-packet wait in queue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high sojourn variance; occasional 50+ ms spikes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ARED — sojourn rises due to gradual parameter adaptation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PIE/CAKE — lowest sojourn, aggressively minimize wait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— controlled sojourn band, reduced oscillation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prioritises stability: avoids tail-latency spikes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 steeper, left-shifted CDF curve indicates ACAPE reduces extreme backlog events. The tail behaviour matters for real-time applications.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Queue Backlog Over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of queue depth under sustained 20-flow load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D0EAF5"/>
          </a:solidFill>
          <a:ln w="12700">
            <a:solidFill>
              <a:srgbClr val="0096C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comparison_key_result.png — backlog panel]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00584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0A1628">
              <a:alpha val="15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Per-System Interpretation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46304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4813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~20–30p persistent high backlog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87452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0096C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928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but unstable; oscillates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28600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304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~5–10p low — aggressive control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E040F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7157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2715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~5–8p lowest — advanced shaper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108960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1272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3127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~10–18p — stable, no spikes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52B788">
              <a:alpha val="12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86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Stability Over Minimisation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does not achieve the lowest backlog — PIE and CAKE do. However, ACAPE maintains stable backlog without oscillatory spikes. In production networks, predictable queue behaviour is more valuable than aggressively minimised backlog that fluctuates wildly.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Point out: PIE and CAKE go lower, but ACAPE is the smoothest curve. Stability is the research contribution, not minimum value.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fq_codel Target Parameter Evolution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ACAPE dynamically reduces target — the fundamental proof of adaptation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0D2035"/>
          </a:solidFill>
          <a:ln w="19050">
            <a:solidFill>
              <a:srgbClr val="52B78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comparison_key_result.png — target panel]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005840"/>
            <a:ext cx="3108960" cy="1417320"/>
          </a:xfrm>
          <a:prstGeom prst="roundRect">
            <a:avLst>
              <a:gd name="adj" fmla="val 6452"/>
            </a:avLst>
          </a:prstGeom>
          <a:solidFill>
            <a:srgbClr val="52B788">
              <a:alpha val="15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Staircase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target (ms): 5.00 → 4.50 → 4.05 → 3.65 → 3.28 → 2.95 → 2.66 → 2.39 → 2.15 → 1.94 → 1.74 → 1.57 → 1.41 → 1.27 → 1.03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0.9 per step · 15 adjustments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057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[PREDICTIVE] marks: 4 of 15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51460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E63946">
              <a:alpha val="15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Systems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8803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fq_codel: 5ms throughout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ARED: slight variation via max_p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PIE: target=15ms fixed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CAKE: internal — not exposed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595360" cy="960120"/>
          </a:xfrm>
          <a:prstGeom prst="roundRect">
            <a:avLst>
              <a:gd name="adj" fmla="val 9524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86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Target Adaptation Matters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 drops packets only when sojourn exceeds target. Lower target = more aggressive, earlier signalling = smaller queue depth.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ACAPE's staircase from 5ms → 1ms directly reduces bufferbloat. Every step represents the controller detecting HEAVY regime and applying AIMD decrease.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This graph is the clearest proof of adaptation. Every other system is a flat line. Only ACAPE descends. Show the staircase pattern explicitly.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Average Performance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summary across all five systems — six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2560320"/>
          </a:xfrm>
          <a:prstGeom prst="roundRect">
            <a:avLst>
              <a:gd name="adj" fmla="val 3571"/>
            </a:avLst>
          </a:prstGeom>
          <a:solidFill>
            <a:srgbClr val="D8EEF7"/>
          </a:solidFill>
          <a:ln w="12700">
            <a:solidFill>
              <a:srgbClr val="0096C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148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comparison_summary_bars.png — all 6 bar charts]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E63946">
              <a:alpha val="12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Queue Backlog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41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 ~22p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215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ARED ~16p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PIE ~6p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5628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CAKE ~8p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736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ACAPE ~15p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36576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52B788">
              <a:alpha val="12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(Mbps)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4041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Static: lowest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64992" y="4215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ARED: moderate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43891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PIE: higher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45628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CAKE: high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47365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ACAPE: highest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36576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B703">
              <a:alpha val="12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 (/s)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4041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Static: minimal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72784" y="4215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ARED/PIE: moderate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72784" y="43891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CAKE: very high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72784" y="45628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ACAPE: controlled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Walk through each bar chart. Emphasise: ACAPE highest throughput is the headline result. Drop rate being high is intentional — explain CoDel signalling.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(cont.): Sojourn Time · Fairness · Min Target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remaining three average metrics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0058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9B5DE5">
              <a:alpha val="15000"/>
            </a:srgbClr>
          </a:solidFill>
          <a:ln w="15240">
            <a:solidFill>
              <a:srgbClr val="9B5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Time (ms)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3898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Static: ~50ms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5636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ARED: ~59ms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PIE: ~6ms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9110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CAKE: ~17ms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0848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ACAPE: ~63ms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3774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9B5DE5">
              <a:alpha val="12000"/>
            </a:srgbClr>
          </a:solidFill>
          <a:ln w="15240">
            <a:solidFill>
              <a:srgbClr val="9B5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— Not a Failure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shows HIGHER sojourn than PIE/CAKE.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intentional — ACAPE allows controlled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to maintain throughput stability.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PIE/CAKE achieve low latency by aggressive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which risks underutilisation.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4133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ACAPE: stability + throughput &gt; min latency.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10058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B703">
              <a:alpha val="15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fq_codel Target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13898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Static: 5ms fixed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01568" y="15636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ARED: ~5ms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01568" y="1737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PIE: 15ms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01568" y="19110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CAKE: internal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20848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ACAPE: 1.03ms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23774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B703">
              <a:alpha val="12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Adaptive Depth Control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01568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ACAPE reduces target below 5ms.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01568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ARED, PIE never go below 5ms.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01568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ACAPE's 1.03ms minimum shows the AIMD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01568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drove CoDel to maximum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01568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aggressiveness under sustained HEAVY regime.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01568" y="4133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β=0.9 applied 15 times: 5.00 → 1.03ms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72784" y="10058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00B4D8">
              <a:alpha val="15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 Index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64224" y="13898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Static: ~0.9997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64224" y="15636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ARED: ~0.999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64224" y="1737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PIE: ~0.998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64224" y="19110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CAKE: ~0.999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64224" y="20848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ACAPE: lower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72784" y="23774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00B4D8">
              <a:alpha val="12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2423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Tradeoff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64224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shows slightly reduced Jain index.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64224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adaptive quantum selection: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64224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 profile (quantum=300B) changes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64224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 scheduling weights dynamically.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64224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 of flow-type over strict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64224" y="4133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per-flow equality is intentional design.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64224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optimisation over fairness.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On sojourn: explicitly say 'ACAPE trades lower latency for higher throughput and stability — this is a deliberate design decision, not a weakness'.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Sojourn Time Over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 of queue latency under sustained load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D8EEF7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comparison_all_params.png — sojourn panel]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00584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0A1628">
              <a:alpha val="15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Per-System Behaviour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46304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481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variance, spikes to 60ms+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87452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096C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92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Fluctuates, slow convergence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2860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3042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2304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control — very 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040F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715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2715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low — best latency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1089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1272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3127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band — no spikes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595360" cy="960120"/>
          </a:xfrm>
          <a:prstGeom prst="roundRect">
            <a:avLst>
              <a:gd name="adj" fmla="val 9524"/>
            </a:avLst>
          </a:prstGeom>
          <a:solidFill>
            <a:srgbClr val="00B4D8">
              <a:alpha val="12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86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 Insight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ACAPE's sojourn time plot shows a consistent, narrow band over time without oscillatory spikes. While the absolute latency value is higher than PIE/CAKE, the temporal stability is comparable or better. This matters for applications requiring consistent — not necessarily minimal — delay.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Show the sojourn panel and highlight the ACAPE line — it has fewer sharp spikes than Static or ARED, and maintains a consistent level unlike wildly oscillating systems.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&amp; 8: Final Interpretation + Defensive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evaluation and justification of ACAPE's design choices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937760" cy="2331720"/>
          </a:xfrm>
          <a:prstGeom prst="roundRect">
            <a:avLst>
              <a:gd name="adj" fmla="val 3922"/>
            </a:avLst>
          </a:prstGeom>
          <a:solidFill>
            <a:srgbClr val="52B788">
              <a:alpha val="15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What ACAPE Actually Optimises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does not minimise any single metric in isolation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jointly optimises: throughput · latency · stability · adaptability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highest throughput among all five systems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backlog — not minimum, but predictable and stable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signals detect congestion direction — proactive not reactive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[PREDICTIVE] mode: acts on anticipated future state before peak congestion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712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"ACAPE introduces predictive, multi-timescale congestion control that improves stability and throughput while maintaining controlled latency."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B703">
              <a:alpha val="15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Why Higher Sojourn is Justified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417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allows controlled queue depth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underutilisation of 5Mbit link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oscillations that degrade TCP CWND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queue = stable TCP sending 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PIE/CAKE achieve low latency but risk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underutilisation during bursts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ACAPE: designed for throughput-first,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latency-aware, stability-guaranteed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8595360" cy="1508760"/>
          </a:xfrm>
          <a:prstGeom prst="roundRect">
            <a:avLst>
              <a:gd name="adj" fmla="val 6061"/>
            </a:avLst>
          </a:prstGeom>
          <a:solidFill>
            <a:srgbClr val="0A1628">
              <a:alpha val="25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vs All — One-Line Summary Per Metric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67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~15p (stable, not minimum)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020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among all 5 systems 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4462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early drops — CoDel signalling 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3767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9788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PIE/CAKE — deliberate tradeoff for stability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Target: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9788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1.03ms — only system to go below 5ms 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97880" y="4462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lower — adaptive quantum changes DRR weights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If asked 'why is your latency higher than PIE?' — answer: ACAPE optimises throughput and stability first. The sojourn tradeoff is intentional and documented.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850392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00B4D8">
              <a:alpha val="12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789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fusion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3898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∇drop_rate + ∇backlog + ∇RTT_proxy — detects congestion direction, not just level. First AQM to fuse three concurrent gradient signals.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FB703">
              <a:alpha val="12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0665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066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control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377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[PREDICTIVE] mode acts on anticipated next regime before congestion peaks. Prevents overshoot. No prior AQM does this.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9B5DE5">
              <a:alpha val="12000"/>
            </a:srgbClr>
          </a:solidFill>
          <a:ln w="15240">
            <a:solidFill>
              <a:srgbClr val="9B5D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0540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B5DE5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0723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054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workload profiles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364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flow_map classifies elephant/mice flows. quantum adapts to 300/1514/3000 bytes. First system to adapt fq_codel quantum from live eBPF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68496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52B788">
              <a:alpha val="12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416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059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Three-timescale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35254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per-packet (ns) · gradient 500ms · AIMD 5s. Grounded in Borkar 1997 convergence theory. Zero kernel modification.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Close with: 'ACAPE is the first system to combine all four of these on stock Linux. Every result is from a live router topology experiment with real TCP traffic.'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ACAPE: Five-System AQM Comparison</dc:title>
  <dc:subject>PptxGenJS Presentation</dc:subject>
  <dc:creator>Amritha S, Yugeshwaran P, Deepti Annuncia</dc:creator>
  <cp:lastModifiedBy>Amritha S, Yugeshwaran P, Deepti Annuncia</cp:lastModifiedBy>
  <cp:revision>1</cp:revision>
  <dcterms:created xsi:type="dcterms:W3CDTF">2026-04-09T11:29:27Z</dcterms:created>
  <dcterms:modified xsi:type="dcterms:W3CDTF">2026-04-09T11:29:27Z</dcterms:modified>
</cp:coreProperties>
</file>