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640080"/>
            <a:ext cx="8503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20040" y="18288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Condition-Aware Packet Engine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233172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fq_codel Tuning via eBPF — Zero Kernel Modification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2834640"/>
            <a:ext cx="8503920" cy="36576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292608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Amritha S  ·  Yugeshwaran P  ·  Deepti Annuncia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321868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ECE, SENSE  ·  VIT Chennai  · 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39319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20040" y="46451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Backlog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14600" y="39319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12×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2514600" y="46451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Stable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39319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709160" y="46451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Mods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03720" y="39319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0.9997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6903720" y="46451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 Fairness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Static Parameters in fq_codel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4023360" cy="3291840"/>
          </a:xfrm>
          <a:prstGeom prst="roundRect">
            <a:avLst>
              <a:gd name="adj" fmla="val 3333"/>
            </a:avLst>
          </a:prstGeom>
          <a:solidFill>
            <a:srgbClr val="E63946">
              <a:alpha val="12000"/>
            </a:srgbClr>
          </a:solidFill>
          <a:ln w="1524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fq_codel — Fixed at Boot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target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448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ms  — never changes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16712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interval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54480" y="21671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ms — never changes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82549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limit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54480" y="2825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 pkts — never changes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48386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quantum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54480" y="34838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1514 bytes — never changes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1005840"/>
            <a:ext cx="4206240" cy="3291840"/>
          </a:xfrm>
          <a:prstGeom prst="roundRect">
            <a:avLst>
              <a:gd name="adj" fmla="val 3333"/>
            </a:avLst>
          </a:prstGeom>
          <a:solidFill>
            <a:srgbClr val="0A1628">
              <a:alpha val="12000"/>
            </a:srgbClr>
          </a:solidFill>
          <a:ln w="15240">
            <a:solidFill>
              <a:srgbClr val="0A16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54880" y="15087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Bufferbloat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17373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grows to 434 pkts at 8:1 oversubscription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1671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Unfair scheduling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23957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Elephant flows hog DRR quantum slots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28254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recovery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30540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don't relax when congestion clears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34838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response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37124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awareness of congestion direction or trend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43484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RED (Floyd 2001) adapts only max_p — not native fq_codel parameters. No published system tunes all four parameters with gradient prediction + eBPF.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Testbed, Protocol &amp; Traffic Generation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2103120" cy="1645920"/>
          </a:xfrm>
          <a:prstGeom prst="roundRect">
            <a:avLst>
              <a:gd name="adj" fmla="val 8333"/>
            </a:avLst>
          </a:prstGeom>
          <a:solidFill>
            <a:srgbClr val="0096C7">
              <a:alpha val="25000"/>
            </a:srgbClr>
          </a:solidFill>
          <a:ln w="25400">
            <a:solidFill>
              <a:srgbClr val="0096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57276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192.168.1.2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960120"/>
            <a:ext cx="2103120" cy="1645920"/>
          </a:xfrm>
          <a:prstGeom prst="roundRect">
            <a:avLst>
              <a:gd name="adj" fmla="val 8333"/>
            </a:avLst>
          </a:prstGeom>
          <a:solidFill>
            <a:srgbClr val="FFB703">
              <a:alpha val="25000"/>
            </a:srgbClr>
          </a:solidFill>
          <a:ln w="25400">
            <a:solidFill>
              <a:srgbClr val="FFB70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0058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ns_router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37560" y="157276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TBF 5Mbit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fq_codel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eBPF hook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0" y="960120"/>
            <a:ext cx="2103120" cy="1645920"/>
          </a:xfrm>
          <a:prstGeom prst="roundRect">
            <a:avLst>
              <a:gd name="adj" fmla="val 8333"/>
            </a:avLst>
          </a:prstGeom>
          <a:solidFill>
            <a:srgbClr val="0096C7">
              <a:alpha val="25000"/>
            </a:srgbClr>
          </a:solidFill>
          <a:ln w="25400">
            <a:solidFill>
              <a:srgbClr val="0096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10058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29400" y="157276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192.168.2.2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1783080"/>
            <a:ext cx="822960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  <a:tailEnd type="arrow"/>
          </a:ln>
        </p:spPr>
      </p:sp>
      <p:sp>
        <p:nvSpPr>
          <p:cNvPr id="14" name="Text 12"/>
          <p:cNvSpPr/>
          <p:nvPr/>
        </p:nvSpPr>
        <p:spPr>
          <a:xfrm>
            <a:off x="2423160" y="1874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veth_cr/rc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94960" y="1783080"/>
            <a:ext cx="822960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  <a:tailEnd type="arrow"/>
          </a:ln>
        </p:spPr>
      </p:sp>
      <p:sp>
        <p:nvSpPr>
          <p:cNvPr id="16" name="Text 14"/>
          <p:cNvSpPr/>
          <p:nvPr/>
        </p:nvSpPr>
        <p:spPr>
          <a:xfrm>
            <a:off x="5349240" y="1874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veth_rs/sr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743200"/>
            <a:ext cx="2743200" cy="2148840"/>
          </a:xfrm>
          <a:prstGeom prst="roundRect">
            <a:avLst>
              <a:gd name="adj" fmla="val 5106"/>
            </a:avLst>
          </a:prstGeom>
          <a:solidFill>
            <a:srgbClr val="00B4D8">
              <a:alpha val="18000"/>
            </a:srgbClr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788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CUBIC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" y="315468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· Linux default since kernel 2.6.19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" y="342900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· Window: W(t) = C(t-K)³ + W_max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5488" y="370332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· Cubic growth — RTT independent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5488" y="397764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· On loss: CWND × 0.7 (vs Reno 0.5)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488" y="425196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· Fills buffer aggressively → worst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5488" y="452628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· case for AQM evaluation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46120" y="2743200"/>
            <a:ext cx="2743200" cy="2148840"/>
          </a:xfrm>
          <a:prstGeom prst="roundRect">
            <a:avLst>
              <a:gd name="adj" fmla="val 5106"/>
            </a:avLst>
          </a:prstGeom>
          <a:solidFill>
            <a:srgbClr val="52B788">
              <a:alpha val="18000"/>
            </a:srgbClr>
          </a:solidFill>
          <a:ln w="15240">
            <a:solidFill>
              <a:srgbClr val="52B7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2788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iperf3 — Why?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55848" y="315468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· Deterministic max-rate TCP load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355848" y="342900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· No request-response gaps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355848" y="370332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· Stable steady-state queue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355848" y="397764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· Gradient signals are clean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355848" y="425196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· -P 20: 20 parallel CUBIC flows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355848" y="452628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· JSON output → Jain index auto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26480" y="2743200"/>
            <a:ext cx="2743200" cy="2148840"/>
          </a:xfrm>
          <a:prstGeom prst="roundRect">
            <a:avLst>
              <a:gd name="adj" fmla="val 5106"/>
            </a:avLst>
          </a:prstGeom>
          <a:solidFill>
            <a:srgbClr val="FFB703">
              <a:alpha val="18000"/>
            </a:srgbClr>
          </a:solidFill>
          <a:ln w="15240">
            <a:solidFill>
              <a:srgbClr val="FFB70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2788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iperf3 Flags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236208" y="315468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· -c 192.168.2.2  server IP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236208" y="342900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· -P 20           parallel flows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36208" y="370332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· -t 3600         1 hour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236208" y="397764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· -i 10           report every 10s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236208" y="425196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· -J              JSON output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236208" y="452628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· --logfile  save to disk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65760" y="48280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Oversubscription: 20 flows × ~1Mbit = 20Mbit injected into 5Mbit bottleneck = 4:1 ratio  ·  Matches Floyd et al. 2001 topology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ACAPE: Three-Timescale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960120"/>
            <a:ext cx="2743200" cy="3063240"/>
          </a:xfrm>
          <a:prstGeom prst="roundRect">
            <a:avLst>
              <a:gd name="adj" fmla="val 4000"/>
            </a:avLst>
          </a:prstGeom>
          <a:solidFill>
            <a:srgbClr val="FFB703">
              <a:alpha val="18000"/>
            </a:srgbClr>
          </a:solidFill>
          <a:ln w="1524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875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93192" y="1234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— eBPF  (~ns per packet)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" y="166420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  tc_egress_monitor() on veth_rs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93192" y="198424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  flow_map: LRU_HASH 65536 entries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93192" y="230428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  global_map: PERCPU_ARRAY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93192" y="262432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  size_hist: ARRAY 16 buckets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3192" y="294436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  RTT EWMA: α = 0.125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93192" y="326440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  prog_id confirmed via jited flag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54680" y="960120"/>
            <a:ext cx="2743200" cy="3063240"/>
          </a:xfrm>
          <a:prstGeom prst="roundRect">
            <a:avLst>
              <a:gd name="adj" fmla="val 4000"/>
            </a:avLst>
          </a:prstGeom>
          <a:solidFill>
            <a:srgbClr val="00B4D8">
              <a:alpha val="18000"/>
            </a:srgbClr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9875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→→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27832" y="1234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— Gradient (every 500ms)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27832" y="166420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  Reads BPF maps + tc -s qdisc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27832" y="198424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  Linear regression W=10 samples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27832" y="230428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  G(t) = 0.6·∇dr/30 + 0.4·∇bl/300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27832" y="262432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  WORSENING if G(t) &gt; 0.5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27832" y="294436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  RECOVERING if G(t) &lt; −0.5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27832" y="326440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  Classifies: HEAVY/MOD/LIGHT/NORMAL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89320" y="960120"/>
            <a:ext cx="2743200" cy="3063240"/>
          </a:xfrm>
          <a:prstGeom prst="roundRect">
            <a:avLst>
              <a:gd name="adj" fmla="val 4000"/>
            </a:avLst>
          </a:prstGeom>
          <a:solidFill>
            <a:srgbClr val="52B788">
              <a:alpha val="18000"/>
            </a:srgbClr>
          </a:solidFill>
          <a:ln w="15240">
            <a:solidFill>
              <a:srgbClr val="52B7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9875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→→→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62472" y="1234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— AIMD Policy (~5s)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62472" y="166420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  HEAVY:    target × 0.9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062472" y="198424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  MODERATE: target − 0.2ms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062472" y="230428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  LIGHT:    target + 0.5ms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062472" y="262432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  NORMAL:   target + 0.2ms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062472" y="294436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  target ∈ [1ms, 20ms]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062472" y="326440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  tc qdisc change — zero downtime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0040" y="4114800"/>
            <a:ext cx="2084832" cy="868680"/>
          </a:xfrm>
          <a:prstGeom prst="roundRect">
            <a:avLst>
              <a:gd name="adj" fmla="val 12632"/>
            </a:avLst>
          </a:prstGeom>
          <a:solidFill>
            <a:srgbClr val="00B4D8">
              <a:alpha val="18000"/>
            </a:srgbClr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41422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41248" y="4142232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fusion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∇dr + ∇bl + ∇rtt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532888" y="4114800"/>
            <a:ext cx="2084832" cy="868680"/>
          </a:xfrm>
          <a:prstGeom prst="roundRect">
            <a:avLst>
              <a:gd name="adj" fmla="val 12632"/>
            </a:avLst>
          </a:prstGeom>
          <a:solidFill>
            <a:srgbClr val="FFB703">
              <a:alpha val="18000"/>
            </a:srgbClr>
          </a:solidFill>
          <a:ln w="15240">
            <a:solidFill>
              <a:srgbClr val="FFB70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96896" y="41422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054096" y="4142232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control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[PREDICTIVE] tag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45736" y="4114800"/>
            <a:ext cx="2084832" cy="868680"/>
          </a:xfrm>
          <a:prstGeom prst="roundRect">
            <a:avLst>
              <a:gd name="adj" fmla="val 12632"/>
            </a:avLst>
          </a:prstGeom>
          <a:solidFill>
            <a:srgbClr val="52B788">
              <a:alpha val="18000"/>
            </a:srgbClr>
          </a:solidFill>
          <a:ln w="15240">
            <a:solidFill>
              <a:srgbClr val="52B7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9744" y="41422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266944" y="4142232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eBPF workload profiles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300/1514/3000B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958584" y="4114800"/>
            <a:ext cx="2084832" cy="868680"/>
          </a:xfrm>
          <a:prstGeom prst="roundRect">
            <a:avLst>
              <a:gd name="adj" fmla="val 12632"/>
            </a:avLst>
          </a:prstGeom>
          <a:solidFill>
            <a:srgbClr val="E63946">
              <a:alpha val="18000"/>
            </a:srgbClr>
          </a:solidFill>
          <a:ln w="15240">
            <a:solidFill>
              <a:srgbClr val="E6394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22592" y="41422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479792" y="4142232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Three-timescale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stock Linux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Systems — Why These Four?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005840"/>
            <a:ext cx="2084832" cy="3474720"/>
          </a:xfrm>
          <a:prstGeom prst="roundRect">
            <a:avLst>
              <a:gd name="adj" fmla="val 5263"/>
            </a:avLst>
          </a:prstGeom>
          <a:solidFill>
            <a:srgbClr val="E63946">
              <a:alpha val="18000"/>
            </a:srgbClr>
          </a:solidFill>
          <a:ln w="1524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051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fq_codel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4048" y="15727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Linux default since kernel 3.5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21945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4 parameters fixed at startup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28163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Never adapts to traffic changes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343814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Our baseline — the status quo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42032" y="1005840"/>
            <a:ext cx="2084832" cy="3474720"/>
          </a:xfrm>
          <a:prstGeom prst="roundRect">
            <a:avLst>
              <a:gd name="adj" fmla="val 5263"/>
            </a:avLst>
          </a:prstGeom>
          <a:solidFill>
            <a:srgbClr val="0096C7">
              <a:alpha val="18000"/>
            </a:srgbClr>
          </a:solidFill>
          <a:ln w="15240">
            <a:solidFill>
              <a:srgbClr val="0096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051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06040" y="15727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Floyd, Gummadi, Shenker 2001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06040" y="21945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Our PRIMARY base paper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06040" y="28163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Adapts max_p using AIMD β=0.9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06040" y="343814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Only 1 parameter, no gradient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64024" y="1005840"/>
            <a:ext cx="2084832" cy="3474720"/>
          </a:xfrm>
          <a:prstGeom prst="roundRect">
            <a:avLst>
              <a:gd name="adj" fmla="val 5263"/>
            </a:avLst>
          </a:prstGeom>
          <a:solidFill>
            <a:srgbClr val="FFB703">
              <a:alpha val="18000"/>
            </a:srgbClr>
          </a:solidFill>
          <a:ln w="15240">
            <a:solidFill>
              <a:srgbClr val="FFB70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1051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28032" y="15727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RFC 8033 — control-theoretic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28032" y="21945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PI controller for queue delay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28032" y="28163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 per-flow scheduling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28032" y="343814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Modern AQM — statically set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86016" y="1005840"/>
            <a:ext cx="2084832" cy="3474720"/>
          </a:xfrm>
          <a:prstGeom prst="roundRect">
            <a:avLst>
              <a:gd name="adj" fmla="val 5263"/>
            </a:avLst>
          </a:prstGeom>
          <a:solidFill>
            <a:srgbClr val="52B788">
              <a:alpha val="18000"/>
            </a:srgbClr>
          </a:solidFill>
          <a:ln w="15240">
            <a:solidFill>
              <a:srgbClr val="52B7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50024" y="1051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(ours)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50024" y="15727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Tunes all 4 fq_codel params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50024" y="21945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Gradient-based trajectory C1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50024" y="28163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Predictive control C2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50024" y="343814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eBPF workload profiles C3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" y="46177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0040" y="4892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params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0040" y="4892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0040" y="4892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eBPF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0040" y="4892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0040" y="4892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kernel mod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103120" y="4892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103120" y="4892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103120" y="4892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103120" y="4892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103120" y="4892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840480" y="4892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840480" y="4892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840480" y="4892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840480" y="4892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840480" y="4892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577840" y="4892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577840" y="4892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577840" y="4892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577840" y="4892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577840" y="4892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315200" y="4892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315200" y="4892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315200" y="4892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315200" y="4892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315200" y="4892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 — All Systems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60120"/>
            <a:ext cx="182880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78408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03120" y="960120"/>
            <a:ext cx="137160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7" name="Text 5"/>
          <p:cNvSpPr/>
          <p:nvPr/>
        </p:nvSpPr>
        <p:spPr>
          <a:xfrm>
            <a:off x="2103120" y="978408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Backlog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960120"/>
            <a:ext cx="118872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978408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146304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978408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 Tuned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118872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978408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0" y="960120"/>
            <a:ext cx="109728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978408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 Index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1325880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" y="1353312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fq_codel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03120" y="1325880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30552" y="1353312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434 pkts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0" y="1325880"/>
            <a:ext cx="1188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02152" y="1353312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1325880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90872" y="1353312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(none)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1325880"/>
            <a:ext cx="1188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53912" y="1353312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0" y="1325880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42632" y="1353312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0.9997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1325880"/>
            <a:ext cx="54864" cy="34747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9" name="Shape 27"/>
          <p:cNvSpPr/>
          <p:nvPr/>
        </p:nvSpPr>
        <p:spPr>
          <a:xfrm>
            <a:off x="274320" y="1709928"/>
            <a:ext cx="1828800" cy="347472"/>
          </a:xfrm>
          <a:prstGeom prst="rect">
            <a:avLst/>
          </a:prstGeom>
          <a:solidFill>
            <a:srgbClr val="EB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1752" y="173736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103120" y="1709928"/>
            <a:ext cx="1371600" cy="347472"/>
          </a:xfrm>
          <a:prstGeom prst="rect">
            <a:avLst/>
          </a:prstGeom>
          <a:solidFill>
            <a:srgbClr val="EB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30552" y="173736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 pkts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474720" y="1709928"/>
            <a:ext cx="1188720" cy="347472"/>
          </a:xfrm>
          <a:prstGeom prst="rect">
            <a:avLst/>
          </a:prstGeom>
          <a:solidFill>
            <a:srgbClr val="EB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02152" y="1737360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 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1709928"/>
            <a:ext cx="1463040" cy="347472"/>
          </a:xfrm>
          <a:prstGeom prst="rect">
            <a:avLst/>
          </a:prstGeom>
          <a:solidFill>
            <a:srgbClr val="EB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90872" y="1737360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(target)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26480" y="1709928"/>
            <a:ext cx="1188720" cy="347472"/>
          </a:xfrm>
          <a:prstGeom prst="rect">
            <a:avLst/>
          </a:prstGeom>
          <a:solidFill>
            <a:srgbClr val="EB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53912" y="1737360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315200" y="1709928"/>
            <a:ext cx="1097280" cy="347472"/>
          </a:xfrm>
          <a:prstGeom prst="rect">
            <a:avLst/>
          </a:prstGeom>
          <a:solidFill>
            <a:srgbClr val="EB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42632" y="1737360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0.9997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1709928"/>
            <a:ext cx="54864" cy="347472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42" name="Shape 40"/>
          <p:cNvSpPr/>
          <p:nvPr/>
        </p:nvSpPr>
        <p:spPr>
          <a:xfrm>
            <a:off x="274320" y="2093976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1752" y="2121408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103120" y="2093976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130552" y="2121408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~380 pkts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474720" y="2093976"/>
            <a:ext cx="1188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502152" y="2121408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663440" y="2093976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90872" y="212140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(prob)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126480" y="2093976"/>
            <a:ext cx="1188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53912" y="2121408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315200" y="2093976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42632" y="2121408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0.9997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74320" y="2093976"/>
            <a:ext cx="54864" cy="34747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55" name="Shape 53"/>
          <p:cNvSpPr/>
          <p:nvPr/>
        </p:nvSpPr>
        <p:spPr>
          <a:xfrm>
            <a:off x="274320" y="2478024"/>
            <a:ext cx="1828800" cy="347472"/>
          </a:xfrm>
          <a:prstGeom prst="rect">
            <a:avLst/>
          </a:prstGeom>
          <a:solidFill>
            <a:srgbClr val="52B78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01752" y="2505456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(ours)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103120" y="2478024"/>
            <a:ext cx="1371600" cy="347472"/>
          </a:xfrm>
          <a:prstGeom prst="rect">
            <a:avLst/>
          </a:prstGeom>
          <a:solidFill>
            <a:srgbClr val="52B78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130552" y="2505456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314 pkts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474720" y="2478024"/>
            <a:ext cx="1188720" cy="347472"/>
          </a:xfrm>
          <a:prstGeom prst="rect">
            <a:avLst/>
          </a:prstGeom>
          <a:solidFill>
            <a:srgbClr val="52B78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502152" y="2505456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s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663440" y="2478024"/>
            <a:ext cx="1463040" cy="347472"/>
          </a:xfrm>
          <a:prstGeom prst="rect">
            <a:avLst/>
          </a:prstGeom>
          <a:solidFill>
            <a:srgbClr val="52B78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90872" y="2505456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(all)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126480" y="2478024"/>
            <a:ext cx="1188720" cy="347472"/>
          </a:xfrm>
          <a:prstGeom prst="rect">
            <a:avLst/>
          </a:prstGeom>
          <a:solidFill>
            <a:srgbClr val="52B78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53912" y="2505456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7315200" y="2478024"/>
            <a:ext cx="1097280" cy="347472"/>
          </a:xfrm>
          <a:prstGeom prst="rect">
            <a:avLst/>
          </a:prstGeom>
          <a:solidFill>
            <a:srgbClr val="52B78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342632" y="2505456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0.9997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274320" y="2478024"/>
            <a:ext cx="54864" cy="34747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68" name="Shape 66"/>
          <p:cNvSpPr/>
          <p:nvPr/>
        </p:nvSpPr>
        <p:spPr>
          <a:xfrm>
            <a:off x="274320" y="3246120"/>
            <a:ext cx="2084832" cy="1005840"/>
          </a:xfrm>
          <a:prstGeom prst="roundRect">
            <a:avLst>
              <a:gd name="adj" fmla="val 10909"/>
            </a:avLst>
          </a:prstGeom>
          <a:solidFill>
            <a:srgbClr val="52B788">
              <a:alpha val="18000"/>
            </a:srgbClr>
          </a:solidFill>
          <a:ln w="15240">
            <a:solidFill>
              <a:srgbClr val="52B78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4320" y="3273552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3200" dirty="0"/>
          </a:p>
        </p:txBody>
      </p:sp>
      <p:sp>
        <p:nvSpPr>
          <p:cNvPr id="70" name="Text 68"/>
          <p:cNvSpPr/>
          <p:nvPr/>
        </p:nvSpPr>
        <p:spPr>
          <a:xfrm>
            <a:off x="274320" y="3794760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backlog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static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2496312" y="3246120"/>
            <a:ext cx="2084832" cy="1005840"/>
          </a:xfrm>
          <a:prstGeom prst="roundRect">
            <a:avLst>
              <a:gd name="adj" fmla="val 10909"/>
            </a:avLst>
          </a:prstGeom>
          <a:solidFill>
            <a:srgbClr val="00B4D8">
              <a:alpha val="18000"/>
            </a:srgbClr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496312" y="3273552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3200" dirty="0"/>
          </a:p>
        </p:txBody>
      </p:sp>
      <p:sp>
        <p:nvSpPr>
          <p:cNvPr id="73" name="Text 71"/>
          <p:cNvSpPr/>
          <p:nvPr/>
        </p:nvSpPr>
        <p:spPr>
          <a:xfrm>
            <a:off x="2496312" y="3794760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backlog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Adaptive RED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4718304" y="3246120"/>
            <a:ext cx="2084832" cy="1005840"/>
          </a:xfrm>
          <a:prstGeom prst="roundRect">
            <a:avLst>
              <a:gd name="adj" fmla="val 10909"/>
            </a:avLst>
          </a:prstGeom>
          <a:solidFill>
            <a:srgbClr val="FFB703">
              <a:alpha val="18000"/>
            </a:srgbClr>
          </a:solidFill>
          <a:ln w="15240">
            <a:solidFill>
              <a:srgbClr val="FFB70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718304" y="3273552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12×</a:t>
            </a:r>
            <a:endParaRPr lang="en-US" sz="3200" dirty="0"/>
          </a:p>
        </p:txBody>
      </p:sp>
      <p:sp>
        <p:nvSpPr>
          <p:cNvPr id="76" name="Text 74"/>
          <p:cNvSpPr/>
          <p:nvPr/>
        </p:nvSpPr>
        <p:spPr>
          <a:xfrm>
            <a:off x="4718304" y="3794760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stabilisation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6940296" y="3246120"/>
            <a:ext cx="2084832" cy="1005840"/>
          </a:xfrm>
          <a:prstGeom prst="roundRect">
            <a:avLst>
              <a:gd name="adj" fmla="val 10909"/>
            </a:avLst>
          </a:prstGeom>
          <a:solidFill>
            <a:srgbClr val="52B788">
              <a:alpha val="18000"/>
            </a:srgbClr>
          </a:solidFill>
          <a:ln w="15240">
            <a:solidFill>
              <a:srgbClr val="52B78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940296" y="3273552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5s</a:t>
            </a:r>
            <a:endParaRPr lang="en-US" sz="3200" dirty="0"/>
          </a:p>
        </p:txBody>
      </p:sp>
      <p:sp>
        <p:nvSpPr>
          <p:cNvPr id="79" name="Text 77"/>
          <p:cNvSpPr/>
          <p:nvPr/>
        </p:nvSpPr>
        <p:spPr>
          <a:xfrm>
            <a:off x="6940296" y="3794760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274320" y="4343400"/>
            <a:ext cx="8595360" cy="685800"/>
          </a:xfrm>
          <a:prstGeom prst="rect">
            <a:avLst/>
          </a:prstGeom>
          <a:solidFill>
            <a:srgbClr val="D0EAF5"/>
          </a:solidFill>
          <a:ln w="12700">
            <a:solidFill>
              <a:srgbClr val="00B4D8"/>
            </a:solidFill>
            <a:prstDash val="dash"/>
          </a:ln>
        </p:spPr>
      </p:sp>
      <p:sp>
        <p:nvSpPr>
          <p:cNvPr id="81" name="Text 79"/>
          <p:cNvSpPr/>
          <p:nvPr/>
        </p:nvSpPr>
        <p:spPr>
          <a:xfrm>
            <a:off x="274320" y="43891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comparison_key_result.png — from plots/ folder]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Plots — All Parameters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005840"/>
            <a:ext cx="4297680" cy="1920240"/>
          </a:xfrm>
          <a:prstGeom prst="roundRect">
            <a:avLst>
              <a:gd name="adj" fmla="val 4762"/>
            </a:avLst>
          </a:prstGeom>
          <a:solidFill>
            <a:srgbClr val="0D2035"/>
          </a:solidFill>
          <a:ln w="15240">
            <a:solidFill>
              <a:srgbClr val="0096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463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comparison_key_result.png]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+ Target over time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560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plots/comparison_key_result.png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4297680" cy="1920240"/>
          </a:xfrm>
          <a:prstGeom prst="roundRect">
            <a:avLst>
              <a:gd name="adj" fmla="val 4762"/>
            </a:avLst>
          </a:prstGeom>
          <a:solidFill>
            <a:srgbClr val="0D2035"/>
          </a:solidFill>
          <a:ln w="15240">
            <a:solidFill>
              <a:srgbClr val="0096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463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comparison_summary_bars.png]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097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bars (avg metrics)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2560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plots/comparison_summary_bars.png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3063240"/>
            <a:ext cx="4297680" cy="1920240"/>
          </a:xfrm>
          <a:prstGeom prst="roundRect">
            <a:avLst>
              <a:gd name="adj" fmla="val 4762"/>
            </a:avLst>
          </a:prstGeom>
          <a:solidFill>
            <a:srgbClr val="0D2035"/>
          </a:solidFill>
          <a:ln w="15240">
            <a:solidFill>
              <a:srgbClr val="0096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520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comparison_latency_cdf.png]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3154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CDF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4617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plots/comparison_latency_cdf.png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6320" y="3063240"/>
            <a:ext cx="4297680" cy="1920240"/>
          </a:xfrm>
          <a:prstGeom prst="roundRect">
            <a:avLst>
              <a:gd name="adj" fmla="val 4762"/>
            </a:avLst>
          </a:prstGeom>
          <a:solidFill>
            <a:srgbClr val="0D2035"/>
          </a:solidFill>
          <a:ln w="15240">
            <a:solidFill>
              <a:srgbClr val="0096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3520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comparison_feature_matrix.png]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3154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matrix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4617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plots/comparison_feature_matrix.png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master_run.sh finishes → python3 scripts/plot_all_systems.py → drop PNG files above into these placeholders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ACAPE Succeeds — Where It Struggles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005840"/>
            <a:ext cx="4206240" cy="3749040"/>
          </a:xfrm>
          <a:prstGeom prst="roundRect">
            <a:avLst>
              <a:gd name="adj" fmla="val 2927"/>
            </a:avLst>
          </a:prstGeom>
          <a:solidFill>
            <a:srgbClr val="52B788">
              <a:alpha val="12000"/>
            </a:srgbClr>
          </a:solidFill>
          <a:ln w="1524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Succeeds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5087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lower backlog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73736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314p vs 434p static fq_codel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20025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12× faster stabilise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2311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5s vs ~70s Adaptive RED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4963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maintained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72491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throughout all runs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9900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 fairness 0.9997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321868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flow starvation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4838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kernel mods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371246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qdisc change only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9776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monitoring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42062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Prometheus metrics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005840"/>
            <a:ext cx="4206240" cy="3749040"/>
          </a:xfrm>
          <a:prstGeom prst="roundRect">
            <a:avLst>
              <a:gd name="adj" fmla="val 2927"/>
            </a:avLst>
          </a:prstGeom>
          <a:solidFill>
            <a:srgbClr val="E63946">
              <a:alpha val="12000"/>
            </a:srgbClr>
          </a:solidFill>
          <a:ln w="15240">
            <a:solidFill>
              <a:srgbClr val="E639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0515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Limitations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54880" y="15087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RTT gradient flat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17373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eBPF cross-namespace export returns 0 flows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21031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thresholds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2331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HEAVY/LIGHT tuned for 5Mbit + 20 flows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26974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machine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29260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 — no physical PHY variability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32918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QUIC support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35204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 streams share one UDP flow slot in DRR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0" y="38862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multi-hop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54880" y="41148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bottleneck only, no cascaded queues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4320" y="482803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RTT flat explained: eBPF program IS running (prog_id confirmed, jited, quantum switches to 300B for MICE). Issue is bpftool cross-namespace map read — future fix: pin bpf_link with explicit namespace fd.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36576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proves runtime fq_codel adaptation is possible on stock Linux with zero kernel modification.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8503920" cy="731520"/>
          </a:xfrm>
          <a:prstGeom prst="roundRect">
            <a:avLst>
              <a:gd name="adj" fmla="val 15000"/>
            </a:avLst>
          </a:prstGeom>
          <a:solidFill>
            <a:srgbClr val="0096C7">
              <a:alpha val="12000"/>
            </a:srgbClr>
          </a:solidFill>
          <a:ln w="15240">
            <a:solidFill>
              <a:srgbClr val="009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Three-timescale architecture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34640" y="155448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eBPF per-packet → gradient 500ms → AIMD 5s — grounded in Borkar 1997 convergence theory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313432"/>
            <a:ext cx="8503920" cy="731520"/>
          </a:xfrm>
          <a:prstGeom prst="roundRect">
            <a:avLst>
              <a:gd name="adj" fmla="val 15000"/>
            </a:avLst>
          </a:prstGeom>
          <a:solidFill>
            <a:srgbClr val="0096C7">
              <a:alpha val="12000"/>
            </a:srgbClr>
          </a:solidFill>
          <a:ln w="15240">
            <a:solidFill>
              <a:srgbClr val="0096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3591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parameters tuned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34640" y="2359152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· interval · limit · quantum — no prior system does this for fq_codel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3118104"/>
            <a:ext cx="8503920" cy="731520"/>
          </a:xfrm>
          <a:prstGeom prst="roundRect">
            <a:avLst>
              <a:gd name="adj" fmla="val 15000"/>
            </a:avLst>
          </a:prstGeom>
          <a:solidFill>
            <a:srgbClr val="0096C7">
              <a:alpha val="12000"/>
            </a:srgbClr>
          </a:solidFill>
          <a:ln w="15240">
            <a:solidFill>
              <a:srgbClr val="0096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1638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measurement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34640" y="3163824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TCP CUBIC flows · 5Mbit bottleneck · router namespace topology · 1hr per system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922776"/>
            <a:ext cx="8503920" cy="731520"/>
          </a:xfrm>
          <a:prstGeom prst="roundRect">
            <a:avLst>
              <a:gd name="adj" fmla="val 15000"/>
            </a:avLst>
          </a:prstGeom>
          <a:solidFill>
            <a:srgbClr val="0096C7">
              <a:alpha val="12000"/>
            </a:srgbClr>
          </a:solidFill>
          <a:ln w="15240">
            <a:solidFill>
              <a:srgbClr val="0096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96849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34640" y="3968496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eBPF namespace export · Q-learning thresholds · OpenWrt hardware · CAKE/FQ-PIE extension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Amritha S  ·  Yugeshwaran P  ·  Deepti Annuncia  ·  VIT Chennai 2026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" y="500176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96C7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github.com/Amritha902/ccn-linux-qdisc-study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ACAPE: Adaptive Condition-Aware Packet Engine</dc:title>
  <dc:subject>PptxGenJS Presentation</dc:subject>
  <dc:creator>Amritha S, Yugeshwaran P, Deepti Annuncia</dc:creator>
  <cp:lastModifiedBy>Amritha S, Yugeshwaran P, Deepti Annuncia</cp:lastModifiedBy>
  <cp:revision>1</cp:revision>
  <dcterms:created xsi:type="dcterms:W3CDTF">2026-04-09T11:00:40Z</dcterms:created>
  <dcterms:modified xsi:type="dcterms:W3CDTF">2026-04-09T11:00:40Z</dcterms:modified>
</cp:coreProperties>
</file>