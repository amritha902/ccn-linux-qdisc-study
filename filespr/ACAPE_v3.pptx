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— 5 Systems on One Slide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04088"/>
            <a:ext cx="8503920" cy="457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" name="Shape 2"/>
          <p:cNvSpPr/>
          <p:nvPr/>
        </p:nvSpPr>
        <p:spPr>
          <a:xfrm>
            <a:off x="2148840" y="822960"/>
            <a:ext cx="1261872" cy="3840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2148840" y="8321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fq_codel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447288" y="822960"/>
            <a:ext cx="1261872" cy="384048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7" name="Text 5"/>
          <p:cNvSpPr/>
          <p:nvPr/>
        </p:nvSpPr>
        <p:spPr>
          <a:xfrm>
            <a:off x="3447288" y="8321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45736" y="822960"/>
            <a:ext cx="1261872" cy="38404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9" name="Text 7"/>
          <p:cNvSpPr/>
          <p:nvPr/>
        </p:nvSpPr>
        <p:spPr>
          <a:xfrm>
            <a:off x="4745736" y="8321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44184" y="822960"/>
            <a:ext cx="1261872" cy="384048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11" name="Text 9"/>
          <p:cNvSpPr/>
          <p:nvPr/>
        </p:nvSpPr>
        <p:spPr>
          <a:xfrm>
            <a:off x="6044184" y="8321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42632" y="822960"/>
            <a:ext cx="1261872" cy="38404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42632" y="832104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234440"/>
            <a:ext cx="1792224" cy="301752"/>
          </a:xfrm>
          <a:prstGeom prst="rect">
            <a:avLst/>
          </a:prstGeom>
          <a:solidFill>
            <a:srgbClr val="E8F4FB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" y="127101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target param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48840" y="1234440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126187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47288" y="1234440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26187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45736" y="1234440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5736" y="126187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44184" y="1234440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44184" y="126187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342632" y="1234440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42632" y="126187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1572768"/>
            <a:ext cx="1792224" cy="301752"/>
          </a:xfrm>
          <a:prstGeom prst="rect">
            <a:avLst/>
          </a:prstGeom>
          <a:solidFill>
            <a:srgbClr val="F5FAFD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" y="160934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interval param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148840" y="1572768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160020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447288" y="1572768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160020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45736" y="1572768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5736" y="160020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044184" y="1572768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44184" y="160020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7342632" y="1572768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42632" y="160020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20040" y="1911096"/>
            <a:ext cx="1792224" cy="301752"/>
          </a:xfrm>
          <a:prstGeom prst="rect">
            <a:avLst/>
          </a:prstGeom>
          <a:solidFill>
            <a:srgbClr val="E8F4FB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" y="194767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limit param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148840" y="1911096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148840" y="193852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447288" y="1911096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47288" y="193852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745736" y="1911096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45736" y="193852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044184" y="1911096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44184" y="193852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342632" y="1911096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42632" y="193852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320040" y="2249424"/>
            <a:ext cx="1792224" cy="301752"/>
          </a:xfrm>
          <a:prstGeom prst="rect">
            <a:avLst/>
          </a:prstGeom>
          <a:solidFill>
            <a:srgbClr val="F5FAFD"/>
          </a:solidFill>
          <a:ln/>
        </p:spPr>
      </p:sp>
      <p:sp>
        <p:nvSpPr>
          <p:cNvPr id="51" name="Text 49"/>
          <p:cNvSpPr/>
          <p:nvPr/>
        </p:nvSpPr>
        <p:spPr>
          <a:xfrm>
            <a:off x="393192" y="228600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quantum param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148840" y="2249424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48840" y="227685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447288" y="2249424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47288" y="227685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4745736" y="2249424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45736" y="227685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044184" y="2249424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044184" y="227685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342632" y="2249424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42632" y="227685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320040" y="2587752"/>
            <a:ext cx="1792224" cy="301752"/>
          </a:xfrm>
          <a:prstGeom prst="rect">
            <a:avLst/>
          </a:prstGeom>
          <a:solidFill>
            <a:srgbClr val="E8F4FB"/>
          </a:solidFill>
          <a:ln/>
        </p:spPr>
      </p:sp>
      <p:sp>
        <p:nvSpPr>
          <p:cNvPr id="63" name="Text 61"/>
          <p:cNvSpPr/>
          <p:nvPr/>
        </p:nvSpPr>
        <p:spPr>
          <a:xfrm>
            <a:off x="393192" y="262432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signals (C1)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148840" y="2587752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148840" y="261518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3447288" y="2587752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47288" y="261518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4745736" y="2587752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45736" y="261518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044184" y="2587752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44184" y="261518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7342632" y="2587752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342632" y="261518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320040" y="2926080"/>
            <a:ext cx="1792224" cy="301752"/>
          </a:xfrm>
          <a:prstGeom prst="rect">
            <a:avLst/>
          </a:prstGeom>
          <a:solidFill>
            <a:srgbClr val="F5FAFD"/>
          </a:solidFill>
          <a:ln/>
        </p:spPr>
      </p:sp>
      <p:sp>
        <p:nvSpPr>
          <p:cNvPr id="75" name="Text 73"/>
          <p:cNvSpPr/>
          <p:nvPr/>
        </p:nvSpPr>
        <p:spPr>
          <a:xfrm>
            <a:off x="393192" y="296265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control (C2)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148840" y="2926080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48840" y="295351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3447288" y="2926080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447288" y="295351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4745736" y="2926080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45736" y="295351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6044184" y="2926080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44184" y="295351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7342632" y="2926080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42632" y="295351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320040" y="3264408"/>
            <a:ext cx="1792224" cy="301752"/>
          </a:xfrm>
          <a:prstGeom prst="rect">
            <a:avLst/>
          </a:prstGeom>
          <a:solidFill>
            <a:srgbClr val="E8F4FB"/>
          </a:solidFill>
          <a:ln/>
        </p:spPr>
      </p:sp>
      <p:sp>
        <p:nvSpPr>
          <p:cNvPr id="87" name="Text 85"/>
          <p:cNvSpPr/>
          <p:nvPr/>
        </p:nvSpPr>
        <p:spPr>
          <a:xfrm>
            <a:off x="393192" y="330098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 per-flow telemetry (C3)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2148840" y="3264408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148840" y="329184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3447288" y="3264408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447288" y="329184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4745736" y="3264408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45736" y="329184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6044184" y="3264408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044184" y="329184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7342632" y="3264408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342632" y="329184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320040" y="3602736"/>
            <a:ext cx="1792224" cy="301752"/>
          </a:xfrm>
          <a:prstGeom prst="rect">
            <a:avLst/>
          </a:prstGeom>
          <a:solidFill>
            <a:srgbClr val="F5FAFD"/>
          </a:solidFill>
          <a:ln/>
        </p:spPr>
      </p:sp>
      <p:sp>
        <p:nvSpPr>
          <p:cNvPr id="99" name="Text 97"/>
          <p:cNvSpPr/>
          <p:nvPr/>
        </p:nvSpPr>
        <p:spPr>
          <a:xfrm>
            <a:off x="393192" y="3639312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3-timescale architecture (C4)</a:t>
            </a:r>
            <a:endParaRPr lang="en-US" sz="1050" dirty="0"/>
          </a:p>
        </p:txBody>
      </p:sp>
      <p:sp>
        <p:nvSpPr>
          <p:cNvPr id="100" name="Shape 98"/>
          <p:cNvSpPr/>
          <p:nvPr/>
        </p:nvSpPr>
        <p:spPr>
          <a:xfrm>
            <a:off x="2148840" y="3602736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148840" y="363016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3447288" y="3602736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447288" y="363016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4745736" y="3602736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45736" y="363016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6044184" y="3602736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044184" y="363016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08" name="Shape 106"/>
          <p:cNvSpPr/>
          <p:nvPr/>
        </p:nvSpPr>
        <p:spPr>
          <a:xfrm>
            <a:off x="7342632" y="3602736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342632" y="3630168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0" name="Shape 108"/>
          <p:cNvSpPr/>
          <p:nvPr/>
        </p:nvSpPr>
        <p:spPr>
          <a:xfrm>
            <a:off x="320040" y="3941064"/>
            <a:ext cx="1792224" cy="301752"/>
          </a:xfrm>
          <a:prstGeom prst="rect">
            <a:avLst/>
          </a:prstGeom>
          <a:solidFill>
            <a:srgbClr val="E8F4FB"/>
          </a:solidFill>
          <a:ln/>
        </p:spPr>
      </p:sp>
      <p:sp>
        <p:nvSpPr>
          <p:cNvPr id="111" name="Text 109"/>
          <p:cNvSpPr/>
          <p:nvPr/>
        </p:nvSpPr>
        <p:spPr>
          <a:xfrm>
            <a:off x="393192" y="39776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Elephant/mice profiling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>
            <a:off x="2148840" y="3941064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148840" y="396849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3447288" y="3941064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447288" y="396849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4745736" y="3941064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745736" y="396849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8" name="Shape 116"/>
          <p:cNvSpPr/>
          <p:nvPr/>
        </p:nvSpPr>
        <p:spPr>
          <a:xfrm>
            <a:off x="6044184" y="3941064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44184" y="396849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20" name="Shape 118"/>
          <p:cNvSpPr/>
          <p:nvPr/>
        </p:nvSpPr>
        <p:spPr>
          <a:xfrm>
            <a:off x="7342632" y="3941064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342632" y="3968496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2" name="Shape 120"/>
          <p:cNvSpPr/>
          <p:nvPr/>
        </p:nvSpPr>
        <p:spPr>
          <a:xfrm>
            <a:off x="320040" y="4279392"/>
            <a:ext cx="1792224" cy="301752"/>
          </a:xfrm>
          <a:prstGeom prst="rect">
            <a:avLst/>
          </a:prstGeom>
          <a:solidFill>
            <a:srgbClr val="F5FAFD"/>
          </a:solidFill>
          <a:ln/>
        </p:spPr>
      </p:sp>
      <p:sp>
        <p:nvSpPr>
          <p:cNvPr id="123" name="Text 121"/>
          <p:cNvSpPr/>
          <p:nvPr/>
        </p:nvSpPr>
        <p:spPr>
          <a:xfrm>
            <a:off x="393192" y="4315968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kernel modification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>
            <a:off x="2148840" y="4279392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2148840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6" name="Shape 124"/>
          <p:cNvSpPr/>
          <p:nvPr/>
        </p:nvSpPr>
        <p:spPr>
          <a:xfrm>
            <a:off x="3447288" y="4279392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447288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28" name="Shape 126"/>
          <p:cNvSpPr/>
          <p:nvPr/>
        </p:nvSpPr>
        <p:spPr>
          <a:xfrm>
            <a:off x="4745736" y="4279392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745736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0" name="Shape 128"/>
          <p:cNvSpPr/>
          <p:nvPr/>
        </p:nvSpPr>
        <p:spPr>
          <a:xfrm>
            <a:off x="6044184" y="4279392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044184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2" name="Shape 130"/>
          <p:cNvSpPr/>
          <p:nvPr/>
        </p:nvSpPr>
        <p:spPr>
          <a:xfrm>
            <a:off x="7342632" y="4279392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342632" y="430682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4" name="Shape 132"/>
          <p:cNvSpPr/>
          <p:nvPr/>
        </p:nvSpPr>
        <p:spPr>
          <a:xfrm>
            <a:off x="320040" y="4617720"/>
            <a:ext cx="1792224" cy="301752"/>
          </a:xfrm>
          <a:prstGeom prst="rect">
            <a:avLst/>
          </a:prstGeom>
          <a:solidFill>
            <a:srgbClr val="E8F4FB"/>
          </a:solidFill>
          <a:ln/>
        </p:spPr>
      </p:sp>
      <p:sp>
        <p:nvSpPr>
          <p:cNvPr id="135" name="Text 133"/>
          <p:cNvSpPr/>
          <p:nvPr/>
        </p:nvSpPr>
        <p:spPr>
          <a:xfrm>
            <a:off x="393192" y="4654296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Prometheus monitoring</a:t>
            </a:r>
            <a:endParaRPr lang="en-US" sz="1050" dirty="0"/>
          </a:p>
        </p:txBody>
      </p:sp>
      <p:sp>
        <p:nvSpPr>
          <p:cNvPr id="136" name="Shape 134"/>
          <p:cNvSpPr/>
          <p:nvPr/>
        </p:nvSpPr>
        <p:spPr>
          <a:xfrm>
            <a:off x="2148840" y="4617720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148840" y="464515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38" name="Shape 136"/>
          <p:cNvSpPr/>
          <p:nvPr/>
        </p:nvSpPr>
        <p:spPr>
          <a:xfrm>
            <a:off x="3447288" y="4617720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447288" y="464515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40" name="Shape 138"/>
          <p:cNvSpPr/>
          <p:nvPr/>
        </p:nvSpPr>
        <p:spPr>
          <a:xfrm>
            <a:off x="4745736" y="4617720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745736" y="464515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42" name="Shape 140"/>
          <p:cNvSpPr/>
          <p:nvPr/>
        </p:nvSpPr>
        <p:spPr>
          <a:xfrm>
            <a:off x="6044184" y="4617720"/>
            <a:ext cx="1261872" cy="301752"/>
          </a:xfrm>
          <a:prstGeom prst="rect">
            <a:avLst/>
          </a:prstGeom>
          <a:solidFill>
            <a:srgbClr val="E8F4FB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6044184" y="464515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44" name="Shape 142"/>
          <p:cNvSpPr/>
          <p:nvPr/>
        </p:nvSpPr>
        <p:spPr>
          <a:xfrm>
            <a:off x="7342632" y="4617720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7342632" y="4645152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6" name="Shape 144"/>
          <p:cNvSpPr/>
          <p:nvPr/>
        </p:nvSpPr>
        <p:spPr>
          <a:xfrm>
            <a:off x="320040" y="4956048"/>
            <a:ext cx="1792224" cy="301752"/>
          </a:xfrm>
          <a:prstGeom prst="rect">
            <a:avLst/>
          </a:prstGeom>
          <a:solidFill>
            <a:srgbClr val="F5FAFD"/>
          </a:solidFill>
          <a:ln/>
        </p:spPr>
      </p:sp>
      <p:sp>
        <p:nvSpPr>
          <p:cNvPr id="147" name="Text 145"/>
          <p:cNvSpPr/>
          <p:nvPr/>
        </p:nvSpPr>
        <p:spPr>
          <a:xfrm>
            <a:off x="393192" y="4992624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topology tested</a:t>
            </a:r>
            <a:endParaRPr lang="en-US" sz="1050" dirty="0"/>
          </a:p>
        </p:txBody>
      </p:sp>
      <p:sp>
        <p:nvSpPr>
          <p:cNvPr id="148" name="Shape 146"/>
          <p:cNvSpPr/>
          <p:nvPr/>
        </p:nvSpPr>
        <p:spPr>
          <a:xfrm>
            <a:off x="2148840" y="4956048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2148840" y="49834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50" name="Shape 148"/>
          <p:cNvSpPr/>
          <p:nvPr/>
        </p:nvSpPr>
        <p:spPr>
          <a:xfrm>
            <a:off x="3447288" y="4956048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3447288" y="49834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2" name="Shape 150"/>
          <p:cNvSpPr/>
          <p:nvPr/>
        </p:nvSpPr>
        <p:spPr>
          <a:xfrm>
            <a:off x="4745736" y="4956048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745736" y="49834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4" name="Shape 152"/>
          <p:cNvSpPr/>
          <p:nvPr/>
        </p:nvSpPr>
        <p:spPr>
          <a:xfrm>
            <a:off x="6044184" y="4956048"/>
            <a:ext cx="1261872" cy="301752"/>
          </a:xfrm>
          <a:prstGeom prst="rect">
            <a:avLst/>
          </a:prstGeom>
          <a:solidFill>
            <a:srgbClr val="F5FAFD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044184" y="49834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6" name="Shape 154"/>
          <p:cNvSpPr/>
          <p:nvPr/>
        </p:nvSpPr>
        <p:spPr>
          <a:xfrm>
            <a:off x="7342632" y="4956048"/>
            <a:ext cx="1261872" cy="301752"/>
          </a:xfrm>
          <a:prstGeom prst="rect">
            <a:avLst/>
          </a:prstGeom>
          <a:solidFill>
            <a:srgbClr val="C8EDD8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7342632" y="4983480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8" name="Shape 156"/>
          <p:cNvSpPr/>
          <p:nvPr/>
        </p:nvSpPr>
        <p:spPr>
          <a:xfrm>
            <a:off x="320040" y="5340096"/>
            <a:ext cx="1792224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59" name="Text 157"/>
          <p:cNvSpPr/>
          <p:nvPr/>
        </p:nvSpPr>
        <p:spPr>
          <a:xfrm>
            <a:off x="393192" y="5385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(out of 12)</a:t>
            </a:r>
            <a:endParaRPr lang="en-US" sz="1100" dirty="0"/>
          </a:p>
        </p:txBody>
      </p:sp>
      <p:sp>
        <p:nvSpPr>
          <p:cNvPr id="160" name="Shape 158"/>
          <p:cNvSpPr/>
          <p:nvPr/>
        </p:nvSpPr>
        <p:spPr>
          <a:xfrm>
            <a:off x="2148840" y="5340096"/>
            <a:ext cx="1261872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1" name="Text 159"/>
          <p:cNvSpPr/>
          <p:nvPr/>
        </p:nvSpPr>
        <p:spPr>
          <a:xfrm>
            <a:off x="2148840" y="53858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1/12</a:t>
            </a:r>
            <a:endParaRPr lang="en-US" sz="1200" dirty="0"/>
          </a:p>
        </p:txBody>
      </p:sp>
      <p:sp>
        <p:nvSpPr>
          <p:cNvPr id="162" name="Shape 160"/>
          <p:cNvSpPr/>
          <p:nvPr/>
        </p:nvSpPr>
        <p:spPr>
          <a:xfrm>
            <a:off x="3447288" y="5340096"/>
            <a:ext cx="1261872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3" name="Text 161"/>
          <p:cNvSpPr/>
          <p:nvPr/>
        </p:nvSpPr>
        <p:spPr>
          <a:xfrm>
            <a:off x="3447288" y="53858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1200" dirty="0"/>
          </a:p>
        </p:txBody>
      </p:sp>
      <p:sp>
        <p:nvSpPr>
          <p:cNvPr id="164" name="Shape 162"/>
          <p:cNvSpPr/>
          <p:nvPr/>
        </p:nvSpPr>
        <p:spPr>
          <a:xfrm>
            <a:off x="4745736" y="5340096"/>
            <a:ext cx="1261872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5" name="Text 163"/>
          <p:cNvSpPr/>
          <p:nvPr/>
        </p:nvSpPr>
        <p:spPr>
          <a:xfrm>
            <a:off x="4745736" y="53858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3/12</a:t>
            </a:r>
            <a:endParaRPr lang="en-US" sz="1200" dirty="0"/>
          </a:p>
        </p:txBody>
      </p:sp>
      <p:sp>
        <p:nvSpPr>
          <p:cNvPr id="166" name="Shape 164"/>
          <p:cNvSpPr/>
          <p:nvPr/>
        </p:nvSpPr>
        <p:spPr>
          <a:xfrm>
            <a:off x="6044184" y="5340096"/>
            <a:ext cx="1261872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7" name="Text 165"/>
          <p:cNvSpPr/>
          <p:nvPr/>
        </p:nvSpPr>
        <p:spPr>
          <a:xfrm>
            <a:off x="6044184" y="53858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5/12</a:t>
            </a:r>
            <a:endParaRPr lang="en-US" sz="1200" dirty="0"/>
          </a:p>
        </p:txBody>
      </p:sp>
      <p:sp>
        <p:nvSpPr>
          <p:cNvPr id="168" name="Shape 166"/>
          <p:cNvSpPr/>
          <p:nvPr/>
        </p:nvSpPr>
        <p:spPr>
          <a:xfrm>
            <a:off x="7342632" y="5340096"/>
            <a:ext cx="1261872" cy="32004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69" name="Text 167"/>
          <p:cNvSpPr/>
          <p:nvPr/>
        </p:nvSpPr>
        <p:spPr>
          <a:xfrm>
            <a:off x="7342632" y="5385816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1200" dirty="0"/>
          </a:p>
        </p:txBody>
      </p:sp>
      <p:sp>
        <p:nvSpPr>
          <p:cNvPr id="170" name="Text 168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SPEAK: ACAPE scores 12/12. Every other system has gaps. This single slide is the clearest argument for why ACAPE is novel.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1: ACAPE vs Static fq_codel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04088"/>
            <a:ext cx="850392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E63946">
              <a:alpha val="15000"/>
            </a:srgbClr>
          </a:solidFill>
          <a:ln w="1651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fq_codel — No Algorithm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16152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fixed at boot — never change.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target=5ms  interval=100ms  limit=1024  quantum=1514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runtime controller. No measurement loop.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CoDel drops internally when sojourn&gt;5ms.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builds to 400+ packets — bufferbloat.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82296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52B788">
              <a:alpha val="15000"/>
            </a:srgbClr>
          </a:solidFill>
          <a:ln w="1651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— What Changes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12344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target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06440" y="123444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5ms → 1.03ms (15 AIMD steps, β=0.9)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9160" y="16002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interval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16002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10×target, enforced each step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9659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limit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9659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→ 921 → ... (×0.9 each HEAVY)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09160" y="23317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Calibri Mono" pitchFamily="34" charset="0"/>
                <a:ea typeface="Calibri Mono" pitchFamily="34" charset="-122"/>
                <a:cs typeface="Calibri Mono" pitchFamily="34" charset="-120"/>
              </a:rPr>
              <a:t>quantum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331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1514 → 300B when MICE detected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346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0D2035"/>
          </a:solidFill>
          <a:ln w="19050">
            <a:solidFill>
              <a:srgbClr val="E63946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411480" y="33604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comparison_key_result.png — BACKLOG panel]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283464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0D2035"/>
          </a:solidFill>
          <a:ln w="19050">
            <a:solidFill>
              <a:srgbClr val="52B788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4709160" y="33604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comparison_key_result.png — TARGET panel]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34340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52B788">
              <a:alpha val="12000"/>
            </a:srgbClr>
          </a:solidFill>
          <a:ln w="1651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wins vs Static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645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lower backlog · 12× faster stabilise · throughput highest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17720" y="4343400"/>
            <a:ext cx="4297680" cy="640080"/>
          </a:xfrm>
          <a:prstGeom prst="roundRect">
            <a:avLst>
              <a:gd name="adj" fmla="val 14286"/>
            </a:avLst>
          </a:prstGeom>
          <a:solidFill>
            <a:srgbClr val="E63946">
              <a:alpha val="12000"/>
            </a:srgbClr>
          </a:solidFill>
          <a:ln w="16510">
            <a:solidFill>
              <a:srgbClr val="E639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389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loses vs Static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4645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drop rate · Higher sojourn · More complex system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SPEAK: Static is the status quo on every Linux system. ACAPE beats it on every adaptive metric. The only 'advantage' static has is simplicity.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2: ACAPE vs Adaptive RED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04088"/>
            <a:ext cx="8503920" cy="457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0096C7">
              <a:alpha val="15000"/>
            </a:srgbClr>
          </a:solidFill>
          <a:ln w="16510">
            <a:solidFill>
              <a:srgbClr val="0096C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 — Base Paper Algorithm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Floyd, Gummadi, Shenker 2001 — ICSI Technical Report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max_p every 500ms using AIMD (β=0.9)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max_p maps to fq_codel target parameter only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params FIXED: interval, limit, quantum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 direction — only current vs threshold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per-flow awareness — no eBPF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5603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Stabilises in ~70 seconds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backlog: 412 packets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82296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52B788">
              <a:alpha val="15000"/>
            </a:srgbClr>
          </a:solidFill>
          <a:ln w="1651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— What We Add on Top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35331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0096C7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371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715000" y="13716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AIMD structure β=0.9 (same as ARED)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58191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0096C7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600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15000" y="16002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500ms adaptation philosophy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81051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8288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C1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15000" y="18288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signals — direction, not just level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03911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0574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15000" y="20574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Predictive: acts before congestion peaks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26771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2860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15000" y="2286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eBPF: elephant/mice quantum selection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49631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514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C4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00" y="25146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Three-timescale: eBPF+gradient+AIMD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724912"/>
            <a:ext cx="91440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27432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715000" y="27432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ALL 4 params, not just target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28346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0D203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11480" y="33604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comparison_all_params.png — DROP RATE panel]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283464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0D2035"/>
          </a:solidFill>
          <a:ln w="19050">
            <a:solidFill>
              <a:srgbClr val="52B788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709160" y="33604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comparison_all_params.png — TARGET panel]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34340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52B788">
              <a:alpha val="12000"/>
            </a:srgbClr>
          </a:solidFill>
          <a:ln w="16510">
            <a:solidFill>
              <a:srgbClr val="52B7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wins vs ARED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4645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24% lower backlog · 12× faster stabilise · 4 params tuned vs 1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17720" y="4343400"/>
            <a:ext cx="4297680" cy="640080"/>
          </a:xfrm>
          <a:prstGeom prst="roundRect">
            <a:avLst>
              <a:gd name="adj" fmla="val 14286"/>
            </a:avLst>
          </a:prstGeom>
          <a:solidFill>
            <a:srgbClr val="E63946">
              <a:alpha val="12000"/>
            </a:srgbClr>
          </a:solidFill>
          <a:ln w="16510">
            <a:solidFill>
              <a:srgbClr val="E639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389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loses vs ARED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09160" y="4645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sojourn time · Higher complexity · Harder to deploy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SPEAK: ACAPE IS Adaptive RED — extended. Same AIMD heart, but with gradient direction, prediction, and eBPF. We cite Floyd 2001 as our base paper and show we beat it.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3: ACAPE vs PIE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04088"/>
            <a:ext cx="8503920" cy="4572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FB703">
              <a:alpha val="15000"/>
            </a:srgbClr>
          </a:solidFill>
          <a:ln w="16510">
            <a:solidFill>
              <a:srgbClr val="FFB70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— Proportional Integral Enhanced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8033 — Control-theoretic approach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controller: p += α(delay-target) + β(Δdelay)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α=0.125  β=1.25  — classical control gains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drop probability p every 30ms (very fast)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per-flow scheduling — single queue, no DRR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target=15ms fixed  limit=1000p fixed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5603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very low backlog ~5-8 packets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very low sojourn ~6ms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82296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52B788">
              <a:alpha val="15000"/>
            </a:srgbClr>
          </a:solidFill>
          <a:ln w="1651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vs PIE — Key Differences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35331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371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has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06440" y="1371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per-flow fairness (no DRR)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58191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600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has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806440" y="1600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 direction detection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81051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828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has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806440" y="18288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target and limit — never adapts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03911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0574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has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06440" y="20574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 per-flow isolation via fq_codel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26771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2860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has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06440" y="22860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Gradient: knows if WORSENING/RECOVERING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49631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5146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has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06440" y="2514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adapts — 300B for mice flows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724912"/>
            <a:ext cx="100584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27432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has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806440" y="27432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throughput despite higher sojourn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28346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0D2035"/>
          </a:solidFill>
          <a:ln w="19050">
            <a:solidFill>
              <a:srgbClr val="FFB70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11480" y="33604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comparison_summary_bars.png — BACKLOG bars]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283464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0D2035"/>
          </a:solidFill>
          <a:ln w="19050">
            <a:solidFill>
              <a:srgbClr val="52B788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709160" y="33604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comparison_summary_bars.png — SOJOURN bars]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34340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52B788">
              <a:alpha val="12000"/>
            </a:srgbClr>
          </a:solidFill>
          <a:ln w="16510">
            <a:solidFill>
              <a:srgbClr val="52B7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wins vs PIE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4645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throughput · Per-flow fairness · Gradient direction · 4 params tuned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17720" y="4343400"/>
            <a:ext cx="4297680" cy="640080"/>
          </a:xfrm>
          <a:prstGeom prst="roundRect">
            <a:avLst>
              <a:gd name="adj" fmla="val 14286"/>
            </a:avLst>
          </a:prstGeom>
          <a:solidFill>
            <a:srgbClr val="E63946">
              <a:alpha val="12000"/>
            </a:srgbClr>
          </a:solidFill>
          <a:ln w="16510">
            <a:solidFill>
              <a:srgbClr val="E639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389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loses vs PIE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09160" y="4645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PIE: lower backlog (~6p) · much lower sojourn (~6ms) · faster response (30ms vs 500ms)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SPEAK: PIE achieves lower latency. That is a real advantage. Our response: ACAPE optimises throughput-first. PIE's 30ms update risks instability under burst loads.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4: ACAPE vs CAKE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04088"/>
            <a:ext cx="8503920" cy="45720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22960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C77DFF">
              <a:alpha val="15000"/>
            </a:srgbClr>
          </a:solidFill>
          <a:ln w="16510">
            <a:solidFill>
              <a:srgbClr val="C77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 — Controlled/Advanced Kitchen Engine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bufferbloat.net — modern fq_codel successor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Combines: AQM + shaping + fairness in one qdisc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shaping: cake bandwidth 5mbit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DiffServ classification: diffserv4 flag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isolation: flow, host, and tin fairness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wash: removes DSCP marks (prevents gaming)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5603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flowblind: hash-based per-flow isolation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lowest backlog ~5p, sojourn ~17ms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17720" y="82296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52B788">
              <a:alpha val="15000"/>
            </a:srgbClr>
          </a:solidFill>
          <a:ln w="1651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vs CAKE — Key Differences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1353312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E63946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3716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69280" y="13716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bandwidth param at setup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1581912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E63946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16002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669280" y="16002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— no runtime parameter adaptation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810512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E63946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18288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9280" y="18288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gradient signal — reactive only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039112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E63946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205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69280" y="20574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eBPF telemetry — no per-flow ML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267712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22860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69280" y="22860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adaptation — no config needed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496312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5146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669280" y="25146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— detects direction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724912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52B788"/>
          </a:solidFill>
          <a:ln/>
        </p:spPr>
      </p:sp>
      <p:sp>
        <p:nvSpPr>
          <p:cNvPr id="35" name="Text 33"/>
          <p:cNvSpPr/>
          <p:nvPr/>
        </p:nvSpPr>
        <p:spPr>
          <a:xfrm>
            <a:off x="4709160" y="27432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0" y="274320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eBPF: live per-flow classification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20040" y="283464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0D2035"/>
          </a:solidFill>
          <a:ln w="19050">
            <a:solidFill>
              <a:srgbClr val="C77DFF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11480" y="33604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comparison_all_params.png — BACKLOG time panel]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17720" y="2834640"/>
            <a:ext cx="4297680" cy="1417320"/>
          </a:xfrm>
          <a:prstGeom prst="roundRect">
            <a:avLst>
              <a:gd name="adj" fmla="val 6452"/>
            </a:avLst>
          </a:prstGeom>
          <a:solidFill>
            <a:srgbClr val="0D2035"/>
          </a:solidFill>
          <a:ln w="19050">
            <a:solidFill>
              <a:srgbClr val="52B788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4709160" y="33604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comparison_feature_matrix.png]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343400"/>
            <a:ext cx="4114800" cy="640080"/>
          </a:xfrm>
          <a:prstGeom prst="roundRect">
            <a:avLst>
              <a:gd name="adj" fmla="val 14286"/>
            </a:avLst>
          </a:prstGeom>
          <a:solidFill>
            <a:srgbClr val="52B788">
              <a:alpha val="12000"/>
            </a:srgbClr>
          </a:solidFill>
          <a:ln w="16510">
            <a:solidFill>
              <a:srgbClr val="52B7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389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wins vs CAKE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46451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adaptive · No prior bandwidth config · Gradient direction · eBPF per-flow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17720" y="4343400"/>
            <a:ext cx="4297680" cy="640080"/>
          </a:xfrm>
          <a:prstGeom prst="roundRect">
            <a:avLst>
              <a:gd name="adj" fmla="val 14286"/>
            </a:avLst>
          </a:prstGeom>
          <a:solidFill>
            <a:srgbClr val="E63946">
              <a:alpha val="12000"/>
            </a:srgbClr>
          </a:solidFill>
          <a:ln w="16510">
            <a:solidFill>
              <a:srgbClr val="E6394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3891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ACAPE loses vs CAKE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709160" y="464515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CAKE: lower backlog · lower sojourn · better inbuilt DiffServ · mature production tool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SPEAK: CAKE is the strongest baseline. Acknowledge it. ACAPE's advantage: CAKE needs bandwidth pre-configured. ACAPE adapts automatically — no human config needed.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Evaluation: Where ACAPE Falls Short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04088"/>
            <a:ext cx="8503920" cy="45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41248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E63946">
              <a:alpha val="12000"/>
            </a:srgbClr>
          </a:solidFill>
          <a:ln w="1651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869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Sojourn Time — Higher than PIE and CAKE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ACAPE sojourn ~63ms vs PIE ~6ms vs CAKE ~17ms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ACAPE allows controlled queue depth to maintain throughput. Aggressive dropping (PIE/CAKE) reduces sojourn but risks underutilising the link.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865376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E63946">
              <a:alpha val="12000"/>
            </a:srgbClr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1109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This is a deliberate tradeoff — throughput-first design. For latency-critical apps (VoIP, gaming), PIE/CAKE would be better choices.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FFB703">
              <a:alpha val="12000"/>
            </a:srgbClr>
          </a:solidFill>
          <a:ln w="1651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8803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Gradient Signal — Currently Flat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2004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∇RTT_proxy = 0 throughout. eBPF flow_map reads return empty across namespace boundary.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456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bpftool cross-namespace map export issue. The eBPF program IS running (prog_id confirmed, jited, quantum=300B fires) but userspace can't read per-flow RTT data.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858768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FFB703">
              <a:alpha val="12000"/>
            </a:srgbClr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0448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Fix identified: pin bpf_link with explicit namespace fd. C1 still functions with ∇drop_rate and ∇backlog — RTT is future work.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841248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9B5DE5">
              <a:alpha val="12000"/>
            </a:srgbClr>
          </a:solidFill>
          <a:ln w="16510">
            <a:solidFill>
              <a:srgbClr val="9B5D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88696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Jain Fairness — Slightly Reduced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120700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ACAPE Jain index slightly below 0.9997 baseline under MICE profile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4630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When quantum=300B (MICE), DRR scheduling weights shift. Short flows complete faster, long flows get fewer turns — strict per-flow equality breaks.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1865376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9B5DE5">
              <a:alpha val="12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911096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This is intentional: ACAPE prioritises latency for short flows (C3 contribution). Absolute fairness is not the design goal.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834640"/>
            <a:ext cx="4160520" cy="1920240"/>
          </a:xfrm>
          <a:prstGeom prst="roundRect">
            <a:avLst>
              <a:gd name="adj" fmla="val 4762"/>
            </a:avLst>
          </a:prstGeom>
          <a:solidFill>
            <a:srgbClr val="0A1628">
              <a:alpha val="12000"/>
            </a:srgbClr>
          </a:solidFill>
          <a:ln w="1651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8803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— Harder to Deploy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3440" y="320040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Requires eBPF compilation, clang, bpftool, Python controller, Prometheus, Grafana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3456432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Each system component adds a failure point. Static fq_codel works with one tc command. ACAPE requires ~8 components running simultaneously.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858768"/>
            <a:ext cx="3977640" cy="658368"/>
          </a:xfrm>
          <a:prstGeom prst="roundRect">
            <a:avLst>
              <a:gd name="adj" fmla="val 9722"/>
            </a:avLst>
          </a:prstGeom>
          <a:solidFill>
            <a:srgbClr val="0A1628">
              <a:alpha val="12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90448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DEFENCE: This is a research prototype. Production hardening (packaging as a single daemon) is future work. The academic contribution is the architecture.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SPEAK: Present these proactively — don't wait to be asked. Say 'We are aware of these limitations.' It shows maturity and pre-empts reviewer questions.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Comparison Plots — From Live Experiment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704088"/>
            <a:ext cx="8503920" cy="45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841248"/>
            <a:ext cx="2834640" cy="1874520"/>
          </a:xfrm>
          <a:prstGeom prst="roundRect">
            <a:avLst>
              <a:gd name="adj" fmla="val 4878"/>
            </a:avLst>
          </a:prstGeom>
          <a:solidFill>
            <a:srgbClr val="0D203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411480" y="15956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comparison_key_result.png]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+ Target over time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64408" y="841248"/>
            <a:ext cx="2834640" cy="1874520"/>
          </a:xfrm>
          <a:prstGeom prst="roundRect">
            <a:avLst>
              <a:gd name="adj" fmla="val 4878"/>
            </a:avLst>
          </a:prstGeom>
          <a:solidFill>
            <a:srgbClr val="0D203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355848" y="15956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comparison_summary_bars.png]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55848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metrics — all 6 bars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08776" y="841248"/>
            <a:ext cx="2834640" cy="1874520"/>
          </a:xfrm>
          <a:prstGeom prst="roundRect">
            <a:avLst>
              <a:gd name="adj" fmla="val 4878"/>
            </a:avLst>
          </a:prstGeom>
          <a:solidFill>
            <a:srgbClr val="0D203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6300216" y="15956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comparison_latency_cdf.png]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0216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CDF curves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3035808"/>
            <a:ext cx="2834640" cy="1874520"/>
          </a:xfrm>
          <a:prstGeom prst="roundRect">
            <a:avLst>
              <a:gd name="adj" fmla="val 4878"/>
            </a:avLst>
          </a:prstGeom>
          <a:solidFill>
            <a:srgbClr val="0D203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11480" y="37901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comparison_all_params.png]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937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9 parameters — time series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3035808"/>
            <a:ext cx="2834640" cy="1874520"/>
          </a:xfrm>
          <a:prstGeom prst="roundRect">
            <a:avLst>
              <a:gd name="adj" fmla="val 4878"/>
            </a:avLst>
          </a:prstGeom>
          <a:solidFill>
            <a:srgbClr val="0D203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355848" y="37901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comparison_feature_matrix.png]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55848" y="4937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✓/✗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08776" y="3035808"/>
            <a:ext cx="2834640" cy="1874520"/>
          </a:xfrm>
          <a:prstGeom prst="roundRect">
            <a:avLst>
              <a:gd name="adj" fmla="val 4878"/>
            </a:avLst>
          </a:prstGeom>
          <a:solidFill>
            <a:srgbClr val="0D203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300216" y="379018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PLOT: comparison_droprate.png]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0216" y="4937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rate comparison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4892040"/>
            <a:ext cx="8503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09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SPEAK: After master_run.sh finishes: python3 scripts/plot_all_systems.py --logdir logs/ --plotdir plots/ — then drag each PNG into these boxes.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2026-04-09T11:35:56Z</dcterms:created>
  <dcterms:modified xsi:type="dcterms:W3CDTF">2026-04-09T11:35:56Z</dcterms:modified>
</cp:coreProperties>
</file>