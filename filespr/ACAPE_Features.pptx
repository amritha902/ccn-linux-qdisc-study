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Feature-by-Feature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0040" y="16916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  ·  Adaptive RED  ·  PIE  ·  CAKE  ·  ACAPE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21762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per feature — 12 features total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606040"/>
            <a:ext cx="8503920" cy="36576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74320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761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84832" y="274320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0096C7"/>
          </a:solidFill>
          <a:ln/>
        </p:spPr>
      </p:sp>
      <p:sp>
        <p:nvSpPr>
          <p:cNvPr id="10" name="Text 8"/>
          <p:cNvSpPr/>
          <p:nvPr/>
        </p:nvSpPr>
        <p:spPr>
          <a:xfrm>
            <a:off x="2084832" y="2761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9624" y="274320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3849624" y="2761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14416" y="274320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C77DFF"/>
          </a:solidFill>
          <a:ln/>
        </p:spPr>
      </p:sp>
      <p:sp>
        <p:nvSpPr>
          <p:cNvPr id="14" name="Text 12"/>
          <p:cNvSpPr/>
          <p:nvPr/>
        </p:nvSpPr>
        <p:spPr>
          <a:xfrm>
            <a:off x="5614416" y="2761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79208" y="274320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79208" y="2761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32461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Chennai 2026  ·  Amritha S  ·  Yugeshwaran P  ·  Deepti Annuncia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Introduce: We will now go through each feature one by one, showing which system has it and what it actually does.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of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fq_codel target parameter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00B4D8">
              <a:alpha val="12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parameter defines the maximum sojourn time (packet wait) before CoDel begins dropping. Lower target = more aggressive dropping = smaller queue. Static systems fix this at 5ms forever. Adaptive systems vary it based on congestion.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69164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E63946">
              <a:alpha val="8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at 5ms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startup.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changes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builds to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packets.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Bufferbloat.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84832" y="1600200"/>
            <a:ext cx="169164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2084832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76272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84832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0096C7">
              <a:alpha val="15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via max_p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 → target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70s to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of 4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tuned.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9624" y="1600200"/>
            <a:ext cx="1691640" cy="34747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3849624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41064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23" name="Text 21"/>
          <p:cNvSpPr/>
          <p:nvPr/>
        </p:nvSpPr>
        <p:spPr>
          <a:xfrm>
            <a:off x="3941064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9624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FFB703">
              <a:alpha val="15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target=15ms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 our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config.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adjusts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prob p,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target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Statically set.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14416" y="1600200"/>
            <a:ext cx="1691640" cy="347472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7" name="Text 25"/>
          <p:cNvSpPr/>
          <p:nvPr/>
        </p:nvSpPr>
        <p:spPr>
          <a:xfrm>
            <a:off x="5614416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05856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29" name="Text 27"/>
          <p:cNvSpPr/>
          <p:nvPr/>
        </p:nvSpPr>
        <p:spPr>
          <a:xfrm>
            <a:off x="5705856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14416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C77DFF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 has internal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shaping.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concept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internally.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params tuned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preset —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runtime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79208" y="1600200"/>
            <a:ext cx="169164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3" name="Text 31"/>
          <p:cNvSpPr/>
          <p:nvPr/>
        </p:nvSpPr>
        <p:spPr>
          <a:xfrm>
            <a:off x="7379208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70648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35" name="Text 33"/>
          <p:cNvSpPr/>
          <p:nvPr/>
        </p:nvSpPr>
        <p:spPr>
          <a:xfrm>
            <a:off x="7470648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79208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52B788">
              <a:alpha val="15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5ms → 1.03ms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AIMD β=0.9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adjustments.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HEAVY: ×0.9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LIGHT: +0.5ms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+0.2ms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[PREDICTIVE]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before peak.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736592"/>
            <a:ext cx="8595360" cy="384048"/>
          </a:xfrm>
          <a:prstGeom prst="roundRect">
            <a:avLst>
              <a:gd name="adj" fmla="val 28571"/>
            </a:avLst>
          </a:prstGeom>
          <a:solidFill>
            <a:srgbClr val="00B4D8">
              <a:alpha val="1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Lower target means CoDel signals TCP earlier, keeping queue depth small. ACAPE is the only system that drives target from 5ms to 1ms dynamically under heavy load.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Show the AIMD staircase graph here. 5ms → 1.03ms is your strongest visual proof. Static stays flat. Only ACAPE descends.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96C7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of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fq_codel interval parameter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0096C7">
              <a:alpha val="12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interval is the CoDel observation window. CoDel only drops if sojourn exceeds target continuously for at least interval milliseconds. CoDel requires interval ≥ 10×target. If target changes, interval MUST also change or CoDel behaviour becomes inconsistent.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69164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E63946">
              <a:alpha val="8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at 100ms.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changes.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target=5ms: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= 10×5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if target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without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interval, CoDel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misbehave.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84832" y="1600200"/>
            <a:ext cx="169164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2084832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76272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84832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0096C7">
              <a:alpha val="8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stays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100ms.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target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via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 mapping.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breaks the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10×target rule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target &lt; 10ms.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9624" y="1600200"/>
            <a:ext cx="1691640" cy="34747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3849624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41064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3941064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9624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FFB703">
              <a:alpha val="8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does not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interval.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AQM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uses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tupdate=30ms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its PI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cycle.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14416" y="1600200"/>
            <a:ext cx="1691640" cy="347472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7" name="Text 25"/>
          <p:cNvSpPr/>
          <p:nvPr/>
        </p:nvSpPr>
        <p:spPr>
          <a:xfrm>
            <a:off x="5614416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05856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29" name="Text 27"/>
          <p:cNvSpPr/>
          <p:nvPr/>
        </p:nvSpPr>
        <p:spPr>
          <a:xfrm>
            <a:off x="5705856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14416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C77DFF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 manages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internal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parameters.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directly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as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fq_codel interval.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79208" y="1600200"/>
            <a:ext cx="169164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3" name="Text 31"/>
          <p:cNvSpPr/>
          <p:nvPr/>
        </p:nvSpPr>
        <p:spPr>
          <a:xfrm>
            <a:off x="7379208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70648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35" name="Text 33"/>
          <p:cNvSpPr/>
          <p:nvPr/>
        </p:nvSpPr>
        <p:spPr>
          <a:xfrm>
            <a:off x="7470648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79208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52B788">
              <a:alpha val="15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=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max(10×target,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50ms)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after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AIMD step.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5ms→1ms: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goes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100ms→10ms.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CoDel stays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theoretically valid.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736592"/>
            <a:ext cx="8595360" cy="384048"/>
          </a:xfrm>
          <a:prstGeom prst="roundRect">
            <a:avLst>
              <a:gd name="adj" fmla="val 28571"/>
            </a:avLst>
          </a:prstGeom>
          <a:solidFill>
            <a:srgbClr val="0096C7">
              <a:alpha val="10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Without tuning interval alongside target, CoDel's behaviour becomes undefined. ACAPE is the only system that maintains the CoDel constraint interval≥10×target at all times.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This is a subtle but important point. ARED only tunes target — it never touches interval. This means ARED violates the CoDel spec when target drops below 10ms.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B70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of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fq_codel limit parameter (queue depth ceiling)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FFB703">
              <a:alpha val="12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 parameter is the hard ceiling on queue depth in packets. Packets beyond limit are tail-dropped immediately, before CoDel even evaluates them. Under heavy congestion, ACAPE reduces limit alongside target — a two-level defence against bufferbloat.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69164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E63946">
              <a:alpha val="8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at 1024p.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changes.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20-flow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queue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to 400+p.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never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CoDel's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sojourn check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84832" y="1600200"/>
            <a:ext cx="169164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2084832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76272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84832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0096C7">
              <a:alpha val="8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stays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1024p.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designed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RED not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fq_codel.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max_p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(→target) 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9624" y="1600200"/>
            <a:ext cx="1691640" cy="34747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3849624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41064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3941064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9624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FFB703">
              <a:alpha val="8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uses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limit=1000p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PIE's drop prob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handles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touching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ceiling.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14416" y="1600200"/>
            <a:ext cx="1691640" cy="347472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7" name="Text 25"/>
          <p:cNvSpPr/>
          <p:nvPr/>
        </p:nvSpPr>
        <p:spPr>
          <a:xfrm>
            <a:off x="5614416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05856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29" name="Text 27"/>
          <p:cNvSpPr/>
          <p:nvPr/>
        </p:nvSpPr>
        <p:spPr>
          <a:xfrm>
            <a:off x="5705856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14416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C77DFF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 manages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 via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shaping.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exposed as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fq_codel limit.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but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user-visible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runtime.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79208" y="1600200"/>
            <a:ext cx="169164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3" name="Text 31"/>
          <p:cNvSpPr/>
          <p:nvPr/>
        </p:nvSpPr>
        <p:spPr>
          <a:xfrm>
            <a:off x="7379208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70648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35" name="Text 33"/>
          <p:cNvSpPr/>
          <p:nvPr/>
        </p:nvSpPr>
        <p:spPr>
          <a:xfrm>
            <a:off x="7470648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79208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52B788">
              <a:alpha val="15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regime: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× 0.9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→ 921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829 → ...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defence: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CoDel drops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by sojourn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Limit drops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by ceiling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tighten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congestion.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736592"/>
            <a:ext cx="8595360" cy="384048"/>
          </a:xfrm>
          <a:prstGeom prst="roundRect">
            <a:avLst>
              <a:gd name="adj" fmla="val 28571"/>
            </a:avLst>
          </a:prstGeom>
          <a:solidFill>
            <a:srgbClr val="FFB703">
              <a:alpha val="10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Reducing limit under heavy congestion provides a second defence against queue overflow. Even if CoDel is slow to signal, the ceiling shrinks. ACAPE uses both mechanisms simultaneously.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Show the fq_codel Parameters panel from Grafana — you can see limit decreasing step by step alongside target. Two staircases descending together.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9B5DE5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 of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fq_codel quantum parameter (DRR scheduling)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9B5DE5">
              <a:alpha val="12000"/>
            </a:srgbClr>
          </a:solidFill>
          <a:ln w="19050">
            <a:solidFill>
              <a:srgbClr val="9B5D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defines how many bytes each flow may transmit per Deficit Round Robin scheduling turn. Default 1514 bytes = one Ethernet frame per turn. Smaller quantum = shorter turns = mice flows (DNS, HTTP/2) get served faster. Larger quantum = better for elephant flows (FTP, video).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69164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E63946">
              <a:alpha val="8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quantum=1514B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ETH frame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DRR turn.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Mice flows wait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elephants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full turns.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flow-type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84832" y="1600200"/>
            <a:ext cx="169164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2084832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76272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84832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0096C7">
              <a:alpha val="8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quantum=1514B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DRR-default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adaptive.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9624" y="1600200"/>
            <a:ext cx="1691640" cy="34747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3849624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41064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3941064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9624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FFB703">
              <a:alpha val="8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has no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DRR scheduler.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FIFO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concept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apply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PIE.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flows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queue.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14416" y="1600200"/>
            <a:ext cx="1691640" cy="347472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7" name="Text 25"/>
          <p:cNvSpPr/>
          <p:nvPr/>
        </p:nvSpPr>
        <p:spPr>
          <a:xfrm>
            <a:off x="5614416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05856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29" name="Text 27"/>
          <p:cNvSpPr/>
          <p:nvPr/>
        </p:nvSpPr>
        <p:spPr>
          <a:xfrm>
            <a:off x="5705856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14416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C77DFF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 has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per-flow DRR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triple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internally.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user-tuned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runtime —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at start.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79208" y="1600200"/>
            <a:ext cx="169164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3" name="Text 31"/>
          <p:cNvSpPr/>
          <p:nvPr/>
        </p:nvSpPr>
        <p:spPr>
          <a:xfrm>
            <a:off x="7379208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70648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35" name="Text 33"/>
          <p:cNvSpPr/>
          <p:nvPr/>
        </p:nvSpPr>
        <p:spPr>
          <a:xfrm>
            <a:off x="7470648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79208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52B788">
              <a:alpha val="15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eBPF-driven: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elephant_ratio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0.2 → MICE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quantum=300B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0.2–0.6 → MIXED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quantum=1514B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0.6 → ELEPHANT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quantum=3000B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live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flows change.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736592"/>
            <a:ext cx="8595360" cy="384048"/>
          </a:xfrm>
          <a:prstGeom prst="roundRect">
            <a:avLst>
              <a:gd name="adj" fmla="val 28571"/>
            </a:avLst>
          </a:prstGeom>
          <a:solidFill>
            <a:srgbClr val="9B5DE5">
              <a:alpha val="10000"/>
            </a:srgbClr>
          </a:solidFill>
          <a:ln w="19050">
            <a:solidFill>
              <a:srgbClr val="9B5D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This is ACAPE's unique C3 contribution. No other system adapts the DRR quantum from live per-flow eBPF data. At quantum=300B, a DNS query finishes in 1 DRR turn instead of waiting behind a 1500B elephant packet.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This is where you say: CAKE has good per-flow scheduling but it's static. ACAPE changes quantum in real-time based on what traffic is actually flowing right now.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2B78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 of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congestion signals — C1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52B788">
              <a:alpha val="12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AQM systems ask: HOW congested is it NOW? ACAPE additionally asks: WHERE IS IT GOING? By computing the slope (gradient) of drop_rate, backlog, and RTT over the last 10 measurements, ACAPE detects whether congestion is worsening, stable, or recovering.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69164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E63946">
              <a:alpha val="8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gradient.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current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vs threshold.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decision: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or below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5ms target.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84832" y="1600200"/>
            <a:ext cx="169164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2084832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76272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84832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0096C7">
              <a:alpha val="8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gradient.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avg_q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target range.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philosophy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Static: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to current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only.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trend.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9624" y="1600200"/>
            <a:ext cx="1691640" cy="34747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3849624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41064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3941064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9624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FFB703">
              <a:alpha val="8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controller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current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previous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only.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Δdelay gives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derivative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trend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 samples.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14416" y="1600200"/>
            <a:ext cx="1691640" cy="347472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7" name="Text 25"/>
          <p:cNvSpPr/>
          <p:nvPr/>
        </p:nvSpPr>
        <p:spPr>
          <a:xfrm>
            <a:off x="5614416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05856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29" name="Text 27"/>
          <p:cNvSpPr/>
          <p:nvPr/>
        </p:nvSpPr>
        <p:spPr>
          <a:xfrm>
            <a:off x="5705856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14416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C77DFF">
              <a:alpha val="8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gradient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exposed.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 reacts to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queue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internally.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multi-sample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79208" y="1600200"/>
            <a:ext cx="169164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3" name="Text 31"/>
          <p:cNvSpPr/>
          <p:nvPr/>
        </p:nvSpPr>
        <p:spPr>
          <a:xfrm>
            <a:off x="7379208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70648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35" name="Text 33"/>
          <p:cNvSpPr/>
          <p:nvPr/>
        </p:nvSpPr>
        <p:spPr>
          <a:xfrm>
            <a:off x="7470648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79208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52B788">
              <a:alpha val="15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G(t) = 0.6·∇dr/30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+ 0.4·∇bl/300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 = slope over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W=10 samples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seconds)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G&gt;0.5 → WORSENING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G&lt;-0.5 → RECOVERING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→ STABLE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signals fused: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drop_rate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proxy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736592"/>
            <a:ext cx="8595360" cy="384048"/>
          </a:xfrm>
          <a:prstGeom prst="roundRect">
            <a:avLst>
              <a:gd name="adj" fmla="val 28571"/>
            </a:avLst>
          </a:prstGeom>
          <a:solidFill>
            <a:srgbClr val="52B788">
              <a:alpha val="10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Gradient detection allows ACAPE to act on the DIRECTION of congestion, not just its current level. This is why ACAPE stabilises 12× faster than ARED — it detects worsening before the queue peaks.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Show the Gradient Signals panel from Grafana. Point to the flat near-zero region (stable) and the spike when traffic ends. The system detected RECOVERING immediately.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B70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6 of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6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congestion control — C2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FFB703">
              <a:alpha val="12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systems wait for congestion to arrive, then respond. ACAPE's [PREDICTIVE] mode detects a WORSENING gradient and acts on the PREDICTED next regime — applying a lighter correction before conditions deteriorate. This prevents overshoot.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69164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E63946">
              <a:alpha val="8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reactive.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current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only.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queue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before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anticipation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future state.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84832" y="1600200"/>
            <a:ext cx="169164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2084832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76272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84832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0096C7">
              <a:alpha val="8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reactive.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Static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every 500ms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only 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avg_q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target.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9624" y="1600200"/>
            <a:ext cx="1691640" cy="34747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3849624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41064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3941064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9624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FFB703">
              <a:alpha val="8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controller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derivative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(Δdelay).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rate-of-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awareness.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sustained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prediction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5+ seconds.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14416" y="1600200"/>
            <a:ext cx="1691640" cy="347472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7" name="Text 25"/>
          <p:cNvSpPr/>
          <p:nvPr/>
        </p:nvSpPr>
        <p:spPr>
          <a:xfrm>
            <a:off x="5614416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05856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29" name="Text 27"/>
          <p:cNvSpPr/>
          <p:nvPr/>
        </p:nvSpPr>
        <p:spPr>
          <a:xfrm>
            <a:off x="5705856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14416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C77DFF">
              <a:alpha val="8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 reacts to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traffic.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shaping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still reactive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nature.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future-state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79208" y="1600200"/>
            <a:ext cx="169164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3" name="Text 31"/>
          <p:cNvSpPr/>
          <p:nvPr/>
        </p:nvSpPr>
        <p:spPr>
          <a:xfrm>
            <a:off x="7379208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70648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35" name="Text 33"/>
          <p:cNvSpPr/>
          <p:nvPr/>
        </p:nvSpPr>
        <p:spPr>
          <a:xfrm>
            <a:off x="7470648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79208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52B788">
              <a:alpha val="15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G(t) &gt; 0.5: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WORSENING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use NEXT regime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[PREDICTIVE]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= MODERATE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= HEAVY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Apply HEAVY rule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BEFORE reaching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actual HEAVY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15 adjust-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ments were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[PREDICTIVE]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736592"/>
            <a:ext cx="8595360" cy="384048"/>
          </a:xfrm>
          <a:prstGeom prst="roundRect">
            <a:avLst>
              <a:gd name="adj" fmla="val 28571"/>
            </a:avLst>
          </a:prstGeom>
          <a:solidFill>
            <a:srgbClr val="FFB703">
              <a:alpha val="10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[PREDICTIVE] mode is the key reason ACAPE stabilises in &lt;5s while ARED takes 70s. ARED waits for HEAVY to arrive. ACAPE acts while still in MODERATE, preventing the queue from peaking.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This is your strongest novel contribution slide. Say: no prior AQM system in the literature predicts the next regime and acts on it. Show the [PREDICTIVE] log entries.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7 of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7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in-kernel per-flow telemetry — C3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00B4D8">
              <a:alpha val="12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Berkeley Packet Filter allows safe kernel programs that run at nanosecond speed without modifying kernel source. ACAPE attaches a TC egress hook to the router interface, measuring every packet and storing per-flow state in BPF maps accessible from userspace.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69164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E63946">
              <a:alpha val="8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eBPF.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tc stats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— aggregate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counters, no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per-flow data.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flow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detect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elephant/mice.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84832" y="1600200"/>
            <a:ext cx="169164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2084832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76272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84832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0096C7">
              <a:alpha val="8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eBPF.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limitation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Static.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only.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 adapts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knowing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flows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congestion.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9624" y="1600200"/>
            <a:ext cx="1691640" cy="34747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3849624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41064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3941064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9624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FFB703">
              <a:alpha val="8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eBPF.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measures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departure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only.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aggregate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— no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per-flow state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14416" y="1600200"/>
            <a:ext cx="1691640" cy="347472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7" name="Text 25"/>
          <p:cNvSpPr/>
          <p:nvPr/>
        </p:nvSpPr>
        <p:spPr>
          <a:xfrm>
            <a:off x="5614416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05856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29" name="Text 27"/>
          <p:cNvSpPr/>
          <p:nvPr/>
        </p:nvSpPr>
        <p:spPr>
          <a:xfrm>
            <a:off x="5705856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14416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C77DFF">
              <a:alpha val="8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eBPF.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 uses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isolation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qdisc.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programmable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in-kernel hook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telemetry.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79208" y="1600200"/>
            <a:ext cx="169164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3" name="Text 31"/>
          <p:cNvSpPr/>
          <p:nvPr/>
        </p:nvSpPr>
        <p:spPr>
          <a:xfrm>
            <a:off x="7379208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70648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35" name="Text 33"/>
          <p:cNvSpPr/>
          <p:nvPr/>
        </p:nvSpPr>
        <p:spPr>
          <a:xfrm>
            <a:off x="7470648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79208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52B788">
              <a:alpha val="15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egress hook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veth_rs.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 maps: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flow_map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(LRU_HASH 65536)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per-flow: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byte count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pkt count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RTT EWMA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global_map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(PERCPU_ARRAY)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size_hist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(ARRAY 16 slots)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prog_id=49152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jited confirmed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736592"/>
            <a:ext cx="8595360" cy="384048"/>
          </a:xfrm>
          <a:prstGeom prst="roundRect">
            <a:avLst>
              <a:gd name="adj" fmla="val 28571"/>
            </a:avLst>
          </a:prstGeom>
          <a:solidFill>
            <a:srgbClr val="00B4D8">
              <a:alpha val="1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eBPF gives ACAPE kernel-speed per-flow visibility with zero kernel modification. This is what makes C3 (workload profiles) possible — without eBPF, elephant/mice classification requires expensive userspace packet capture.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Point to the Grafana eBPF Flow Classification panel. Show prog_id and jited flag. Explain: jited means JIT-compiled to native x86 — runs as fast as kernel code.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9B5DE5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8 of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8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Three-timescale control architecture — C4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9B5DE5">
              <a:alpha val="12000"/>
            </a:srgbClr>
          </a:solidFill>
          <a:ln w="19050">
            <a:solidFill>
              <a:srgbClr val="9B5D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Borkar 1997 proves that systems with multiple timescales converge if faster timescales are quasi-static from the slower one's perspective. ACAPE implements: T1 eBPF per-packet (~ns), T2 gradient estimation (500ms), T3 AIMD policy (~5s). Each level feeds the next.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69164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E63946">
              <a:alpha val="8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timescale: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CoDel acts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per-packet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loop.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measurement,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estimation, and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84832" y="1600200"/>
            <a:ext cx="169164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2084832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76272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84832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0096C7">
              <a:alpha val="8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control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500ms.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avg_q,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AIMD.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sensing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acting.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kernel-level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9624" y="1600200"/>
            <a:ext cx="1691640" cy="34747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3849624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41064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3941064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9624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FFB703">
              <a:alpha val="8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loop: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30ms (tupdate).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of all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systems.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single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 — PI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does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sense and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in one step.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14416" y="1600200"/>
            <a:ext cx="1691640" cy="347472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7" name="Text 25"/>
          <p:cNvSpPr/>
          <p:nvPr/>
        </p:nvSpPr>
        <p:spPr>
          <a:xfrm>
            <a:off x="5614416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05856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29" name="Text 27"/>
          <p:cNvSpPr/>
          <p:nvPr/>
        </p:nvSpPr>
        <p:spPr>
          <a:xfrm>
            <a:off x="5705856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14416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C77DFF">
              <a:alpha val="8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CAKE's internal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runs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qdisc level.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userspace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loop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multi-layer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79208" y="1600200"/>
            <a:ext cx="169164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3" name="Text 31"/>
          <p:cNvSpPr/>
          <p:nvPr/>
        </p:nvSpPr>
        <p:spPr>
          <a:xfrm>
            <a:off x="7379208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70648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35" name="Text 33"/>
          <p:cNvSpPr/>
          <p:nvPr/>
        </p:nvSpPr>
        <p:spPr>
          <a:xfrm>
            <a:off x="7470648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79208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52B788">
              <a:alpha val="15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eBPF (~ns)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per-packet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flow_map update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RTT EWMA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T2: Python (500ms)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read BPF maps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gradient compute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regime classify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T3: AIMD (~5s)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update params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tc qdisc change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log adjustment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Borkar 1997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proof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736592"/>
            <a:ext cx="8595360" cy="384048"/>
          </a:xfrm>
          <a:prstGeom prst="roundRect">
            <a:avLst>
              <a:gd name="adj" fmla="val 28571"/>
            </a:avLst>
          </a:prstGeom>
          <a:solidFill>
            <a:srgbClr val="9B5DE5">
              <a:alpha val="10000"/>
            </a:srgbClr>
          </a:solidFill>
          <a:ln w="19050">
            <a:solidFill>
              <a:srgbClr val="9B5D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Three-timescale separation is theoretically grounded. T1 runs at kernel speed (no overhead). T2 aggregates over 5 seconds of history. T3 applies stable, non-oscillating updates. This prevents the instability seen in single-loop controllers under rapid traffic changes.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This is the architecture slide. Draw T1→T2→T3 with arrows in the air. Say: 'each level is designed to be quasi-static from the level above it — this is Borkar 1997.'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2B78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9 of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9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Elephant and mice flow classification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52B788">
              <a:alpha val="12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networks, elephant flows are large long-lived transfers (FTP, video) and mice flows are small short-lived requests (DNS, HTTP/2, API calls). Under default DRR with quantum=1514B, both get equal turns — but mice flows finish in 1 turn while elephants need hundreds, causing mice to wait.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69164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E63946">
              <a:alpha val="8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DRR treats all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equally: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quantum=1514B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turn.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64-byte DNS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behind 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1500-byte video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equally.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84832" y="1600200"/>
            <a:ext cx="169164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2084832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76272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84832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0096C7">
              <a:alpha val="8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stats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from tc.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awareness of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small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large flows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active.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9624" y="1600200"/>
            <a:ext cx="1691640" cy="34747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3849624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41064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3941064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9624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FFB703">
              <a:alpha val="8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per-flow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uses 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queue.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packets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together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size 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14416" y="1600200"/>
            <a:ext cx="1691640" cy="347472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7" name="Text 25"/>
          <p:cNvSpPr/>
          <p:nvPr/>
        </p:nvSpPr>
        <p:spPr>
          <a:xfrm>
            <a:off x="5614416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05856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29" name="Text 27"/>
          <p:cNvSpPr/>
          <p:nvPr/>
        </p:nvSpPr>
        <p:spPr>
          <a:xfrm>
            <a:off x="5705856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14416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C77DFF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 classifies: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tin-based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DiffServ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per-flow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isolation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host fairness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classification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preset at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— not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adaptive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live data.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79208" y="1600200"/>
            <a:ext cx="169164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3" name="Text 31"/>
          <p:cNvSpPr/>
          <p:nvPr/>
        </p:nvSpPr>
        <p:spPr>
          <a:xfrm>
            <a:off x="7379208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70648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35" name="Text 33"/>
          <p:cNvSpPr/>
          <p:nvPr/>
        </p:nvSpPr>
        <p:spPr>
          <a:xfrm>
            <a:off x="7470648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79208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52B788">
              <a:alpha val="15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flow_map: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flows&gt;1MB in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 → elephant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r_e = elephant/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total flows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r_e &lt; 0.2 → MICE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quantum=300B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r_e 0.2-0.6 → MIX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quantum=1514B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r_e &gt; 0.6 → ELEPH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quantum=3000B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Live. Every 500ms.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736592"/>
            <a:ext cx="8595360" cy="384048"/>
          </a:xfrm>
          <a:prstGeom prst="roundRect">
            <a:avLst>
              <a:gd name="adj" fmla="val 28571"/>
            </a:avLst>
          </a:prstGeom>
          <a:solidFill>
            <a:srgbClr val="52B788">
              <a:alpha val="10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ACAPE is the only system that dynamically classifies elephant and mice flows using live eBPF data and adapts the DRR quantum accordingly. At quantum=300B, a mice flow finishes its DRR turn in one small packet — 5× faster access than with default quantum.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CAKE classifies but statically. ACAPE classifies live, every 500ms, and changes quantum accordingly. If your traffic shifts from FTP to DNS queries, ACAPE adapts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10 of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10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kernel source modification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00B4D8">
              <a:alpha val="12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AQM research systems require patching the Linux kernel source, recompiling, and rebooting. This makes deployment impossible on production systems. ACAPE uses only standard Linux interfaces: tc qdisc change, eBPF TC hook via clsact, and bpftool — all available on Ubuntu 24.04 LTS.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69164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E63946">
              <a:alpha val="15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kernel mod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qdisc add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fq_codel is 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Linux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since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3.5.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box.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84832" y="1600200"/>
            <a:ext cx="169164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2084832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76272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84832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0096C7">
              <a:alpha val="8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ARED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designed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simulation.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max_p to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fq_codel target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userspace.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kernel patch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the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design.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9624" y="1600200"/>
            <a:ext cx="1691640" cy="34747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3849624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41064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23" name="Text 21"/>
          <p:cNvSpPr/>
          <p:nvPr/>
        </p:nvSpPr>
        <p:spPr>
          <a:xfrm>
            <a:off x="3941064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9624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FFB703">
              <a:alpha val="15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is in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mainline Linux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modprobe sch_pie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it.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14416" y="1600200"/>
            <a:ext cx="1691640" cy="347472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7" name="Text 25"/>
          <p:cNvSpPr/>
          <p:nvPr/>
        </p:nvSpPr>
        <p:spPr>
          <a:xfrm>
            <a:off x="5614416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05856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29" name="Text 27"/>
          <p:cNvSpPr/>
          <p:nvPr/>
        </p:nvSpPr>
        <p:spPr>
          <a:xfrm>
            <a:off x="5705856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14416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C77DFF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 is in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mainline Linux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modprobe sch_cake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it.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79208" y="1600200"/>
            <a:ext cx="169164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3" name="Text 31"/>
          <p:cNvSpPr/>
          <p:nvPr/>
        </p:nvSpPr>
        <p:spPr>
          <a:xfrm>
            <a:off x="7379208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70648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35" name="Text 33"/>
          <p:cNvSpPr/>
          <p:nvPr/>
        </p:nvSpPr>
        <p:spPr>
          <a:xfrm>
            <a:off x="7470648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79208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52B788">
              <a:alpha val="15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kernel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tc qdisc add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tc filter add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bpf direct-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tc qdisc change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bpftool map dump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tools.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recompile.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reboot.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736592"/>
            <a:ext cx="8595360" cy="384048"/>
          </a:xfrm>
          <a:prstGeom prst="roundRect">
            <a:avLst>
              <a:gd name="adj" fmla="val 28571"/>
            </a:avLst>
          </a:prstGeom>
          <a:solidFill>
            <a:srgbClr val="00B4D8">
              <a:alpha val="1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Deployability matters. A system requiring kernel recompilation cannot be deployed on cloud VMs, ISP routers, or production servers. ACAPE works on any Ubuntu 24.04 system with root access — no vendor coordination needed.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This is a practical contribution. Our entire system can be started with: sudo bash master_run.sh — on any Linux machine. No kernel patches, no reboots.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96C7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11 of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11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Prometheus + Grafana monitoring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0096C7">
              <a:alpha val="12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observability: 28 metrics exported every 2 seconds to Prometheus, visualised in a Grafana dashboard with 21 panels. Shows eBPF status, all four fq_codel parameters, gradients, regime, predicted regime, Jain fairness, sojourn time, topology diagram, and algorithm summary.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69164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E63946">
              <a:alpha val="8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monitoring.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Only: tc -s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qdisc show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(manual command).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time-series.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only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iperf3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84832" y="1600200"/>
            <a:ext cx="169164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2084832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76272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84832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0096C7">
              <a:alpha val="8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Static: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stats only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command line.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Prometheus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Grafana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9624" y="1600200"/>
            <a:ext cx="1691640" cy="34747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3849624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41064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3941064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9624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FFB703">
              <a:alpha val="8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exposes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additional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beyond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14416" y="1600200"/>
            <a:ext cx="1691640" cy="347472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7" name="Text 25"/>
          <p:cNvSpPr/>
          <p:nvPr/>
        </p:nvSpPr>
        <p:spPr>
          <a:xfrm>
            <a:off x="5614416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05856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29" name="Text 27"/>
          <p:cNvSpPr/>
          <p:nvPr/>
        </p:nvSpPr>
        <p:spPr>
          <a:xfrm>
            <a:off x="5705856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14416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C77DFF">
              <a:alpha val="8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CAKE's stats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tc-visible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 Prometheus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exists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CAKE-specific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79208" y="1600200"/>
            <a:ext cx="169164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3" name="Text 31"/>
          <p:cNvSpPr/>
          <p:nvPr/>
        </p:nvSpPr>
        <p:spPr>
          <a:xfrm>
            <a:off x="7379208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70648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35" name="Text 33"/>
          <p:cNvSpPr/>
          <p:nvPr/>
        </p:nvSpPr>
        <p:spPr>
          <a:xfrm>
            <a:off x="7470648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79208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52B788">
              <a:alpha val="15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metrics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eBPF status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prog_id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target/interval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limit/quantum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backlog pkts/bytes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drop rate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throughput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gradients C1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regime/predicted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Jain fairness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sojourn/latency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flow counts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workload profile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Grafana: 21 panels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Prometheus: port 9101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Refresh: every 5s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736592"/>
            <a:ext cx="8595360" cy="384048"/>
          </a:xfrm>
          <a:prstGeom prst="roundRect">
            <a:avLst>
              <a:gd name="adj" fmla="val 28571"/>
            </a:avLst>
          </a:prstGeom>
          <a:solidFill>
            <a:srgbClr val="0096C7">
              <a:alpha val="10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Live monitoring transforms ACAPE from a research prototype into a production-observable system. Any operator can see exactly what the controller is doing and why, in real time. This is what companies like Cloudflare and Meta use for eBPF in production.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Show your Grafana screenshot. Say: everything you see here updates every 5 seconds during the live experiment. This is not post-processed — it is real-time.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B703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12 of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12 of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3291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topology — ISP edge deployment model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95360" cy="640080"/>
          </a:xfrm>
          <a:prstGeom prst="roundRect">
            <a:avLst>
              <a:gd name="adj" fmla="val 17143"/>
            </a:avLst>
          </a:prstGeom>
          <a:solidFill>
            <a:srgbClr val="FFB703">
              <a:alpha val="12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two-node topology (client ↔ server) tests endpoint AQM. A three-node router topology (client → router → server) tests AQM at a forwarding device — the realistic deployment model for ISP edge routers, home gateways, and datacenter switches.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691640" cy="34747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E63946">
              <a:alpha val="15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our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topology.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ns2 → ns_router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ns1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params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router egress.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Linux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84832" y="1600200"/>
            <a:ext cx="169164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2084832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76272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84832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0096C7">
              <a:alpha val="15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our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topology.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runs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userspace 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host.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Floyd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 topology: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bottleneck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sources.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9624" y="1600200"/>
            <a:ext cx="1691640" cy="34747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3849624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41064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23" name="Text 21"/>
          <p:cNvSpPr/>
          <p:nvPr/>
        </p:nvSpPr>
        <p:spPr>
          <a:xfrm>
            <a:off x="3941064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9624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FFB703">
              <a:alpha val="15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our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topology.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qdisc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egress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8033 designed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router AQM.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14416" y="1600200"/>
            <a:ext cx="1691640" cy="347472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27" name="Text 25"/>
          <p:cNvSpPr/>
          <p:nvPr/>
        </p:nvSpPr>
        <p:spPr>
          <a:xfrm>
            <a:off x="5614416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05856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29" name="Text 27"/>
          <p:cNvSpPr/>
          <p:nvPr/>
        </p:nvSpPr>
        <p:spPr>
          <a:xfrm>
            <a:off x="5705856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14416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C77DFF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our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topology.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 applied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router egress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bandwidth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 was designed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home router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79208" y="1600200"/>
            <a:ext cx="169164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3" name="Text 31"/>
          <p:cNvSpPr/>
          <p:nvPr/>
        </p:nvSpPr>
        <p:spPr>
          <a:xfrm>
            <a:off x="7379208" y="16184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70648" y="198424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52B788"/>
          </a:solidFill>
          <a:ln/>
        </p:spPr>
      </p:sp>
      <p:sp>
        <p:nvSpPr>
          <p:cNvPr id="35" name="Text 33"/>
          <p:cNvSpPr/>
          <p:nvPr/>
        </p:nvSpPr>
        <p:spPr>
          <a:xfrm>
            <a:off x="7470648" y="20025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 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79208" y="2331720"/>
            <a:ext cx="1691640" cy="2359152"/>
          </a:xfrm>
          <a:prstGeom prst="roundRect">
            <a:avLst>
              <a:gd name="adj" fmla="val 6486"/>
            </a:avLst>
          </a:prstGeom>
          <a:solidFill>
            <a:srgbClr val="52B788">
              <a:alpha val="15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377440"/>
            <a:ext cx="1554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ns2(192.168.1.2)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↓ veth_cr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ns_router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192.168.1.1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192.168.2.1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TBF 5Mbit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fq_codel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eBPF hook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↓ veth_rs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ns1(192.168.2.2)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AQM on router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— exactly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ISP routers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AQM.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736592"/>
            <a:ext cx="8595360" cy="384048"/>
          </a:xfrm>
          <a:prstGeom prst="roundRect">
            <a:avLst>
              <a:gd name="adj" fmla="val 28571"/>
            </a:avLst>
          </a:prstGeom>
          <a:solidFill>
            <a:srgbClr val="FFB703">
              <a:alpha val="10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Router topology is the correct experimental model. An ISP router, not an endpoint, performs AQM. All five systems are tested on the same three-node topology ensuring fair comparison.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All five systems ran on identical topology: ns2 → ns_router → ns1. Same TBF 5Mbit bottleneck. Same 20 TCP CUBIC flows. Fair comparison — only the qdisc and controller differ.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2B78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Summary — Final Score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691640" cy="4160520"/>
          </a:xfrm>
          <a:prstGeom prst="roundRect">
            <a:avLst>
              <a:gd name="adj" fmla="val 6486"/>
            </a:avLst>
          </a:prstGeom>
          <a:solidFill>
            <a:srgbClr val="E63946">
              <a:alpha val="12000"/>
            </a:srgbClr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914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1508760" cy="201168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98448"/>
            <a:ext cx="37719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08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 features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783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1993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kernel mod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" y="22494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Router topology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2505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CoDel internal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" y="28529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" y="30540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Tunes target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93192" y="32552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Interval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93192" y="34564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93192" y="36576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Quantum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93192" y="3858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+6 more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84832" y="868680"/>
            <a:ext cx="1691640" cy="4160520"/>
          </a:xfrm>
          <a:prstGeom prst="roundRect">
            <a:avLst>
              <a:gd name="adj" fmla="val 6486"/>
            </a:avLst>
          </a:prstGeom>
          <a:solidFill>
            <a:srgbClr val="0096C7">
              <a:alpha val="12000"/>
            </a:srgbClr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57984" y="914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76272" y="1298448"/>
            <a:ext cx="1508760" cy="201168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2176272" y="1298448"/>
            <a:ext cx="377190" cy="20116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23" name="Text 21"/>
          <p:cNvSpPr/>
          <p:nvPr/>
        </p:nvSpPr>
        <p:spPr>
          <a:xfrm>
            <a:off x="2176272" y="1508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 features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57984" y="1783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57984" y="1993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Tunes target (1 param)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57984" y="22494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Router topology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57984" y="2505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AIMD philosophy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57984" y="28529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57984" y="30540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Interval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57984" y="32552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57984" y="34564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Quantum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57984" y="36576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Gradient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157984" y="3858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+6 more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49624" y="868680"/>
            <a:ext cx="1691640" cy="4160520"/>
          </a:xfrm>
          <a:prstGeom prst="roundRect">
            <a:avLst>
              <a:gd name="adj" fmla="val 6486"/>
            </a:avLst>
          </a:prstGeom>
          <a:solidFill>
            <a:srgbClr val="FFB703">
              <a:alpha val="12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22776" y="914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941064" y="1298448"/>
            <a:ext cx="1508760" cy="201168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37" name="Shape 35"/>
          <p:cNvSpPr/>
          <p:nvPr/>
        </p:nvSpPr>
        <p:spPr>
          <a:xfrm>
            <a:off x="3941064" y="1298448"/>
            <a:ext cx="502920" cy="201168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8" name="Text 36"/>
          <p:cNvSpPr/>
          <p:nvPr/>
        </p:nvSpPr>
        <p:spPr>
          <a:xfrm>
            <a:off x="3941064" y="1508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 features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22776" y="1783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922776" y="1993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Tunes drop prob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922776" y="22494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kernel mod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922776" y="2505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Router topology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922776" y="27614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Delay-based ctrl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22776" y="3108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922776" y="33101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Tunes target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922776" y="35112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Interval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922776" y="37124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922776" y="3913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Quantum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922776" y="41148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+6 more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614416" y="868680"/>
            <a:ext cx="1691640" cy="4160520"/>
          </a:xfrm>
          <a:prstGeom prst="roundRect">
            <a:avLst>
              <a:gd name="adj" fmla="val 6486"/>
            </a:avLst>
          </a:prstGeom>
          <a:solidFill>
            <a:srgbClr val="C77DFF">
              <a:alpha val="12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87568" y="914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705856" y="1298448"/>
            <a:ext cx="1508760" cy="201168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53" name="Shape 51"/>
          <p:cNvSpPr/>
          <p:nvPr/>
        </p:nvSpPr>
        <p:spPr>
          <a:xfrm>
            <a:off x="5705856" y="1298448"/>
            <a:ext cx="754380" cy="201168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54" name="Text 52"/>
          <p:cNvSpPr/>
          <p:nvPr/>
        </p:nvSpPr>
        <p:spPr>
          <a:xfrm>
            <a:off x="5705856" y="1508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6/12 features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687568" y="1783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Has: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687568" y="1993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params (internal)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687568" y="22494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kernel mod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687568" y="2505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Router topology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687568" y="27614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Flow isolation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687568" y="30175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DiffServ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687568" y="32735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Fairness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687568" y="36210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687568" y="38221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Gradient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687568" y="4023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Predictive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687568" y="42245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eBPF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687568" y="44256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3-timescale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687568" y="46268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+2 more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379208" y="868680"/>
            <a:ext cx="1691640" cy="4160520"/>
          </a:xfrm>
          <a:prstGeom prst="roundRect">
            <a:avLst>
              <a:gd name="adj" fmla="val 6486"/>
            </a:avLst>
          </a:prstGeom>
          <a:solidFill>
            <a:srgbClr val="52B788">
              <a:alpha val="20000"/>
            </a:srgbClr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52360" y="914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470648" y="1298448"/>
            <a:ext cx="1508760" cy="201168"/>
          </a:xfrm>
          <a:prstGeom prst="rect">
            <a:avLst/>
          </a:prstGeom>
          <a:solidFill>
            <a:srgbClr val="2A3A4A"/>
          </a:solidFill>
          <a:ln/>
        </p:spPr>
      </p:sp>
      <p:sp>
        <p:nvSpPr>
          <p:cNvPr id="71" name="Shape 69"/>
          <p:cNvSpPr/>
          <p:nvPr/>
        </p:nvSpPr>
        <p:spPr>
          <a:xfrm>
            <a:off x="7470648" y="1298448"/>
            <a:ext cx="1508760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72" name="Text 70"/>
          <p:cNvSpPr/>
          <p:nvPr/>
        </p:nvSpPr>
        <p:spPr>
          <a:xfrm>
            <a:off x="7470648" y="1508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 features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452360" y="17830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Has: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452360" y="19933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12 features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20040" y="48463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scores 12/12 — the only system combining gradient prediction, eBPF telemetry, predictive control, and full parameter tuning on stock Linux.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274320" y="4901184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End here. Say: across 12 features, ACAPE is the only complete system. Every other system has gaps. That is the contribution.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2026-04-09T11:50:47Z</dcterms:created>
  <dcterms:modified xsi:type="dcterms:W3CDTF">2026-04-09T11:50:47Z</dcterms:modified>
</cp:coreProperties>
</file>