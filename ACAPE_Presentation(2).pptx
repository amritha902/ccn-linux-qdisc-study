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3"/>
                </a:solidFill>
              </a:rPr>
              <a:t>Adaptive Condition-Aware Packet Engine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49E"/>
                </a:solidFill>
              </a:rPr>
              <a:t>Runtime-adaptive fq_codel tuning via eBPF telemetry — without kernel modification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1124712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63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</a:rPr>
              <a:t>Amritha S  ·  Yugeshwaran P  ·  Deepti Annuncia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Dept. of ECE, SENSE — VIT Chennai, India  |  March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2788920" cy="438912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02336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Parts 1–4 Complete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4023360"/>
            <a:ext cx="2788920" cy="438912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402336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eBPF: clang+tc+bpftool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4023360"/>
            <a:ext cx="2788920" cy="438912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402336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29922"/>
                </a:solidFill>
              </a:rPr>
              <a:t>Grafana + Prometheus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35440" y="4023360"/>
            <a:ext cx="2788920" cy="438912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4023360"/>
            <a:ext cx="2788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Zero Kernel Modification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Platform: Ubuntu 24.04 LTS · Linux 6.8.x · HP Pavilion 15-eg2xxx · Testbed: ns1↔veth↔ns2, TBF 10Mbit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6766560"/>
            <a:ext cx="12161520" cy="914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</a:rPr>
              <a:t>The Problem — Static fq_codel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2880" y="658368"/>
            <a:ext cx="1179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Linux queue disciplines use fixed parameters configured at boot — they never adapt at runtime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539496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2412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</a:rPr>
              <a:t>fq_codel defaults — NEVER change: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52120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  = 5ms
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 = 100ms
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   = 10240 pkts
</a:t>
            </a:r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quantum  = 1514 bytes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3273552"/>
            <a:ext cx="539496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3273552"/>
            <a:ext cx="5285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</a:rPr>
              <a:t>fq_codel source: net/sched/sch_fq_codel.c — parameters fixed at qdisc init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52160" y="987552"/>
            <a:ext cx="603504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024128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Traffic Intensity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89320" y="1280160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Same params for 1 flow vs 16 flows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52160" y="1627632"/>
            <a:ext cx="603504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664208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Flow Density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89320" y="1920240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No awareness of elephant vs mice flows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2267712"/>
            <a:ext cx="603504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304288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Congestion Trend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89320" y="2560320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Cannot detect improving vs worsening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52160" y="2907792"/>
            <a:ext cx="603504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944368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</a:rPr>
              <a:t>RTT Inflation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89320" y="3200400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Queue delay accumulates silently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566160"/>
            <a:ext cx="11612880" cy="530352"/>
          </a:xfrm>
          <a:prstGeom prst="rect">
            <a:avLst/>
          </a:prstGeom>
          <a:solidFill>
            <a:srgbClr val="300000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566160"/>
            <a:ext cx="11612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</a:rPr>
              <a:t>Result: Bufferbloat · Reactive-only AQM · Suboptimal latency-throughput · No workload awareness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4206240"/>
            <a:ext cx="11612880" cy="594360"/>
          </a:xfrm>
          <a:prstGeom prst="rect">
            <a:avLst/>
          </a:prstGeom>
          <a:solidFill>
            <a:srgbClr val="0D1F0D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062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</a:rPr>
              <a:t>Confirmed Gap (ML-AQM Survey, Computer Networks 2025): No kernel-free adaptive fq_codel with gradient prediction + eBPF + production monitoring exists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</a:rPr>
              <a:t>Our Solution — 4-Part Research Framework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2880" y="658368"/>
            <a:ext cx="1179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Each part builds on the previous; Parts 3 and 4 are our core contribution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834640" cy="5394960"/>
          </a:xfrm>
          <a:prstGeom prst="rect">
            <a:avLst/>
          </a:prstGeom>
          <a:solidFill>
            <a:srgbClr val="161B22"/>
          </a:solidFill>
          <a:ln w="25400">
            <a:solidFill>
              <a:srgbClr val="8B94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77240"/>
            <a:ext cx="283464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777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</a:rPr>
              <a:t>Part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1325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Static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Characterisation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" y="201168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· pfifo_fast vs fq_codel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" y="26060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· Real WiFi: wlp4s0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320040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· Jain fairness: 0.89 vs 0.9997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" y="379476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· Bursty vs distributed drops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71800" y="29718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0363D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218688" y="777240"/>
            <a:ext cx="2834640" cy="539496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18688" y="777240"/>
            <a:ext cx="283464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777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Part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1325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Namespace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Testbed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28416" y="201168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</a:rPr>
              <a:t>· ns1↔veth↔ns2 isolated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28416" y="26060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· TBF 10 Mbit bottleneck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28416" y="320040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· 8 flows, Jain=0.9997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28416" y="379476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· P95 RTT = 2.2 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61888" y="29718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0363D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208776" y="777240"/>
            <a:ext cx="2834640" cy="5394960"/>
          </a:xfrm>
          <a:prstGeom prst="rect">
            <a:avLst/>
          </a:prstGeom>
          <a:solidFill>
            <a:srgbClr val="161B22"/>
          </a:solidFill>
          <a:ln w="25400">
            <a:solidFill>
              <a:srgbClr val="D2992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08776" y="777240"/>
            <a:ext cx="283464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777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</a:rPr>
              <a:t>Part 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81928" y="1325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Reactive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AIMD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18504" y="201168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</a:rPr>
              <a:t>· tc stats only (no eBPF)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18504" y="26060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· HEAVY/MODERATE/LIGHT states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18504" y="320040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· 46% backlog reduction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18504" y="379476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· 97.1% throughput 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51976" y="29718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0363D"/>
                </a:solidFill>
              </a:rPr>
              <a:t>→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9198864" y="777240"/>
            <a:ext cx="2834640" cy="539496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98864" y="777240"/>
            <a:ext cx="283464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72016" y="777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Part 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272016" y="1325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ACAPE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(Our System)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308592" y="201168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</a:rPr>
              <a:t>· eBPF TC hook attached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308592" y="260604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· Gradient prediction C1,C2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308592" y="320040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· Workload profiles C3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308592" y="379476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· Grafana+Prometheus 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290304" y="5303520"/>
            <a:ext cx="2651760" cy="594360"/>
          </a:xfrm>
          <a:prstGeom prst="rect">
            <a:avLst/>
          </a:prstGeom>
          <a:solidFill>
            <a:srgbClr val="0D1F0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90304" y="5303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</a:rPr>
              <a:t>NOVEL ★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</a:rPr>
              <a:t>ACAPE Architecture — Three-Timescale Control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2880" y="658368"/>
            <a:ext cx="1179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T1: eBPF per-packet  |  T2: Gradient estimation every 500ms  |  T3: AIMD adjustment every ~5s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11704320" cy="1115568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04672"/>
            <a:ext cx="3474720" cy="402336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804672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</a:rPr>
              <a:t>T3 — POLICY LAYER  (~5 seconds)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1243584"/>
            <a:ext cx="11338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Python AIMD Controller  ·  selects workload profile  ·  issues: tc qdisc change dev veth1 fq_codel target Xms  ·  no traffic disruption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1920240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0363D"/>
                </a:solidFill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" y="2057400"/>
            <a:ext cx="11704320" cy="1115568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057400"/>
            <a:ext cx="3474720" cy="402336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05740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</a:rPr>
              <a:t>T2 — ESTIMATION LAYER  (500 ms)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" y="2496312"/>
            <a:ext cx="11338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Reads: tc -s qdisc show  +  bpftool map dump  ·  computes: ∇dr, ∇bl, ∇rtt via linear regression (W=10)  ·  classifies: WORSENING / STABLE / RECOVERING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3172968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0363D"/>
                </a:solidFill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8600" y="3310128"/>
            <a:ext cx="11704320" cy="1115568"/>
          </a:xfrm>
          <a:prstGeom prst="rect">
            <a:avLst/>
          </a:prstGeom>
          <a:solidFill>
            <a:srgbClr val="161B22"/>
          </a:solidFill>
          <a:ln w="25400">
            <a:solidFill>
              <a:srgbClr val="D29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310128"/>
            <a:ext cx="3474720" cy="402336"/>
          </a:xfrm>
          <a:prstGeom prst="rect">
            <a:avLst/>
          </a:prstGeom>
          <a:solidFill>
            <a:srgbClr val="21262D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31012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9922"/>
                </a:solidFill>
              </a:rPr>
              <a:t>T1 — eBPF IN-KERNEL  (per-packet, ~ns)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" y="3749040"/>
            <a:ext cx="11338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tc_egress_monitor() on veth1 egress  ·  BPF maps: flow_map (LRU_HASH 65536) | global_map (PERCPU) | size_hist (ARRAY)  ·  RTT proxy EWMA α=0.125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4425696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0363D"/>
                </a:solidFill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28600" y="4572000"/>
            <a:ext cx="11704320" cy="1115568"/>
          </a:xfrm>
          <a:prstGeom prst="rect">
            <a:avLst/>
          </a:prstGeom>
          <a:solidFill>
            <a:srgbClr val="161B22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4572000"/>
            <a:ext cx="3474720" cy="402336"/>
          </a:xfrm>
          <a:prstGeom prst="rect">
            <a:avLst/>
          </a:prstGeom>
          <a:solidFill>
            <a:srgbClr val="21262D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" y="4572000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</a:rPr>
              <a:t>fq_codel (unmodified Linux kernel)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5010912"/>
            <a:ext cx="11338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target ← ACAPE tunes  ·  interval ← ACAPE tunes  ·  limit ← ACAPE tunes  ·  quantum ← workload profile (C3 via eBPF)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" y="5833872"/>
            <a:ext cx="1170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FB950"/>
                </a:solidFill>
              </a:rPr>
              <a:t>Key insight: BPF maps are kernel-global objects. Even loaded inside ns1, map IDs are visible from host via bpftool — no BCC or nsenter needed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</a:rPr>
              <a:t>Four Novel Contributions — C1 through C4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2880" y="658368"/>
            <a:ext cx="1179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Each contribution addresses a specific gap in prior work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5715000" cy="2578608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04672"/>
            <a:ext cx="914400" cy="2578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04672"/>
            <a:ext cx="91440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</a:rPr>
              <a:t>C1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87782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Multi-Signal Gradient Estimator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307592"/>
            <a:ext cx="46634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S(t) = [∇dr, ∇bl, ∇rtt]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Linear regression over W=10 samples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G(t) = 0.6·∇dr/30 + 0.4·∇bl/300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Trajectory: WORSENING if G&gt;0.5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No prior AQM fuses all 3 gradients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804672"/>
            <a:ext cx="5715000" cy="2578608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804672"/>
            <a:ext cx="914400" cy="2578608"/>
          </a:xfrm>
          <a:prstGeom prst="rect">
            <a:avLst/>
          </a:prstGeom>
          <a:solidFill>
            <a:srgbClr val="21262D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804672"/>
            <a:ext cx="91440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C8CFF"/>
                </a:solidFill>
              </a:rPr>
              <a:t>C2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178040" y="87782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Predictive Regime Detection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1307592"/>
            <a:ext cx="46634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When WORSENING: effective = predicted_next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Controller acts BEFORE transition occurs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[PREDICTIVE] tag in adjustment log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Proven by real measured data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All prior AQM is purely reactive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639312"/>
            <a:ext cx="5715000" cy="2578608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639312"/>
            <a:ext cx="914400" cy="2578608"/>
          </a:xfrm>
          <a:prstGeom prst="rect">
            <a:avLst/>
          </a:prstGeom>
          <a:solidFill>
            <a:srgbClr val="21262D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639312"/>
            <a:ext cx="91440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29922"/>
                </a:solidFill>
              </a:rPr>
              <a:t>C3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71246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eBPF Workload-Aware Profiles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142232"/>
            <a:ext cx="46634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elephant_ratio from BPF flow_map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&lt;0.2 → MICE  target=2ms quantum=300B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&gt;0.6 → ELEPHANT  target=10ms q=3000B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else → MIXED  target=5ms q=1514B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First to use eBPF for fq_codel profiles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3639312"/>
            <a:ext cx="5715000" cy="2578608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639312"/>
            <a:ext cx="914400" cy="2578608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639312"/>
            <a:ext cx="91440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8A6FF"/>
                </a:solidFill>
              </a:rPr>
              <a:t>C4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178040" y="371246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</a:rPr>
              <a:t>Three-Timescale Architecture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78040" y="4142232"/>
            <a:ext cx="46634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T1(eBPF ~ns) T2(500ms) T3(~5s)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Grounded in Borkar 1997 theory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Zero kernel modification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tc qdisc change only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First Linux tc implementation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</a:rPr>
              <a:t>Part 3 — Reactive AIMD Controller Results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2880" y="658368"/>
            <a:ext cx="1179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Baseline controller using tc stats only — establishes what ACAPE improves upon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74320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22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</a:rPr>
              <a:t>15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AIMD adjustments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777240"/>
            <a:ext cx="274320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822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</a:rPr>
              <a:t>97.1%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18688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Throughput maintained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08776" y="777240"/>
            <a:ext cx="274320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8776" y="822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29922"/>
                </a:solidFill>
              </a:rPr>
              <a:t>46%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08776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Backlog reduction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98864" y="777240"/>
            <a:ext cx="274320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98864" y="822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8A6FF"/>
                </a:solidFill>
              </a:rPr>
              <a:t>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198864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Collapses</a:t>
            </a:r>
            <a:endParaRPr lang="en-US" sz="1000" dirty="0"/>
          </a:p>
        </p:txBody>
      </p:sp>
      <p:pic>
        <p:nvPicPr>
          <p:cNvPr id="18" name="Image 0" descr="/home/claude/ppt/imgs/part3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0"/>
            <a:ext cx="11704320" cy="429768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228600" y="6126480"/>
            <a:ext cx="1170432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1752" y="6126480"/>
            <a:ext cx="1159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FB950"/>
                </a:solidFill>
              </a:rPr>
              <a:t>Fig: Part 3 — 6-panel result: throughput (97.1%), drop rate evolution, backlog (450→240 pkts), AIMD target staircase 5ms→1ms, state timeline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</a:rPr>
              <a:t>Part 4 — ACAPE Measured Results (120s, 8 TCP flows)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2880" y="658368"/>
            <a:ext cx="1179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eBPF prog_id=527 attached and JIT-compiled confirmed via: tc filter show dev veth1 egress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74320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22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</a:rPr>
              <a:t>15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AIMD adjustments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777240"/>
            <a:ext cx="274320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18688" y="822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</a:rPr>
              <a:t>5→1ms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18688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fq_codel target (AIMD)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08776" y="777240"/>
            <a:ext cx="274320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8776" y="822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</a:rPr>
              <a:t>28%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08776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Backlog reduction vs static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98864" y="777240"/>
            <a:ext cx="274320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98864" y="8229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29922"/>
                </a:solidFill>
              </a:rPr>
              <a:t>97%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198864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Throughput maintained</a:t>
            </a:r>
            <a:endParaRPr lang="en-US" sz="1000" dirty="0"/>
          </a:p>
        </p:txBody>
      </p:sp>
      <p:pic>
        <p:nvPicPr>
          <p:cNvPr id="18" name="Image 0" descr="/home/claude/ppt/imgs/acape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0"/>
            <a:ext cx="11704320" cy="429768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228600" y="6126480"/>
            <a:ext cx="1170432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1752" y="6126480"/>
            <a:ext cx="1159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FB950"/>
                </a:solidFill>
              </a:rPr>
              <a:t>Fig: ACAPE 6-panel overview — (a) Throughput 10 Mbps flat  (b) Drop rate + predicted regime strip  (c) Backlog stable ~240p  (d) AIMD target+limit+quantum staircase  (e) eBPF flow telemetry  (f) Workload profile  (g) Regime timeline with PREDICTIVE triangles leading HEAVY circles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</a:rPr>
              <a:t>ACAPE C1 — Multi-Signal Gradient State Estimator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2880" y="658368"/>
            <a:ext cx="1179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Three concurrent gradient signals detect congestion trajectory before it becomes critical</a:t>
            </a:r>
            <a:endParaRPr lang="en-US" sz="1000" dirty="0"/>
          </a:p>
        </p:txBody>
      </p:sp>
      <p:pic>
        <p:nvPicPr>
          <p:cNvPr id="6" name="Image 0" descr="/home/claude/ppt/imgs/acape_gradi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04672"/>
            <a:ext cx="8229600" cy="5394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6199632"/>
            <a:ext cx="822960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1752" y="6199632"/>
            <a:ext cx="8119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A6FF"/>
                </a:solidFill>
              </a:rPr>
              <a:t>Fig: Three gradient signals — ∇dr (drop rate), ∇bl (backlog), ∇rtt (RTT proxy). Flat near zero = steady congestion. Sharp negative spike at t≈115s = traffic ended, RECOVERING detected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641080" y="868680"/>
            <a:ext cx="3291840" cy="155448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32520" y="9601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</a:rPr>
              <a:t>∇dr / ∇t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732520" y="134416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Drop rate gradient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Flat 0→115s = stable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Spike = recovery detected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41080" y="2651760"/>
            <a:ext cx="3291840" cy="155448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32520" y="274320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</a:rPr>
              <a:t>∇bl / ∇t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732520" y="312724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Backlog gradient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Small oscillations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controller maintaining equilibrium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641080" y="4434840"/>
            <a:ext cx="3291840" cy="155448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32520" y="45262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</a:rPr>
              <a:t>∇rtt / ∇t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732520" y="491032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RTT proxy gradient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From eBPF inter-packet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gap EWMA (α=0.125)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</a:rPr>
              <a:t>ACAPE C2 — Predictive Regime Detection in Action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2880" y="658368"/>
            <a:ext cx="1179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Purple lines = [PREDICTIVE]: controller acts BEFORE regime worsens. Blue dashed = [REACTIVE]</a:t>
            </a:r>
            <a:endParaRPr lang="en-US" sz="1000" dirty="0"/>
          </a:p>
        </p:txBody>
      </p:sp>
      <p:pic>
        <p:nvPicPr>
          <p:cNvPr id="6" name="Image 0" descr="/home/claude/ppt/imgs/comparison_predic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04672"/>
            <a:ext cx="8412480" cy="5394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6199632"/>
            <a:ext cx="841248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1752" y="6199632"/>
            <a:ext cx="8302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C8CFF"/>
                </a:solidFill>
              </a:rPr>
              <a:t>Fig: (top) Backlog with [PREDICTIVE] purple and [REACTIVE] blue-dashed adjustment markers  (bottom) fq_codel target 5ms→1ms staircase vs static flat line — Adaptive RED doesn't tune target at all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778240" y="822960"/>
            <a:ext cx="3200400" cy="192024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0" y="8686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</a:rPr>
              <a:t>[PREDICTIVE]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869680" y="12801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G(t) &gt; 0.5 → WORSENING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effective = predicted_next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Lighter adjustment applied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before state degrades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4 events in this run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778240" y="2880360"/>
            <a:ext cx="3200400" cy="192024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69680" y="29260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</a:rPr>
              <a:t>[REACTIVE]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869680" y="33375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G(t) stable or recovering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effective = current_regime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Full AIMD β=0.9 applied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All prior AQM systems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</a:rPr>
              <a:t>only do this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778240" y="5029200"/>
            <a:ext cx="3200400" cy="731520"/>
          </a:xfrm>
          <a:prstGeom prst="rect">
            <a:avLst/>
          </a:prstGeom>
          <a:solidFill>
            <a:srgbClr val="0D1F0D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78240" y="50292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No prior AQM implements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predictive mode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</a:rPr>
              <a:t>ACAPE AIMD Adjustment Log — 15 Events, target 5ms → 1ms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2880" y="658368"/>
            <a:ext cx="1179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Each row shows exact time, regime, trajectory, predicted state, and AIMD action taken</a:t>
            </a:r>
            <a:endParaRPr lang="en-US" sz="1000" dirty="0"/>
          </a:p>
        </p:txBody>
      </p:sp>
      <p:pic>
        <p:nvPicPr>
          <p:cNvPr id="6" name="Image 0" descr="/home/claude/ppt/imgs/acape_adjust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04672"/>
            <a:ext cx="11704320" cy="4892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5696712"/>
            <a:ext cx="1170432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1752" y="5696712"/>
            <a:ext cx="1159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29922"/>
                </a:solidFill>
              </a:rPr>
              <a:t>Fig: Adjustment log — note [PREDICTIVE] rows where Trajectory=RECOVERING and Predicted=MODERATE while Regime is still HEAVY. Target follows exact AIMD β=0.9: 5.00→4.50→4.05→3.65→3.28→2.95→2.66→2.39→2.15→1.94→1.74→1.57→1.41→1.27→1.14→1.03ms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5760720"/>
          <a:ext cx="11704320" cy="82296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3474720"/>
                <a:gridCol w="23774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</a:rPr>
                        <a:t>Mode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</a:rPr>
                        <a:t>Trajectory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</a:rPr>
                        <a:t>Action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EDF3"/>
                          </a:solidFill>
                        </a:rPr>
                        <a:t>Events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C8CFF"/>
                          </a:solidFill>
                        </a:rPr>
                        <a:t>[PREDICTIVE]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RECOVERING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Use predicted_next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C8CFF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8A6FF"/>
                          </a:solidFill>
                        </a:rPr>
                        <a:t>[REACTIVE]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STABLE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Use current regime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8A6FF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</a:rPr>
              <a:t>eBPF Pipeline — clang + tc + bpftool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2880" y="658368"/>
            <a:ext cx="1179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Three-step: compile with BTF → attach inside ns1 → read maps from host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3840480" cy="292608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804672"/>
            <a:ext cx="384048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046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STEP 1: COMPILE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298448"/>
            <a:ext cx="36576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clang -O2 -g -target bpf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 tc_monitor.c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 tc_monitor.o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-g embeds BTF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(field names in bpftool)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24528" y="804672"/>
            <a:ext cx="3840480" cy="292608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24528" y="804672"/>
            <a:ext cx="384048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15968" y="8046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</a:rPr>
              <a:t>STEP 2: ATTACH (inside ns1)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15968" y="1298448"/>
            <a:ext cx="36576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 qdisc add dev veth1 clsact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 filter add dev veth1 egress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bpf direct-action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obj tc_monitor.o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 tc_egress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0456" y="804672"/>
            <a:ext cx="3840480" cy="292608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0456" y="804672"/>
            <a:ext cx="3840480" cy="438912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11896" y="8046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</a:rPr>
              <a:t>STEP 3: READ MAPS (from host)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11896" y="1298448"/>
            <a:ext cx="36576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bpftool prog show id N --json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get map_ids[]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bpftool map dump id M --json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flow_map entries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BTF-formatted fields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730752"/>
            <a:ext cx="1193292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3730752"/>
            <a:ext cx="11823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29922"/>
                </a:solidFill>
              </a:rPr>
              <a:t>Key: BPF prog and maps are kernel-global — loaded inside ns1 but visible from host. tc filter show dev veth1 egress shows: id 527 (prog_id), jited (JIT-compiled for speed)</a:t>
            </a:r>
            <a:endParaRPr lang="en-US" sz="900" dirty="0"/>
          </a:p>
        </p:txBody>
      </p:sp>
      <p:pic>
        <p:nvPicPr>
          <p:cNvPr id="20" name="Image 0" descr="/home/claude/ppt/imgs/terminal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114800"/>
            <a:ext cx="11704320" cy="23317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28600" y="6446520"/>
            <a:ext cx="1170432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01752" y="6446520"/>
            <a:ext cx="1159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FB950"/>
                </a:solidFill>
              </a:rPr>
              <a:t>Screenshot: Controller terminal showing [PREDICTIVE] and [REACTIVE] tags in real-time, HEAVY→RECOVERING regime transitions, and iperf showing ~10 Mbps (bottleneck confirmed)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</a:rPr>
              <a:t>Live Monitoring — Grafana + Prometheus Dashboard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2880" y="658368"/>
            <a:ext cx="1179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Why: Industry-standard stack used in production eBPF deployments (Cloudflare, Meta). Proves ACAPE is production-grade.</a:t>
            </a:r>
            <a:endParaRPr lang="en-US" sz="1000" dirty="0"/>
          </a:p>
        </p:txBody>
      </p:sp>
      <p:pic>
        <p:nvPicPr>
          <p:cNvPr id="6" name="Image 0" descr="/home/claude/ppt/imgs/grafana_m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04672"/>
            <a:ext cx="8686800" cy="4572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5376672"/>
            <a:ext cx="868680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1752" y="5376672"/>
            <a:ext cx="8577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FB950"/>
                </a:solidFill>
              </a:rPr>
              <a:t>Fig: Grafana ACAPE Live Monitor at t≈9 min — eBPF ATTACHED (green), prog_id=94, fq_codel target=2ms (ACAPE reduced it from 5ms), Backlog=355p (red), Throughput=10.0 Mbps (bottleneck confirmed), Drop rate=22,201/s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9144000" y="804672"/>
            <a:ext cx="2834640" cy="4572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35440" y="8686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Monitoring Stack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35440" y="126187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</a:rPr>
              <a:t>eBPF TC hook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0561320" y="126187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collects per-packet data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235440" y="158191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</a:rPr>
              <a:t>BPF maps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561320" y="158191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flow_map, global_map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235440" y="190195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</a:rPr>
              <a:t>acape_exporter.py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561320" y="190195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reads maps, exposes /metrics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235440" y="222199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</a:rPr>
              <a:t>Prometheus :9090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0561320" y="222199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scrapes every 2s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235440" y="254203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</a:rPr>
              <a:t>Grafana :3000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561320" y="254203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queries + visualises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235440" y="286207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</a:rPr>
              <a:t>Dashboard panels: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9235440" y="318211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</a:rPr>
              <a:t>· eBPF Attached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10561320" y="318211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prog_id=527 confirmed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235440" y="350215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</a:rPr>
              <a:t>· fq_codel target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0561320" y="350215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5ms→1ms live staircase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235440" y="382219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5149"/>
                </a:solidFill>
              </a:rPr>
              <a:t>· Drop rate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0561320" y="382219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120k/s at peak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235440" y="414223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FB950"/>
                </a:solidFill>
              </a:rPr>
              <a:t>· Throughput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0561320" y="414223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10 Mbps confirmed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235440" y="446227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29922"/>
                </a:solidFill>
              </a:rPr>
              <a:t>· Backlog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0561320" y="4462272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240p stable</a:t>
            </a:r>
            <a:endParaRPr lang="en-US" sz="900" dirty="0"/>
          </a:p>
        </p:txBody>
      </p:sp>
      <p:pic>
        <p:nvPicPr>
          <p:cNvPr id="32" name="Image 1" descr="/home/claude/ppt/imgs/grafana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532120"/>
            <a:ext cx="8686800" cy="1188720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228600" y="6720840"/>
            <a:ext cx="868680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01752" y="6720840"/>
            <a:ext cx="8577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</a:rPr>
              <a:t>Fig: Later in experiment — backlog dropped to 0 after iperf ended, target held at 2ms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</a:rPr>
              <a:t>Performance Comparison — ACAPE vs All Baselines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2880" y="658368"/>
            <a:ext cx="1179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Measured on identical testbed: ns1↔veth↔ns2, TBF, Ubuntu 24.04 LTS, Linux 6.8.x</a:t>
            </a:r>
            <a:endParaRPr lang="en-US" sz="1000" dirty="0"/>
          </a:p>
        </p:txBody>
      </p:sp>
      <p:pic>
        <p:nvPicPr>
          <p:cNvPr id="6" name="Image 0" descr="/home/claude/ppt/imgs/comparison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04672"/>
            <a:ext cx="8412480" cy="5029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5833872"/>
            <a:ext cx="841248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1752" y="5833872"/>
            <a:ext cx="8302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FB950"/>
                </a:solidFill>
              </a:rPr>
              <a:t>Fig: 4-panel comparison — (a) Backlog: ACAPE (green) lowest throughout  (b) Target: only ACAPE &amp; Part3 tune this; static &amp; A.RED stay at 5ms  (c) Throughput: all systems maintain ~10 Mbps, zero collapse  (d) Avg backlog bar: Static 449p → A.RED 412p → Part3 357p → ACAPE 314p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823960" y="822960"/>
            <a:ext cx="315468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23960" y="86868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5149"/>
                </a:solidFill>
              </a:rPr>
              <a:t>434p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869680" y="14630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Static fq_codel (baseline)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823960" y="2084832"/>
            <a:ext cx="315468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23960" y="213055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8A6FF"/>
                </a:solidFill>
              </a:rPr>
              <a:t>412p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869680" y="272491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Adaptive RED (Floyd 2001)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823960" y="3346704"/>
            <a:ext cx="315468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23960" y="3392424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29922"/>
                </a:solidFill>
              </a:rPr>
              <a:t>357p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8869680" y="398678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Part 3 Reactive (our baseline)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823960" y="4608576"/>
            <a:ext cx="3154680" cy="11430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23960" y="4654296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50"/>
                </a:solidFill>
              </a:rPr>
              <a:t>314p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8869680" y="524865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ACAPE — 28% lower than static ★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</a:rPr>
              <a:t>ACAPE Quantified Improvements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2880" y="658368"/>
            <a:ext cx="1179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Three dimensions of improvement — backlog, stabilisation speed, adaptivity depth</a:t>
            </a:r>
            <a:endParaRPr lang="en-US" sz="1000" dirty="0"/>
          </a:p>
        </p:txBody>
      </p:sp>
      <p:pic>
        <p:nvPicPr>
          <p:cNvPr id="6" name="Image 0" descr="/home/claude/ppt/imgs/comparison_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804672"/>
            <a:ext cx="8412480" cy="5029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5833872"/>
            <a:ext cx="841248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1752" y="5833872"/>
            <a:ext cx="83027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FB950"/>
                </a:solidFill>
              </a:rPr>
              <a:t>Fig: (1) Avg backlog — ACAPE 314p vs Static 434p = 28% lower, vs A.RED 412p = 24% lower  (2) Stabilisation time — ACAPE &lt;5s vs A.RED ~70s = 12× faster  (3) Adaptivity — ACAPE tunes 4 params vs A.RED tunes 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823960" y="822960"/>
            <a:ext cx="315468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23960" y="859536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FB950"/>
                </a:solidFill>
              </a:rPr>
              <a:t>28%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915400" y="1481328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Backlog reduction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vs static fq_codel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823960" y="2084832"/>
            <a:ext cx="315468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23960" y="2121408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FB950"/>
                </a:solidFill>
              </a:rPr>
              <a:t>24%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8915400" y="2743200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Backlog reduction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vs Adaptive RED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823960" y="3346704"/>
            <a:ext cx="315468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23960" y="33832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8A6FF"/>
                </a:solidFill>
              </a:rPr>
              <a:t>12×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8915400" y="4005072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Faster stabilisation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vs Adaptive RED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823960" y="4608576"/>
            <a:ext cx="315468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23960" y="4645152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29922"/>
                </a:solidFill>
              </a:rPr>
              <a:t>4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8915400" y="5266944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fq_codel params tuned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(A.RED tunes only 1)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DF3"/>
                </a:solidFill>
              </a:rPr>
              <a:t>Complete Feature &amp; Performance Comparison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82880" y="658368"/>
            <a:ext cx="1179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</a:rPr>
              <a:t>ACAPE is the only system with all capabilities combined</a:t>
            </a:r>
            <a:endParaRPr lang="en-US" sz="1000" dirty="0"/>
          </a:p>
        </p:txBody>
      </p:sp>
      <p:pic>
        <p:nvPicPr>
          <p:cNvPr id="6" name="Image 0" descr="/home/claude/ppt/imgs/comparison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04672"/>
            <a:ext cx="11247120" cy="5349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153912"/>
            <a:ext cx="1124712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6153912"/>
            <a:ext cx="11137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FB950"/>
                </a:solidFill>
              </a:rPr>
              <a:t>Table: 15 features compared across 4 systems. ACAPE (green) = only system with gradient prediction (C1), predictive control (C2), eBPF flow telemetry (C3), workload-aware quantum, and live Grafana+Prometheus monitoring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3794760" cy="53035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What We Built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" y="143560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Parts 1–4 fully implemented &amp; validated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8328" y="20574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eBPF TC hook: prog_id=527, JIT confirmed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328" y="2679192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15 AIMD adjustments measured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8328" y="3300984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target 5ms→1ms proven in real logs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8328" y="3922776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Grafana+Prometheus live dashboard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8328" y="454456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[PREDICTIVE] mode confirmed in adj log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328" y="516636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Multi-scenario experiments: 6 scenarios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6240" y="960120"/>
            <a:ext cx="3794760" cy="530352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00584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</a:rPr>
              <a:t>Novel Contributions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15968" y="143560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C1: Multi-signal gradient S(t)=[∇dr,∇bl,∇rtt]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15968" y="20574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C2: Predictive regime detection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15968" y="2679192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C3: eBPF workload-aware profiles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15968" y="3300984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C4: Three-timescale on stock Linux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15968" y="3922776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First kernel-free adaptive fq_codel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15968" y="454456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First with production monitoring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15968" y="516636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Confirmed gap: ML-AQM Survey 2025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83880" y="960120"/>
            <a:ext cx="3794760" cy="5303520"/>
          </a:xfrm>
          <a:prstGeom prst="rect">
            <a:avLst/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100584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</a:rPr>
              <a:t>Key Results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93608" y="143560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28% backlog lower vs static fq_codel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93608" y="205740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24% backlog lower vs Adaptive RED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93608" y="2679192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12× faster stabilisation than A.RED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293608" y="3300984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97% throughput maintained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93608" y="3922776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Zero throughput collapses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93608" y="4544568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Jain fairness ~0.999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93608" y="5166360"/>
            <a:ext cx="3611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</a:rPr>
              <a:t>✓  All results on unmodified Linux kernel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6492240"/>
            <a:ext cx="1216152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6492240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github.com/Amritha902/ccn-linux-qdisc-study  ·  Amritha S · Yugeshwaran P · Deepti Annuncia  ·  VIT Chennai 2026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812280"/>
            <a:ext cx="12161520" cy="457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430000" y="6537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2026-03-30T03:03:10Z</dcterms:created>
  <dcterms:modified xsi:type="dcterms:W3CDTF">2026-03-30T03:03:10Z</dcterms:modified>
</cp:coreProperties>
</file>